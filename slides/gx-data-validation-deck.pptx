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17fd32c0934e9a" /><Relationship Type="http://schemas.openxmlformats.org/officeDocument/2006/relationships/extended-properties" Target="/docProps/app.xml" Id="R626798cc895a45f4" /><Relationship Type="http://schemas.openxmlformats.org/officeDocument/2006/relationships/officeDocument" Target="/ppt/presentation.xml" Id="R3d4bf040b5654b69" /></Relationships>
</file>

<file path=ppt/presentation.xml><?xml version="1.0" encoding="utf-8"?>
<p:presentation xmlns:p="http://schemas.openxmlformats.org/presentationml/2006/main">
  <p:sldMasterIdLst>
    <p:sldMasterId xmlns:r="http://schemas.openxmlformats.org/officeDocument/2006/relationships" id="2147483648" r:id="R5c007e8de02c4a6d"/>
  </p:sldMasterIdLst>
  <p:notesMasterIdLst>
    <p:notesMasterId xmlns:r="http://schemas.openxmlformats.org/officeDocument/2006/relationships" r:id="Rc2b01f4476864c85"/>
  </p:notesMasterIdLst>
  <p:sldIdLst>
    <p:sldId xmlns:r="http://schemas.openxmlformats.org/officeDocument/2006/relationships" id="256" r:id="Re2f28ac7ac7745e8"/>
    <p:sldId xmlns:r="http://schemas.openxmlformats.org/officeDocument/2006/relationships" id="257" r:id="Rf7816feea30e49fe"/>
    <p:sldId xmlns:r="http://schemas.openxmlformats.org/officeDocument/2006/relationships" id="258" r:id="Ra6f175c6da934554"/>
    <p:sldId xmlns:r="http://schemas.openxmlformats.org/officeDocument/2006/relationships" id="259" r:id="R82f1d9778f1b40b1"/>
    <p:sldId xmlns:r="http://schemas.openxmlformats.org/officeDocument/2006/relationships" id="260" r:id="R207917019ef14596"/>
    <p:sldId xmlns:r="http://schemas.openxmlformats.org/officeDocument/2006/relationships" id="261" r:id="Rae91ace65f414fcc"/>
    <p:sldId xmlns:r="http://schemas.openxmlformats.org/officeDocument/2006/relationships" id="262" r:id="Re4cd4711a91541a8"/>
    <p:sldId xmlns:r="http://schemas.openxmlformats.org/officeDocument/2006/relationships" id="263" r:id="R2d0a1b00924e46c8"/>
    <p:sldId xmlns:r="http://schemas.openxmlformats.org/officeDocument/2006/relationships" id="264" r:id="Reec90beb263742c0"/>
    <p:sldId xmlns:r="http://schemas.openxmlformats.org/officeDocument/2006/relationships" id="265" r:id="Rc38321a445a549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7f453e60e3406f" /><Relationship Type="http://schemas.openxmlformats.org/officeDocument/2006/relationships/slideMaster" Target="/ppt/slideMasters/slideMaster1.xml" Id="R5c007e8de02c4a6d" /><Relationship Type="http://schemas.openxmlformats.org/officeDocument/2006/relationships/notesMaster" Target="/ppt/notesMasters/notesMaster1.xml" Id="Rc2b01f4476864c85" /><Relationship Type="http://schemas.openxmlformats.org/officeDocument/2006/relationships/presProps" Target="/ppt/presProps.xml" Id="R42a6f0368cd84cad" /><Relationship Type="http://schemas.openxmlformats.org/officeDocument/2006/relationships/tableStyles" Target="/ppt/tableStyles.xml" Id="Rfa12396e6f2e40d8" /><Relationship Type="http://schemas.openxmlformats.org/officeDocument/2006/relationships/slide" Target="/ppt/slides/slide1.xml" Id="Re2f28ac7ac7745e8" /><Relationship Type="http://schemas.openxmlformats.org/officeDocument/2006/relationships/slide" Target="/ppt/slides/slide2.xml" Id="Rf7816feea30e49fe" /><Relationship Type="http://schemas.openxmlformats.org/officeDocument/2006/relationships/slide" Target="/ppt/slides/slide3.xml" Id="Ra6f175c6da934554" /><Relationship Type="http://schemas.openxmlformats.org/officeDocument/2006/relationships/slide" Target="/ppt/slides/slide4.xml" Id="R82f1d9778f1b40b1" /><Relationship Type="http://schemas.openxmlformats.org/officeDocument/2006/relationships/slide" Target="/ppt/slides/slide5.xml" Id="R207917019ef14596" /><Relationship Type="http://schemas.openxmlformats.org/officeDocument/2006/relationships/slide" Target="/ppt/slides/slide6.xml" Id="Rae91ace65f414fcc" /><Relationship Type="http://schemas.openxmlformats.org/officeDocument/2006/relationships/slide" Target="/ppt/slides/slide7.xml" Id="Re4cd4711a91541a8" /><Relationship Type="http://schemas.openxmlformats.org/officeDocument/2006/relationships/slide" Target="/ppt/slides/slide8.xml" Id="R2d0a1b00924e46c8" /><Relationship Type="http://schemas.openxmlformats.org/officeDocument/2006/relationships/slide" Target="/ppt/slides/slide9.xml" Id="Reec90beb263742c0" /><Relationship Type="http://schemas.openxmlformats.org/officeDocument/2006/relationships/slide" Target="/ppt/slides/slide10.xml" Id="Rc38321a445a549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d0ed0807294a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de270442644d0" /><Relationship Type="http://schemas.openxmlformats.org/officeDocument/2006/relationships/notesMaster" Target="/ppt/notesMasters/notesMaster1.xml" Id="R678d24cca72f4c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27800659104259" /><Relationship Type="http://schemas.openxmlformats.org/officeDocument/2006/relationships/notesMaster" Target="/ppt/notesMasters/notesMaster1.xml" Id="R84c3007cd79444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ac13f79ee64c1a" /><Relationship Type="http://schemas.openxmlformats.org/officeDocument/2006/relationships/notesMaster" Target="/ppt/notesMasters/notesMaster1.xml" Id="Rcafcbd5d35c349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a0bd135d8d4726" /><Relationship Type="http://schemas.openxmlformats.org/officeDocument/2006/relationships/notesMaster" Target="/ppt/notesMasters/notesMaster1.xml" Id="R64492b78663344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635c761e744284" /><Relationship Type="http://schemas.openxmlformats.org/officeDocument/2006/relationships/notesMaster" Target="/ppt/notesMasters/notesMaster1.xml" Id="Rb1482cef042145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7d4d619fa44375" /><Relationship Type="http://schemas.openxmlformats.org/officeDocument/2006/relationships/notesMaster" Target="/ppt/notesMasters/notesMaster1.xml" Id="R93b41ab39bca40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e70ac5b02a4ccf" /><Relationship Type="http://schemas.openxmlformats.org/officeDocument/2006/relationships/notesMaster" Target="/ppt/notesMasters/notesMaster1.xml" Id="Re2b7322fd4b149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c8c826aa3e4fad" /><Relationship Type="http://schemas.openxmlformats.org/officeDocument/2006/relationships/notesMaster" Target="/ppt/notesMasters/notesMaster1.xml" Id="Rbab94620406944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a153767a2b44d4" /><Relationship Type="http://schemas.openxmlformats.org/officeDocument/2006/relationships/notesMaster" Target="/ppt/notesMasters/notesMaster1.xml" Id="R6541297f610346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6a8b399f1c408b" /><Relationship Type="http://schemas.openxmlformats.org/officeDocument/2006/relationships/notesMaster" Target="/ppt/notesMasters/notesMaster1.xml" Id="R8c261d12c15045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topic is Great Expectations, an open-source tool for expressing and running data-quality checks. I will show where it fits in an ML pipeline, how its core objects work together, and a small example that prevents a model from training on invalid data.</a:t>
            </a:r>
          </a:p>
          <a:p xmlns:a="http://schemas.openxmlformats.org/drawingml/2006/main">
            <a:r>
              <a:t/>
            </a:r>
          </a:p>
          <a:p xmlns:a="http://schemas.openxmlformats.org/drawingml/2006/main">
            <a:r>
              <a:t>Sources:</a:t>
            </a:r>
          </a:p>
          <a:p xmlns:a="http://schemas.openxmlformats.org/drawingml/2006/main">
            <a:r>
              <a:t>- https://docs.greatexpectations.io/docs/core/introduction/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 can run successfully even when input data is wrong. A new null, a value outside the valid range, a duplicate record, or a changed schema can alter training without producing a Python exception. The pipeline needs an explicit data contract before training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Great Expectations sits after ingestion and before feature engineering or training. Data enters the pipeline, GX checks it, and only a successful batch continues. The same gate can run in CI or in scheduled data pipelines.</a:t>
            </a:r>
          </a:p>
          <a:p xmlns:a="http://schemas.openxmlformats.org/drawingml/2006/main">
            <a:r>
              <a:t/>
            </a:r>
          </a:p>
          <a:p xmlns:a="http://schemas.openxmlformats.org/drawingml/2006/main">
            <a:r>
              <a:t>Sources:</a:t>
            </a:r>
          </a:p>
          <a:p xmlns:a="http://schemas.openxmlformats.org/drawingml/2006/main">
            <a:r>
              <a:t>- https://docs.greatexpectations.io/docs/core/connect_to_data/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Context manages GX objects and results. A Data Source connects to pandas. A Data Asset names our logical dataset. A Batch Definition identifies the data for one run. Expectations describe individual rules, and an Expectation Suite groups them. A Validation Definition links the batch and suite.</a:t>
            </a:r>
          </a:p>
          <a:p xmlns:a="http://schemas.openxmlformats.org/drawingml/2006/main">
            <a:r>
              <a:t/>
            </a:r>
          </a:p>
          <a:p xmlns:a="http://schemas.openxmlformats.org/drawingml/2006/main">
            <a:r>
              <a:t>Sources:</a:t>
            </a:r>
          </a:p>
          <a:p xmlns:a="http://schemas.openxmlformats.org/drawingml/2006/main">
            <a:r>
              <a:t>- https://docs.greatexpectations.io/docs/core/set_up_a_gx_environment/create_a_data_context/</a:t>
            </a:r>
          </a:p>
          <a:p xmlns:a="http://schemas.openxmlformats.org/drawingml/2006/main">
            <a:r>
              <a:t>- https://docs.greatexpectations.io/docs/core/connect_to_data/dataframes/</a:t>
            </a:r>
          </a:p>
          <a:p xmlns:a="http://schemas.openxmlformats.org/drawingml/2006/main">
            <a:r>
              <a:t>- https://docs.greatexpectations.io/docs/core/define_expectations/organize_expectation_suites/</a:t>
            </a:r>
          </a:p>
          <a:p xmlns:a="http://schemas.openxmlformats.org/drawingml/2006/main">
            <a:r>
              <a:t>- https://docs.greatexpectations.io/docs/core/run_validations/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uses loan applications. The contract checks the schema, IDs, missing values, numeric ranges, and the target label. These simple checks cover several common failure modes that can silently damage an ML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creates an expectation suite, connects it to a batch definition with a Validation Definition, and runs the suite against the dataframe. The pipeline makes the validation result a control-flow decision: failure returns a nonzero exit code before model training.</a:t>
            </a:r>
          </a:p>
          <a:p xmlns:a="http://schemas.openxmlformats.org/drawingml/2006/main">
            <a:r>
              <a:t/>
            </a:r>
          </a:p>
          <a:p xmlns:a="http://schemas.openxmlformats.org/drawingml/2006/main">
            <a:r>
              <a:t>Sources:</a:t>
            </a:r>
          </a:p>
          <a:p xmlns:a="http://schemas.openxmlformats.org/drawingml/2006/main">
            <a:r>
              <a:t>- https://docs.greatexpectations.io/docs/core/run_validations/run_a_validation_definition/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bad file contains six deliberate problems. GX returns structured results with the failed expectation, affected column, count, and sample bad values. Our pipeline saves those results, prints a concise summary, returns a nonzero exit code, and never calls model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file passes all thirteen expectations. Only then does the script split the data and fit logistic regression. The model metric is not the main point. The important point is that every training run starts from data that satisfied the same explicit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first run the bad dataset and show that training is blocked. Then I will run the clean dataset and show that validation passes and metrics are written. If the live environment fails, slides 7 and 8 preserve the verified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Great Expectations provides readable rules, structured evidence, and integrations for dataframes, files, SQL, and Spark. The trade-off is maintenance: teams must own expectation thresholds, manage false alarms, and update contracts when the data legitimately changes. The main takeaway is that data assumptions become executable tests that control the ML pipeline.</a:t>
            </a:r>
          </a:p>
          <a:p xmlns:a="http://schemas.openxmlformats.org/drawingml/2006/main">
            <a:r>
              <a:t/>
            </a:r>
          </a:p>
          <a:p xmlns:a="http://schemas.openxmlformats.org/drawingml/2006/main">
            <a:r>
              <a:t>Sources:</a:t>
            </a:r>
          </a:p>
          <a:p xmlns:a="http://schemas.openxmlformats.org/drawingml/2006/main">
            <a:r>
              <a:t>- https://docs.greatexpectations.io/docs/core/connect_to_data/</a:t>
            </a:r>
          </a:p>
          <a:p xmlns:a="http://schemas.openxmlformats.org/drawingml/2006/main">
            <a:r>
              <a:t>- https://docs.greatexpectations.io/docs/core/trigger_actions_based_on_results/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84227e430742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406aa442224d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c43a5f0d6a47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c96bfe630f4c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a690b04dc842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54d13c8d6e49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14D0C6-2D91-45D4-BB6C-F5AFBD873A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DF8FAC-C5AA-4561-AD1A-B976ED2265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5CA169-3CA5-460D-AAC2-57748A3E91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7010E4-4A55-40B1-AA1A-D872D2824E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8F23A0-AED7-44B3-B2B3-B48D2C698C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FD13BD-6555-433B-A3CC-1A8BD00CA6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D73DCA-9FF7-4839-BB80-F58EA41201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655F85-6E09-47A9-9469-59E8499D12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891039-5D7D-4AD3-840C-269BABE89C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6854A1-EB45-4827-8C99-4FF5D3C96F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88238a077e43d3" /><Relationship Type="http://schemas.openxmlformats.org/officeDocument/2006/relationships/slideLayout" Target="/ppt/slideLayouts/slideLayout1.xml" Id="R0dd92c59ec4e48be" /><Relationship Type="http://schemas.openxmlformats.org/officeDocument/2006/relationships/slideLayout" Target="/ppt/slideLayouts/slideLayout2.xml" Id="R0a893465f88a465f" /><Relationship Type="http://schemas.openxmlformats.org/officeDocument/2006/relationships/slideLayout" Target="/ppt/slideLayouts/slideLayout3.xml" Id="R086a3e3c482f4eae" /><Relationship Type="http://schemas.openxmlformats.org/officeDocument/2006/relationships/slideLayout" Target="/ppt/slideLayouts/slideLayout4.xml" Id="Rfe2363ab653f471a" /><Relationship Type="http://schemas.openxmlformats.org/officeDocument/2006/relationships/slideLayout" Target="/ppt/slideLayouts/slideLayout5.xml" Id="Re730bc1e5fd24b42" /><Relationship Type="http://schemas.openxmlformats.org/officeDocument/2006/relationships/slideLayout" Target="/ppt/slideLayouts/slideLayout6.xml" Id="R3ab59e037b5f41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d92c59ec4e48be"/>
    <p:sldLayoutId xmlns:r="http://schemas.openxmlformats.org/officeDocument/2006/relationships" id="2147483650" r:id="R0a893465f88a465f"/>
    <p:sldLayoutId xmlns:r="http://schemas.openxmlformats.org/officeDocument/2006/relationships" id="2147483651" r:id="R086a3e3c482f4eae"/>
    <p:sldLayoutId xmlns:r="http://schemas.openxmlformats.org/officeDocument/2006/relationships" id="2147483652" r:id="Rfe2363ab653f471a"/>
    <p:sldLayoutId xmlns:r="http://schemas.openxmlformats.org/officeDocument/2006/relationships" id="2147483653" r:id="Re730bc1e5fd24b42"/>
    <p:sldLayoutId xmlns:r="http://schemas.openxmlformats.org/officeDocument/2006/relationships" id="2147483654" r:id="R3ab59e037b5f41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468bd5104342ae" /><Relationship Type="http://schemas.openxmlformats.org/officeDocument/2006/relationships/image" Target="/ppt/media/image.png" Id="Rbd2d73eb1d7048ff" /><Relationship Type="http://schemas.openxmlformats.org/officeDocument/2006/relationships/notesSlide" Target="/ppt/notesSlides/notesSlide1.xml" Id="R501e3b0f610d47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f7b78ac6dc4754" /><Relationship Type="http://schemas.openxmlformats.org/officeDocument/2006/relationships/notesSlide" Target="/ppt/notesSlides/notesSlide2.xml" Id="Rbcec0cf98b8142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6d4db650a64e1a" /><Relationship Type="http://schemas.openxmlformats.org/officeDocument/2006/relationships/notesSlide" Target="/ppt/notesSlides/notesSlide3.xml" Id="Ra8f5554d6d5a44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284daf75274ee3" /><Relationship Type="http://schemas.openxmlformats.org/officeDocument/2006/relationships/notesSlide" Target="/ppt/notesSlides/notesSlide4.xml" Id="Rcdd83114ae4a41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d9a6ab33d54e66" /><Relationship Type="http://schemas.openxmlformats.org/officeDocument/2006/relationships/notesSlide" Target="/ppt/notesSlides/notesSlide5.xml" Id="R495ff8e31c944c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999b752b3b94f30" /><Relationship Type="http://schemas.openxmlformats.org/officeDocument/2006/relationships/notesSlide" Target="/ppt/notesSlides/notesSlide6.xml" Id="R1ff151b041c54e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f6e03f903b4c37" /><Relationship Type="http://schemas.openxmlformats.org/officeDocument/2006/relationships/notesSlide" Target="/ppt/notesSlides/notesSlide7.xml" Id="R2d1eac60c9da4e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c3b85ca674479b" /><Relationship Type="http://schemas.openxmlformats.org/officeDocument/2006/relationships/notesSlide" Target="/ppt/notesSlides/notesSlide8.xml" Id="R4652e131c29b47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f612119ded4fab" /><Relationship Type="http://schemas.openxmlformats.org/officeDocument/2006/relationships/notesSlide" Target="/ppt/notesSlides/notesSlide9.xml" Id="R23a46eb0ef1d4a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3ef647ce274e74" /><Relationship Type="http://schemas.openxmlformats.org/officeDocument/2006/relationships/notesSlide" Target="/ppt/notesSlides/notesSlide10.xml" Id="R7fe9be52f4ce47dd" /></Relationships>
</file>

<file path=ppt/slides/slide1.xml><?xml version="1.0" encoding="utf-8"?>
<p:sld xmlns:p="http://schemas.openxmlformats.org/presentationml/2006/main">
  <p:cSld>
    <p:bg>
      <p:bgPr>
        <a:solidFill xmlns:a="http://schemas.openxmlformats.org/drawingml/2006/main">
          <a:srgbClr val="0B132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57804B1-392C-48F9-8E10-ED4B1E6E3C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05A28"/>
          </a:solidFill>
          <a:ln xmlns:a="http://schemas.openxmlformats.org/drawingml/2006/main" w="0">
            <a:solidFill>
              <a:srgbClr val="F05A28"/>
            </a:solidFill>
            <a:prstDash val="solid"/>
          </a:ln>
        </p:spPr>
      </p:sp>
      <p:pic>
        <p:nvPicPr>
          <p:cNvPr id="2" name="">
            <a:extLst xmlns:a="http://schemas.openxmlformats.org/drawingml/2006/main">
              <a:ext uri="{FF2B5EF4-FFF2-40B4-BE49-F238E27FC236}">
                <a16:creationId xmlns:a16="http://schemas.microsoft.com/office/drawing/2014/main" id="{32AB434E-2BCC-4088-8376-923409C86093}"/>
              </a:ext>
            </a:extLst>
          </p:cNvPr>
          <p:cNvPicPr>
            <a:picLocks xmlns:a="http://schemas.openxmlformats.org/drawingml/2006/main" noChangeAspect="1"/>
          </p:cNvPicPr>
          <p:nvPr/>
        </p:nvPicPr>
        <p:blipFill>
          <a:blip xmlns:r="http://schemas.openxmlformats.org/officeDocument/2006/relationships" xmlns:a="http://schemas.openxmlformats.org/drawingml/2006/main" r:embed="Rbd2d73eb1d7048ff"/>
          <a:srcRect xmlns:a="http://schemas.openxmlformats.org/drawingml/2006/main" l="0" t="0" r="51500" b="0"/>
          <a:stretch xmlns:a="http://schemas.openxmlformats.org/drawingml/2006/main"/>
        </p:blipFill>
        <p:spPr>
          <a:xfrm xmlns:a="http://schemas.openxmlformats.org/drawingml/2006/main">
            <a:off x="9791700" y="723900"/>
            <a:ext cx="990600" cy="990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294817-3A3D-426A-A630-6C2A2E251A3D}"/>
              </a:ext>
            </a:extLst>
          </p:cNvPr>
          <p:cNvSpPr>
            <a:spLocks xmlns:a="http://schemas.openxmlformats.org/drawingml/2006/main" noGrp="1"/>
          </p:cNvSpPr>
          <p:nvPr/>
        </p:nvSpPr>
        <p:spPr>
          <a:xfrm xmlns:a="http://schemas.openxmlformats.org/drawingml/2006/main">
            <a:off x="7810500" y="10572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9DA9BF"/>
                </a:solidFill>
                <a:latin typeface="Avenir Next"/>
                <a:ea typeface="Avenir Next"/>
                <a:cs typeface="Avenir Next"/>
              </a:defRPr>
            </a:defPPr>
          </a:lstStyle>
          <a:p xmlns:a="http://schemas.openxmlformats.org/drawingml/2006/main">
            <a:pPr algn="r">
              <a:defRPr sz="1125" b="1">
                <a:solidFill>
                  <a:srgbClr val="9DA9BF"/>
                </a:solidFill>
                <a:latin typeface="Avenir Next"/>
                <a:ea typeface="Avenir Next"/>
                <a:cs typeface="Avenir Next"/>
              </a:defRPr>
            </a:pPr>
            <a:r>
              <a:rPr sz="1125" b="1">
                <a:solidFill>
                  <a:srgbClr val="9DA9BF"/>
                </a:solidFill>
                <a:latin typeface="Avenir Next"/>
                <a:ea typeface="Avenir Next"/>
                <a:cs typeface="Avenir Next"/>
              </a:rPr>
              <a:t>GX CORE 1.24</a:t>
            </a:r>
          </a:p>
        </p:txBody>
      </p:sp>
      <p:sp>
        <p:nvSpPr>
          <p:cNvPr id="4" name="">
            <a:extLst xmlns:a="http://schemas.openxmlformats.org/drawingml/2006/main">
              <a:ext uri="{FF2B5EF4-FFF2-40B4-BE49-F238E27FC236}">
                <a16:creationId xmlns:a16="http://schemas.microsoft.com/office/drawing/2014/main" id="{9D9B3781-0D1E-4C7F-BAB0-BB78FAE6DB5C}"/>
              </a:ext>
            </a:extLst>
          </p:cNvPr>
          <p:cNvSpPr>
            <a:spLocks xmlns:a="http://schemas.openxmlformats.org/drawingml/2006/main" noGrp="1"/>
          </p:cNvSpPr>
          <p:nvPr/>
        </p:nvSpPr>
        <p:spPr>
          <a:xfrm xmlns:a="http://schemas.openxmlformats.org/drawingml/2006/main">
            <a:off x="723900" y="142875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05A28"/>
                </a:solidFill>
                <a:latin typeface="Avenir Next"/>
                <a:ea typeface="Avenir Next"/>
                <a:cs typeface="Avenir Next"/>
              </a:defRPr>
            </a:defPPr>
          </a:lstStyle>
          <a:p xmlns:a="http://schemas.openxmlformats.org/drawingml/2006/main">
            <a:pPr>
              <a:defRPr sz="1200" b="1">
                <a:solidFill>
                  <a:srgbClr val="F05A28"/>
                </a:solidFill>
                <a:latin typeface="Avenir Next"/>
                <a:ea typeface="Avenir Next"/>
                <a:cs typeface="Avenir Next"/>
              </a:defRPr>
            </a:pPr>
            <a:r>
              <a:rPr sz="1200" b="1">
                <a:solidFill>
                  <a:srgbClr val="F05A28"/>
                </a:solidFill>
                <a:latin typeface="Avenir Next"/>
                <a:ea typeface="Avenir Next"/>
                <a:cs typeface="Avenir Next"/>
              </a:rPr>
              <a:t>GREAT EXPECTATIONS</a:t>
            </a:r>
          </a:p>
        </p:txBody>
      </p:sp>
      <p:sp>
        <p:nvSpPr>
          <p:cNvPr id="5" name="">
            <a:extLst xmlns:a="http://schemas.openxmlformats.org/drawingml/2006/main">
              <a:ext uri="{FF2B5EF4-FFF2-40B4-BE49-F238E27FC236}">
                <a16:creationId xmlns:a16="http://schemas.microsoft.com/office/drawing/2014/main" id="{B25A5DB0-D9DF-474B-A5A5-4CE999C844D3}"/>
              </a:ext>
            </a:extLst>
          </p:cNvPr>
          <p:cNvSpPr>
            <a:spLocks xmlns:a="http://schemas.openxmlformats.org/drawingml/2006/main" noGrp="1"/>
          </p:cNvSpPr>
          <p:nvPr/>
        </p:nvSpPr>
        <p:spPr>
          <a:xfrm xmlns:a="http://schemas.openxmlformats.org/drawingml/2006/main">
            <a:off x="685800" y="1952625"/>
            <a:ext cx="6667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FFFFF"/>
                </a:solidFill>
                <a:latin typeface="Avenir Next"/>
                <a:ea typeface="Avenir Next"/>
                <a:cs typeface="Avenir Next"/>
              </a:defRPr>
            </a:defPPr>
          </a:lstStyle>
          <a:p xmlns:a="http://schemas.openxmlformats.org/drawingml/2006/main">
            <a:pPr>
              <a:defRPr sz="3750" b="1">
                <a:solidFill>
                  <a:srgbClr val="FFFFFF"/>
                </a:solidFill>
                <a:latin typeface="Avenir Next"/>
                <a:ea typeface="Avenir Next"/>
                <a:cs typeface="Avenir Next"/>
              </a:defRPr>
            </a:pPr>
            <a:r>
              <a:rPr sz="3750" b="1">
                <a:solidFill>
                  <a:srgbClr val="FFFFFF"/>
                </a:solidFill>
                <a:latin typeface="Avenir Next"/>
                <a:ea typeface="Avenir Next"/>
                <a:cs typeface="Avenir Next"/>
              </a:rPr>
              <a:t>Data validation</a:t>
            </a:r>
          </a:p>
          <a:p xmlns:a="http://schemas.openxmlformats.org/drawingml/2006/main">
            <a:pPr>
              <a:defRPr sz="3750" b="1">
                <a:solidFill>
                  <a:srgbClr val="FFFFFF"/>
                </a:solidFill>
                <a:latin typeface="Avenir Next"/>
                <a:ea typeface="Avenir Next"/>
                <a:cs typeface="Avenir Next"/>
              </a:defRPr>
            </a:pPr>
            <a:r>
              <a:rPr sz="3750" b="1">
                <a:solidFill>
                  <a:srgbClr val="FFFFFF"/>
                </a:solidFill>
                <a:latin typeface="Avenir Next"/>
                <a:ea typeface="Avenir Next"/>
                <a:cs typeface="Avenir Next"/>
              </a:rPr>
              <a:t>before model training</a:t>
            </a:r>
          </a:p>
        </p:txBody>
      </p:sp>
      <p:sp>
        <p:nvSpPr>
          <p:cNvPr id="6" name="">
            <a:extLst xmlns:a="http://schemas.openxmlformats.org/drawingml/2006/main">
              <a:ext uri="{FF2B5EF4-FFF2-40B4-BE49-F238E27FC236}">
                <a16:creationId xmlns:a16="http://schemas.microsoft.com/office/drawing/2014/main" id="{EA3D664A-696B-4B7C-A35B-136EF82C2A21}"/>
              </a:ext>
            </a:extLst>
          </p:cNvPr>
          <p:cNvSpPr>
            <a:spLocks xmlns:a="http://schemas.openxmlformats.org/drawingml/2006/main" noGrp="1"/>
          </p:cNvSpPr>
          <p:nvPr/>
        </p:nvSpPr>
        <p:spPr>
          <a:xfrm xmlns:a="http://schemas.openxmlformats.org/drawingml/2006/main">
            <a:off x="723900" y="396240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B8C2D6"/>
                </a:solidFill>
                <a:latin typeface="Avenir Next"/>
                <a:ea typeface="Avenir Next"/>
                <a:cs typeface="Avenir Next"/>
              </a:defRPr>
            </a:defPPr>
          </a:lstStyle>
          <a:p xmlns:a="http://schemas.openxmlformats.org/drawingml/2006/main">
            <a:pPr>
              <a:defRPr sz="1725" b="0">
                <a:solidFill>
                  <a:srgbClr val="B8C2D6"/>
                </a:solidFill>
                <a:latin typeface="Avenir Next"/>
                <a:ea typeface="Avenir Next"/>
                <a:cs typeface="Avenir Next"/>
              </a:defRPr>
            </a:pPr>
            <a:r>
              <a:rPr sz="1725" b="0">
                <a:solidFill>
                  <a:srgbClr val="B8C2D6"/>
                </a:solidFill>
                <a:latin typeface="Avenir Next"/>
                <a:ea typeface="Avenir Next"/>
                <a:cs typeface="Avenir Next"/>
              </a:rPr>
              <a:t>A validation gate for reliable ML pipelines</a:t>
            </a:r>
          </a:p>
        </p:txBody>
      </p:sp>
      <p:sp>
        <p:nvSpPr>
          <p:cNvPr id="7" name="">
            <a:extLst xmlns:a="http://schemas.openxmlformats.org/drawingml/2006/main">
              <a:ext uri="{FF2B5EF4-FFF2-40B4-BE49-F238E27FC236}">
                <a16:creationId xmlns:a16="http://schemas.microsoft.com/office/drawing/2014/main" id="{47718D46-05A1-491F-86F6-39965A6EC6E3}"/>
              </a:ext>
            </a:extLst>
          </p:cNvPr>
          <p:cNvSpPr>
            <a:spLocks xmlns:a="http://schemas.openxmlformats.org/drawingml/2006/main" noGrp="1"/>
          </p:cNvSpPr>
          <p:nvPr/>
        </p:nvSpPr>
        <p:spPr>
          <a:xfrm xmlns:a="http://schemas.openxmlformats.org/drawingml/2006/main">
            <a:off x="7677150" y="2190750"/>
            <a:ext cx="3276600" cy="2324100"/>
          </a:xfrm>
          <a:prstGeom xmlns:a="http://schemas.openxmlformats.org/drawingml/2006/main" prst="roundRect">
            <a:avLst>
              <a:gd name="adj" fmla="val 6557"/>
            </a:avLst>
          </a:prstGeom>
          <a:solidFill xmlns:a="http://schemas.openxmlformats.org/drawingml/2006/main">
            <a:srgbClr val="111D34"/>
          </a:solidFill>
          <a:ln xmlns:a="http://schemas.openxmlformats.org/drawingml/2006/main" w="9525">
            <a:solidFill>
              <a:srgbClr val="283650"/>
            </a:solidFill>
            <a:prstDash val="solid"/>
          </a:ln>
        </p:spPr>
      </p:sp>
      <p:sp>
        <p:nvSpPr>
          <p:cNvPr id="8" name="">
            <a:extLst xmlns:a="http://schemas.openxmlformats.org/drawingml/2006/main">
              <a:ext uri="{FF2B5EF4-FFF2-40B4-BE49-F238E27FC236}">
                <a16:creationId xmlns:a16="http://schemas.microsoft.com/office/drawing/2014/main" id="{14A9472D-F4FF-438F-B4A0-5DDACA3E365F}"/>
              </a:ext>
            </a:extLst>
          </p:cNvPr>
          <p:cNvSpPr>
            <a:spLocks xmlns:a="http://schemas.openxmlformats.org/drawingml/2006/main" noGrp="1"/>
          </p:cNvSpPr>
          <p:nvPr/>
        </p:nvSpPr>
        <p:spPr>
          <a:xfrm xmlns:a="http://schemas.openxmlformats.org/drawingml/2006/main">
            <a:off x="8096250" y="257175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A8B3C7"/>
                </a:solidFill>
                <a:latin typeface="Avenir Next"/>
                <a:ea typeface="Avenir Next"/>
                <a:cs typeface="Avenir Next"/>
              </a:defRPr>
            </a:defPPr>
          </a:lstStyle>
          <a:p xmlns:a="http://schemas.openxmlformats.org/drawingml/2006/main">
            <a:pPr algn="ctr">
              <a:defRPr sz="1050" b="1">
                <a:solidFill>
                  <a:srgbClr val="A8B3C7"/>
                </a:solidFill>
                <a:latin typeface="Avenir Next"/>
                <a:ea typeface="Avenir Next"/>
                <a:cs typeface="Avenir Next"/>
              </a:defRPr>
            </a:pPr>
            <a:r>
              <a:rPr sz="1050" b="1">
                <a:solidFill>
                  <a:srgbClr val="A8B3C7"/>
                </a:solidFill>
                <a:latin typeface="Avenir Next"/>
                <a:ea typeface="Avenir Next"/>
                <a:cs typeface="Avenir Next"/>
              </a:rPr>
              <a:t>RAW DATA</a:t>
            </a:r>
          </a:p>
        </p:txBody>
      </p:sp>
      <p:sp>
        <p:nvSpPr>
          <p:cNvPr id="9" name="">
            <a:extLst xmlns:a="http://schemas.openxmlformats.org/drawingml/2006/main">
              <a:ext uri="{FF2B5EF4-FFF2-40B4-BE49-F238E27FC236}">
                <a16:creationId xmlns:a16="http://schemas.microsoft.com/office/drawing/2014/main" id="{FA3F9F56-4EBD-47AF-B175-8CF09966E5B5}"/>
              </a:ext>
            </a:extLst>
          </p:cNvPr>
          <p:cNvSpPr>
            <a:spLocks xmlns:a="http://schemas.openxmlformats.org/drawingml/2006/main" noGrp="1"/>
          </p:cNvSpPr>
          <p:nvPr/>
        </p:nvSpPr>
        <p:spPr>
          <a:xfrm xmlns:a="http://schemas.openxmlformats.org/drawingml/2006/main">
            <a:off x="8810625" y="2905125"/>
            <a:ext cx="1009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5700" b="1">
                <a:solidFill>
                  <a:srgbClr val="F05A28"/>
                </a:solidFill>
                <a:latin typeface="Avenir Next"/>
                <a:ea typeface="Avenir Next"/>
                <a:cs typeface="Avenir Next"/>
              </a:defRPr>
            </a:defPPr>
          </a:lstStyle>
          <a:p xmlns:a="http://schemas.openxmlformats.org/drawingml/2006/main">
            <a:pPr algn="ctr">
              <a:defRPr sz="5700" b="1">
                <a:solidFill>
                  <a:srgbClr val="F05A28"/>
                </a:solidFill>
                <a:latin typeface="Avenir Next"/>
                <a:ea typeface="Avenir Next"/>
                <a:cs typeface="Avenir Next"/>
              </a:defRPr>
            </a:pPr>
            <a:r>
              <a:rPr sz="5700" b="1">
                <a:solidFill>
                  <a:srgbClr val="F05A28"/>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E9C7FEDB-6CF1-4CEB-B621-BE7C0A9F1395}"/>
              </a:ext>
            </a:extLst>
          </p:cNvPr>
          <p:cNvSpPr>
            <a:spLocks xmlns:a="http://schemas.openxmlformats.org/drawingml/2006/main" noGrp="1"/>
          </p:cNvSpPr>
          <p:nvPr/>
        </p:nvSpPr>
        <p:spPr>
          <a:xfrm xmlns:a="http://schemas.openxmlformats.org/drawingml/2006/main">
            <a:off x="8020050" y="40481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a:solidFill>
                  <a:srgbClr val="FFFFFF"/>
                </a:solidFill>
                <a:latin typeface="Avenir Next"/>
                <a:ea typeface="Avenir Next"/>
                <a:cs typeface="Avenir Next"/>
              </a:defRPr>
            </a:defPPr>
          </a:lstStyle>
          <a:p xmlns:a="http://schemas.openxmlformats.org/drawingml/2006/main">
            <a:pPr algn="ctr">
              <a:defRPr sz="1200" b="0">
                <a:solidFill>
                  <a:srgbClr val="FFFFFF"/>
                </a:solidFill>
                <a:latin typeface="Avenir Next"/>
                <a:ea typeface="Avenir Next"/>
                <a:cs typeface="Avenir Next"/>
              </a:defRPr>
            </a:pPr>
            <a:r>
              <a:rPr sz="1200" b="0">
                <a:solidFill>
                  <a:srgbClr val="FFFFFF"/>
                </a:solidFill>
                <a:latin typeface="Avenir Next"/>
                <a:ea typeface="Avenir Next"/>
                <a:cs typeface="Avenir Next"/>
              </a:rPr>
              <a:t>Can this batch be trusted?</a:t>
            </a:r>
          </a:p>
        </p:txBody>
      </p:sp>
      <p:sp>
        <p:nvSpPr>
          <p:cNvPr id="11" name="">
            <a:extLst xmlns:a="http://schemas.openxmlformats.org/drawingml/2006/main">
              <a:ext uri="{FF2B5EF4-FFF2-40B4-BE49-F238E27FC236}">
                <a16:creationId xmlns:a16="http://schemas.microsoft.com/office/drawing/2014/main" id="{32CD8F68-B226-4425-903D-A0EE619B82B5}"/>
              </a:ext>
            </a:extLst>
          </p:cNvPr>
          <p:cNvSpPr>
            <a:spLocks xmlns:a="http://schemas.openxmlformats.org/drawingml/2006/main" noGrp="1"/>
          </p:cNvSpPr>
          <p:nvPr/>
        </p:nvSpPr>
        <p:spPr>
          <a:xfrm xmlns:a="http://schemas.openxmlformats.org/drawingml/2006/main">
            <a:off x="723900" y="5981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793A9"/>
                </a:solidFill>
                <a:latin typeface="Avenir Next"/>
                <a:ea typeface="Avenir Next"/>
                <a:cs typeface="Avenir Next"/>
              </a:defRPr>
            </a:defPPr>
          </a:lstStyle>
          <a:p xmlns:a="http://schemas.openxmlformats.org/drawingml/2006/main">
            <a:pPr>
              <a:defRPr sz="1050" b="0">
                <a:solidFill>
                  <a:srgbClr val="8793A9"/>
                </a:solidFill>
                <a:latin typeface="Avenir Next"/>
                <a:ea typeface="Avenir Next"/>
                <a:cs typeface="Avenir Next"/>
              </a:defRPr>
            </a:pPr>
            <a:r>
              <a:rPr sz="1050" b="0">
                <a:solidFill>
                  <a:srgbClr val="8793A9"/>
                </a:solidFill>
                <a:latin typeface="Avenir Next"/>
                <a:ea typeface="Avenir Next"/>
                <a:cs typeface="Avenir Next"/>
              </a:rPr>
              <a:t>MLOps individual presentation</a:t>
            </a:r>
          </a:p>
        </p:txBody>
      </p:sp>
    </p:spTree>
    <p:extLst>
      <p:ext uri="{BB962C8B-B14F-4D97-AF65-F5344CB8AC3E}">
        <p14:creationId xmlns:p14="http://schemas.microsoft.com/office/powerpoint/2010/main" val="2586051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8D788A6-3A48-4453-A49B-77D779CF5CFD}"/>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Bad data can produce a valid-looking model</a:t>
            </a:r>
          </a:p>
        </p:txBody>
      </p:sp>
      <p:sp>
        <p:nvSpPr>
          <p:cNvPr id="2" name="">
            <a:extLst xmlns:a="http://schemas.openxmlformats.org/drawingml/2006/main">
              <a:ext uri="{FF2B5EF4-FFF2-40B4-BE49-F238E27FC236}">
                <a16:creationId xmlns:a16="http://schemas.microsoft.com/office/drawing/2014/main" id="{3C04DB63-8A32-4276-8C2E-3A75205022D4}"/>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69A39470-480A-4242-A06F-85EF5B486D91}"/>
              </a:ext>
            </a:extLst>
          </p:cNvPr>
          <p:cNvSpPr>
            <a:spLocks xmlns:a="http://schemas.openxmlformats.org/drawingml/2006/main" noGrp="1"/>
          </p:cNvSpPr>
          <p:nvPr/>
        </p:nvSpPr>
        <p:spPr>
          <a:xfrm xmlns:a="http://schemas.openxmlformats.org/drawingml/2006/main">
            <a:off x="685800" y="118110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Training code may finish without error while the input data violates domain rules.</a:t>
            </a:r>
          </a:p>
        </p:txBody>
      </p:sp>
      <p:sp>
        <p:nvSpPr>
          <p:cNvPr id="4" name="">
            <a:extLst xmlns:a="http://schemas.openxmlformats.org/drawingml/2006/main">
              <a:ext uri="{FF2B5EF4-FFF2-40B4-BE49-F238E27FC236}">
                <a16:creationId xmlns:a16="http://schemas.microsoft.com/office/drawing/2014/main" id="{B649624F-A460-4F26-9CE0-F22269CB9502}"/>
              </a:ext>
            </a:extLst>
          </p:cNvPr>
          <p:cNvSpPr>
            <a:spLocks xmlns:a="http://schemas.openxmlformats.org/drawingml/2006/main" noGrp="1"/>
          </p:cNvSpPr>
          <p:nvPr/>
        </p:nvSpPr>
        <p:spPr>
          <a:xfrm xmlns:a="http://schemas.openxmlformats.org/drawingml/2006/main">
            <a:off x="685800" y="19050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CE7B050F-D0C9-45E7-ABCF-455669E57E52}"/>
              </a:ext>
            </a:extLst>
          </p:cNvPr>
          <p:cNvSpPr>
            <a:spLocks xmlns:a="http://schemas.openxmlformats.org/drawingml/2006/main" noGrp="1"/>
          </p:cNvSpPr>
          <p:nvPr/>
        </p:nvSpPr>
        <p:spPr>
          <a:xfrm xmlns:a="http://schemas.openxmlformats.org/drawingml/2006/main">
            <a:off x="685800" y="1905000"/>
            <a:ext cx="114300" cy="685800"/>
          </a:xfrm>
          <a:prstGeom xmlns:a="http://schemas.openxmlformats.org/drawingml/2006/main" prst="rect">
            <a:avLst/>
          </a:prstGeom>
          <a:solidFill xmlns:a="http://schemas.openxmlformats.org/drawingml/2006/main">
            <a:srgbClr val="D64545"/>
          </a:solidFill>
          <a:ln xmlns:a="http://schemas.openxmlformats.org/drawingml/2006/main" w="0">
            <a:solidFill>
              <a:srgbClr val="D64545"/>
            </a:solidFill>
            <a:prstDash val="solid"/>
          </a:ln>
        </p:spPr>
      </p:sp>
      <p:sp>
        <p:nvSpPr>
          <p:cNvPr id="6" name="">
            <a:extLst xmlns:a="http://schemas.openxmlformats.org/drawingml/2006/main">
              <a:ext uri="{FF2B5EF4-FFF2-40B4-BE49-F238E27FC236}">
                <a16:creationId xmlns:a16="http://schemas.microsoft.com/office/drawing/2014/main" id="{AF14482C-4984-4707-9114-B6657CA8BF5B}"/>
              </a:ext>
            </a:extLst>
          </p:cNvPr>
          <p:cNvSpPr>
            <a:spLocks xmlns:a="http://schemas.openxmlformats.org/drawingml/2006/main" noGrp="1"/>
          </p:cNvSpPr>
          <p:nvPr/>
        </p:nvSpPr>
        <p:spPr>
          <a:xfrm xmlns:a="http://schemas.openxmlformats.org/drawingml/2006/main">
            <a:off x="1047750" y="20574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Missing value</a:t>
            </a:r>
          </a:p>
        </p:txBody>
      </p:sp>
      <p:sp>
        <p:nvSpPr>
          <p:cNvPr id="7" name="">
            <a:extLst xmlns:a="http://schemas.openxmlformats.org/drawingml/2006/main">
              <a:ext uri="{FF2B5EF4-FFF2-40B4-BE49-F238E27FC236}">
                <a16:creationId xmlns:a16="http://schemas.microsoft.com/office/drawing/2014/main" id="{5E484BF4-D0A4-4C75-84E1-5E8CF81E9257}"/>
              </a:ext>
            </a:extLst>
          </p:cNvPr>
          <p:cNvSpPr>
            <a:spLocks xmlns:a="http://schemas.openxmlformats.org/drawingml/2006/main" noGrp="1"/>
          </p:cNvSpPr>
          <p:nvPr/>
        </p:nvSpPr>
        <p:spPr>
          <a:xfrm xmlns:a="http://schemas.openxmlformats.org/drawingml/2006/main">
            <a:off x="3714750" y="20764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A feature silently becomes incomplete</a:t>
            </a:r>
          </a:p>
        </p:txBody>
      </p:sp>
      <p:sp>
        <p:nvSpPr>
          <p:cNvPr id="8" name="">
            <a:extLst xmlns:a="http://schemas.openxmlformats.org/drawingml/2006/main">
              <a:ext uri="{FF2B5EF4-FFF2-40B4-BE49-F238E27FC236}">
                <a16:creationId xmlns:a16="http://schemas.microsoft.com/office/drawing/2014/main" id="{A6E312EF-E229-450A-B592-24BC40E53F30}"/>
              </a:ext>
            </a:extLst>
          </p:cNvPr>
          <p:cNvSpPr>
            <a:spLocks xmlns:a="http://schemas.openxmlformats.org/drawingml/2006/main" noGrp="1"/>
          </p:cNvSpPr>
          <p:nvPr/>
        </p:nvSpPr>
        <p:spPr>
          <a:xfrm xmlns:a="http://schemas.openxmlformats.org/drawingml/2006/main">
            <a:off x="685800" y="28194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9" name="">
            <a:extLst xmlns:a="http://schemas.openxmlformats.org/drawingml/2006/main">
              <a:ext uri="{FF2B5EF4-FFF2-40B4-BE49-F238E27FC236}">
                <a16:creationId xmlns:a16="http://schemas.microsoft.com/office/drawing/2014/main" id="{56FB128B-A961-4477-AE41-B8781E24BCA2}"/>
              </a:ext>
            </a:extLst>
          </p:cNvPr>
          <p:cNvSpPr>
            <a:spLocks xmlns:a="http://schemas.openxmlformats.org/drawingml/2006/main" noGrp="1"/>
          </p:cNvSpPr>
          <p:nvPr/>
        </p:nvSpPr>
        <p:spPr>
          <a:xfrm xmlns:a="http://schemas.openxmlformats.org/drawingml/2006/main">
            <a:off x="685800" y="2819400"/>
            <a:ext cx="114300" cy="685800"/>
          </a:xfrm>
          <a:prstGeom xmlns:a="http://schemas.openxmlformats.org/drawingml/2006/main" prst="rect">
            <a:avLst/>
          </a:prstGeom>
          <a:solidFill xmlns:a="http://schemas.openxmlformats.org/drawingml/2006/main">
            <a:srgbClr val="F05A28"/>
          </a:solidFill>
          <a:ln xmlns:a="http://schemas.openxmlformats.org/drawingml/2006/main" w="0">
            <a:solidFill>
              <a:srgbClr val="F05A28"/>
            </a:solidFill>
            <a:prstDash val="solid"/>
          </a:ln>
        </p:spPr>
      </p:sp>
      <p:sp>
        <p:nvSpPr>
          <p:cNvPr id="10" name="">
            <a:extLst xmlns:a="http://schemas.openxmlformats.org/drawingml/2006/main">
              <a:ext uri="{FF2B5EF4-FFF2-40B4-BE49-F238E27FC236}">
                <a16:creationId xmlns:a16="http://schemas.microsoft.com/office/drawing/2014/main" id="{C1EDB8BD-536D-4964-919D-D3A6A7D7F976}"/>
              </a:ext>
            </a:extLst>
          </p:cNvPr>
          <p:cNvSpPr>
            <a:spLocks xmlns:a="http://schemas.openxmlformats.org/drawingml/2006/main" noGrp="1"/>
          </p:cNvSpPr>
          <p:nvPr/>
        </p:nvSpPr>
        <p:spPr>
          <a:xfrm xmlns:a="http://schemas.openxmlformats.org/drawingml/2006/main">
            <a:off x="1047750" y="2971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Invalid range</a:t>
            </a:r>
          </a:p>
        </p:txBody>
      </p:sp>
      <p:sp>
        <p:nvSpPr>
          <p:cNvPr id="11" name="">
            <a:extLst xmlns:a="http://schemas.openxmlformats.org/drawingml/2006/main">
              <a:ext uri="{FF2B5EF4-FFF2-40B4-BE49-F238E27FC236}">
                <a16:creationId xmlns:a16="http://schemas.microsoft.com/office/drawing/2014/main" id="{0A602C13-2187-40C5-9C04-4FD23C2EF60A}"/>
              </a:ext>
            </a:extLst>
          </p:cNvPr>
          <p:cNvSpPr>
            <a:spLocks xmlns:a="http://schemas.openxmlformats.org/drawingml/2006/main" noGrp="1"/>
          </p:cNvSpPr>
          <p:nvPr/>
        </p:nvSpPr>
        <p:spPr>
          <a:xfrm xmlns:a="http://schemas.openxmlformats.org/drawingml/2006/main">
            <a:off x="3714750" y="29908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A plausible number carries impossible meaning</a:t>
            </a:r>
          </a:p>
        </p:txBody>
      </p:sp>
      <p:sp>
        <p:nvSpPr>
          <p:cNvPr id="12" name="">
            <a:extLst xmlns:a="http://schemas.openxmlformats.org/drawingml/2006/main">
              <a:ext uri="{FF2B5EF4-FFF2-40B4-BE49-F238E27FC236}">
                <a16:creationId xmlns:a16="http://schemas.microsoft.com/office/drawing/2014/main" id="{E86F01F0-F9D1-4BE2-85E2-E64E4737352F}"/>
              </a:ext>
            </a:extLst>
          </p:cNvPr>
          <p:cNvSpPr>
            <a:spLocks xmlns:a="http://schemas.openxmlformats.org/drawingml/2006/main" noGrp="1"/>
          </p:cNvSpPr>
          <p:nvPr/>
        </p:nvSpPr>
        <p:spPr>
          <a:xfrm xmlns:a="http://schemas.openxmlformats.org/drawingml/2006/main">
            <a:off x="685800" y="37338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13" name="">
            <a:extLst xmlns:a="http://schemas.openxmlformats.org/drawingml/2006/main">
              <a:ext uri="{FF2B5EF4-FFF2-40B4-BE49-F238E27FC236}">
                <a16:creationId xmlns:a16="http://schemas.microsoft.com/office/drawing/2014/main" id="{E77790E7-9C80-4ACD-BFC2-5973E2DC50BF}"/>
              </a:ext>
            </a:extLst>
          </p:cNvPr>
          <p:cNvSpPr>
            <a:spLocks xmlns:a="http://schemas.openxmlformats.org/drawingml/2006/main" noGrp="1"/>
          </p:cNvSpPr>
          <p:nvPr/>
        </p:nvSpPr>
        <p:spPr>
          <a:xfrm xmlns:a="http://schemas.openxmlformats.org/drawingml/2006/main">
            <a:off x="685800" y="3733800"/>
            <a:ext cx="114300" cy="685800"/>
          </a:xfrm>
          <a:prstGeom xmlns:a="http://schemas.openxmlformats.org/drawingml/2006/main" prst="rect">
            <a:avLst/>
          </a:prstGeom>
          <a:solidFill xmlns:a="http://schemas.openxmlformats.org/drawingml/2006/main">
            <a:srgbClr val="3E6AE1"/>
          </a:solidFill>
          <a:ln xmlns:a="http://schemas.openxmlformats.org/drawingml/2006/main" w="0">
            <a:solidFill>
              <a:srgbClr val="3E6AE1"/>
            </a:solidFill>
            <a:prstDash val="solid"/>
          </a:ln>
        </p:spPr>
      </p:sp>
      <p:sp>
        <p:nvSpPr>
          <p:cNvPr id="14" name="">
            <a:extLst xmlns:a="http://schemas.openxmlformats.org/drawingml/2006/main">
              <a:ext uri="{FF2B5EF4-FFF2-40B4-BE49-F238E27FC236}">
                <a16:creationId xmlns:a16="http://schemas.microsoft.com/office/drawing/2014/main" id="{79E42C9D-2FCF-42C2-87D0-586D45793593}"/>
              </a:ext>
            </a:extLst>
          </p:cNvPr>
          <p:cNvSpPr>
            <a:spLocks xmlns:a="http://schemas.openxmlformats.org/drawingml/2006/main" noGrp="1"/>
          </p:cNvSpPr>
          <p:nvPr/>
        </p:nvSpPr>
        <p:spPr>
          <a:xfrm xmlns:a="http://schemas.openxmlformats.org/drawingml/2006/main">
            <a:off x="1047750" y="3886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Schema drift</a:t>
            </a:r>
          </a:p>
        </p:txBody>
      </p:sp>
      <p:sp>
        <p:nvSpPr>
          <p:cNvPr id="15" name="">
            <a:extLst xmlns:a="http://schemas.openxmlformats.org/drawingml/2006/main">
              <a:ext uri="{FF2B5EF4-FFF2-40B4-BE49-F238E27FC236}">
                <a16:creationId xmlns:a16="http://schemas.microsoft.com/office/drawing/2014/main" id="{93F2C5BA-2895-4B70-9C12-F09AA658A649}"/>
              </a:ext>
            </a:extLst>
          </p:cNvPr>
          <p:cNvSpPr>
            <a:spLocks xmlns:a="http://schemas.openxmlformats.org/drawingml/2006/main" noGrp="1"/>
          </p:cNvSpPr>
          <p:nvPr/>
        </p:nvSpPr>
        <p:spPr>
          <a:xfrm xmlns:a="http://schemas.openxmlformats.org/drawingml/2006/main">
            <a:off x="3714750" y="39052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A renamed or reordered column changes the input contract</a:t>
            </a:r>
          </a:p>
        </p:txBody>
      </p:sp>
      <p:sp>
        <p:nvSpPr>
          <p:cNvPr id="16" name="">
            <a:extLst xmlns:a="http://schemas.openxmlformats.org/drawingml/2006/main">
              <a:ext uri="{FF2B5EF4-FFF2-40B4-BE49-F238E27FC236}">
                <a16:creationId xmlns:a16="http://schemas.microsoft.com/office/drawing/2014/main" id="{00ED2895-7F82-4A67-A260-D042CCE35A2C}"/>
              </a:ext>
            </a:extLst>
          </p:cNvPr>
          <p:cNvSpPr>
            <a:spLocks xmlns:a="http://schemas.openxmlformats.org/drawingml/2006/main" noGrp="1"/>
          </p:cNvSpPr>
          <p:nvPr/>
        </p:nvSpPr>
        <p:spPr>
          <a:xfrm xmlns:a="http://schemas.openxmlformats.org/drawingml/2006/main">
            <a:off x="685800" y="46482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622E5720-8956-468E-91B7-B6A85772B4F9}"/>
              </a:ext>
            </a:extLst>
          </p:cNvPr>
          <p:cNvSpPr>
            <a:spLocks xmlns:a="http://schemas.openxmlformats.org/drawingml/2006/main" noGrp="1"/>
          </p:cNvSpPr>
          <p:nvPr/>
        </p:nvSpPr>
        <p:spPr>
          <a:xfrm xmlns:a="http://schemas.openxmlformats.org/drawingml/2006/main">
            <a:off x="685800" y="4648200"/>
            <a:ext cx="114300" cy="685800"/>
          </a:xfrm>
          <a:prstGeom xmlns:a="http://schemas.openxmlformats.org/drawingml/2006/main" prst="rect">
            <a:avLst/>
          </a:prstGeom>
          <a:solidFill xmlns:a="http://schemas.openxmlformats.org/drawingml/2006/main">
            <a:srgbClr val="1F9D68"/>
          </a:solidFill>
          <a:ln xmlns:a="http://schemas.openxmlformats.org/drawingml/2006/main" w="0">
            <a:solidFill>
              <a:srgbClr val="1F9D68"/>
            </a:solidFill>
            <a:prstDash val="solid"/>
          </a:ln>
        </p:spPr>
      </p:sp>
      <p:sp>
        <p:nvSpPr>
          <p:cNvPr id="18" name="">
            <a:extLst xmlns:a="http://schemas.openxmlformats.org/drawingml/2006/main">
              <a:ext uri="{FF2B5EF4-FFF2-40B4-BE49-F238E27FC236}">
                <a16:creationId xmlns:a16="http://schemas.microsoft.com/office/drawing/2014/main" id="{89F3BCE7-10F2-4111-A6DE-FCDB38AF7296}"/>
              </a:ext>
            </a:extLst>
          </p:cNvPr>
          <p:cNvSpPr>
            <a:spLocks xmlns:a="http://schemas.openxmlformats.org/drawingml/2006/main" noGrp="1"/>
          </p:cNvSpPr>
          <p:nvPr/>
        </p:nvSpPr>
        <p:spPr>
          <a:xfrm xmlns:a="http://schemas.openxmlformats.org/drawingml/2006/main">
            <a:off x="1047750" y="48006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Duplicate ID</a:t>
            </a:r>
          </a:p>
        </p:txBody>
      </p:sp>
      <p:sp>
        <p:nvSpPr>
          <p:cNvPr id="19" name="">
            <a:extLst xmlns:a="http://schemas.openxmlformats.org/drawingml/2006/main">
              <a:ext uri="{FF2B5EF4-FFF2-40B4-BE49-F238E27FC236}">
                <a16:creationId xmlns:a16="http://schemas.microsoft.com/office/drawing/2014/main" id="{DBB2041E-0BF4-474F-9309-E13BE6F8F94F}"/>
              </a:ext>
            </a:extLst>
          </p:cNvPr>
          <p:cNvSpPr>
            <a:spLocks xmlns:a="http://schemas.openxmlformats.org/drawingml/2006/main" noGrp="1"/>
          </p:cNvSpPr>
          <p:nvPr/>
        </p:nvSpPr>
        <p:spPr>
          <a:xfrm xmlns:a="http://schemas.openxmlformats.org/drawingml/2006/main">
            <a:off x="3714750" y="48196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One applicant can influence training more than once</a:t>
            </a:r>
          </a:p>
        </p:txBody>
      </p:sp>
      <p:sp>
        <p:nvSpPr>
          <p:cNvPr id="20" name="">
            <a:extLst xmlns:a="http://schemas.openxmlformats.org/drawingml/2006/main">
              <a:ext uri="{FF2B5EF4-FFF2-40B4-BE49-F238E27FC236}">
                <a16:creationId xmlns:a16="http://schemas.microsoft.com/office/drawing/2014/main" id="{803E7F89-E536-4C96-8D76-95685E351FAE}"/>
              </a:ext>
            </a:extLst>
          </p:cNvPr>
          <p:cNvSpPr>
            <a:spLocks xmlns:a="http://schemas.openxmlformats.org/drawingml/2006/main" noGrp="1"/>
          </p:cNvSpPr>
          <p:nvPr/>
        </p:nvSpPr>
        <p:spPr>
          <a:xfrm xmlns:a="http://schemas.openxmlformats.org/drawingml/2006/main">
            <a:off x="8829675" y="1200150"/>
            <a:ext cx="2676525" cy="323850"/>
          </a:xfrm>
          <a:prstGeom xmlns:a="http://schemas.openxmlformats.org/drawingml/2006/main" prst="roundRect">
            <a:avLst>
              <a:gd name="adj" fmla="val 35294"/>
            </a:avLst>
          </a:prstGeom>
          <a:solidFill xmlns:a="http://schemas.openxmlformats.org/drawingml/2006/main">
            <a:srgbClr val="0B1324"/>
          </a:solidFill>
          <a:ln xmlns:a="http://schemas.openxmlformats.org/drawingml/2006/main" w="0">
            <a:solidFill>
              <a:srgbClr val="0B1324"/>
            </a:solidFill>
            <a:prstDash val="solid"/>
          </a:ln>
        </p:spPr>
      </p:sp>
      <p:sp>
        <p:nvSpPr>
          <p:cNvPr id="21" name="">
            <a:extLst xmlns:a="http://schemas.openxmlformats.org/drawingml/2006/main">
              <a:ext uri="{FF2B5EF4-FFF2-40B4-BE49-F238E27FC236}">
                <a16:creationId xmlns:a16="http://schemas.microsoft.com/office/drawing/2014/main" id="{D02C0499-7154-4C72-92CE-6D4AFE420EE6}"/>
              </a:ext>
            </a:extLst>
          </p:cNvPr>
          <p:cNvSpPr>
            <a:spLocks xmlns:a="http://schemas.openxmlformats.org/drawingml/2006/main" noGrp="1"/>
          </p:cNvSpPr>
          <p:nvPr/>
        </p:nvSpPr>
        <p:spPr>
          <a:xfrm xmlns:a="http://schemas.openxmlformats.org/drawingml/2006/main">
            <a:off x="8924925" y="1266825"/>
            <a:ext cx="24860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FFFFFF"/>
                </a:solidFill>
                <a:latin typeface="Avenir Next"/>
                <a:ea typeface="Avenir Next"/>
                <a:cs typeface="Avenir Next"/>
              </a:defRPr>
            </a:defPPr>
          </a:lstStyle>
          <a:p xmlns:a="http://schemas.openxmlformats.org/drawingml/2006/main">
            <a:pPr algn="ctr">
              <a:defRPr sz="900" b="1">
                <a:solidFill>
                  <a:srgbClr val="FFFFFF"/>
                </a:solidFill>
                <a:latin typeface="Avenir Next"/>
                <a:ea typeface="Avenir Next"/>
                <a:cs typeface="Avenir Next"/>
              </a:defRPr>
            </a:pPr>
            <a:r>
              <a:rPr sz="900" b="1">
                <a:solidFill>
                  <a:srgbClr val="FFFFFF"/>
                </a:solidFill>
                <a:latin typeface="Avenir Next"/>
                <a:ea typeface="Avenir Next"/>
                <a:cs typeface="Avenir Next"/>
              </a:rPr>
              <a:t>DATA CONTRACT NEEDED</a:t>
            </a:r>
          </a:p>
        </p:txBody>
      </p:sp>
      <p:sp>
        <p:nvSpPr>
          <p:cNvPr id="22" name="">
            <a:extLst xmlns:a="http://schemas.openxmlformats.org/drawingml/2006/main">
              <a:ext uri="{FF2B5EF4-FFF2-40B4-BE49-F238E27FC236}">
                <a16:creationId xmlns:a16="http://schemas.microsoft.com/office/drawing/2014/main" id="{8E777974-575E-4566-9445-CDD4752EA4D2}"/>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8410793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65B9239-C473-48F9-989B-B44C2FCF705A}"/>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Validation in the ML lifecycle</a:t>
            </a:r>
          </a:p>
        </p:txBody>
      </p:sp>
      <p:sp>
        <p:nvSpPr>
          <p:cNvPr id="2" name="">
            <a:extLst xmlns:a="http://schemas.openxmlformats.org/drawingml/2006/main">
              <a:ext uri="{FF2B5EF4-FFF2-40B4-BE49-F238E27FC236}">
                <a16:creationId xmlns:a16="http://schemas.microsoft.com/office/drawing/2014/main" id="{B24F0029-6E71-4E59-92D5-456000BCCB78}"/>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E09E61AA-0B1B-4261-901E-79817ADE240B}"/>
              </a:ext>
            </a:extLst>
          </p:cNvPr>
          <p:cNvSpPr>
            <a:spLocks xmlns:a="http://schemas.openxmlformats.org/drawingml/2006/main" noGrp="1"/>
          </p:cNvSpPr>
          <p:nvPr/>
        </p:nvSpPr>
        <p:spPr>
          <a:xfrm xmlns:a="http://schemas.openxmlformats.org/drawingml/2006/main">
            <a:off x="685800" y="11430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The gate runs after ingestion and before feature work or training.</a:t>
            </a:r>
          </a:p>
        </p:txBody>
      </p:sp>
      <p:sp>
        <p:nvSpPr>
          <p:cNvPr id="4" name="">
            <a:extLst xmlns:a="http://schemas.openxmlformats.org/drawingml/2006/main">
              <a:ext uri="{FF2B5EF4-FFF2-40B4-BE49-F238E27FC236}">
                <a16:creationId xmlns:a16="http://schemas.microsoft.com/office/drawing/2014/main" id="{9F50327D-20A7-4678-A78F-C6173C0D1EAE}"/>
              </a:ext>
            </a:extLst>
          </p:cNvPr>
          <p:cNvSpPr>
            <a:spLocks xmlns:a="http://schemas.openxmlformats.org/drawingml/2006/main" noGrp="1"/>
          </p:cNvSpPr>
          <p:nvPr/>
        </p:nvSpPr>
        <p:spPr>
          <a:xfrm xmlns:a="http://schemas.openxmlformats.org/drawingml/2006/main">
            <a:off x="685800" y="2333625"/>
            <a:ext cx="1752600" cy="1447800"/>
          </a:xfrm>
          <a:prstGeom xmlns:a="http://schemas.openxmlformats.org/drawingml/2006/main" prst="roundRect">
            <a:avLst>
              <a:gd name="adj" fmla="val 7895"/>
            </a:avLst>
          </a:prstGeom>
          <a:solidFill xmlns:a="http://schemas.openxmlformats.org/drawingml/2006/main">
            <a:srgbClr val="111D34"/>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F5FFCB10-EEAE-4BF8-AF97-EA9FAABC179F}"/>
              </a:ext>
            </a:extLst>
          </p:cNvPr>
          <p:cNvSpPr>
            <a:spLocks xmlns:a="http://schemas.openxmlformats.org/drawingml/2006/main" noGrp="1"/>
          </p:cNvSpPr>
          <p:nvPr/>
        </p:nvSpPr>
        <p:spPr>
          <a:xfrm xmlns:a="http://schemas.openxmlformats.org/drawingml/2006/main">
            <a:off x="838200" y="25050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FFFFFF"/>
                </a:solidFill>
                <a:latin typeface="Avenir Next"/>
                <a:ea typeface="Avenir Next"/>
                <a:cs typeface="Avenir Next"/>
              </a:defRPr>
            </a:defPPr>
          </a:lstStyle>
          <a:p xmlns:a="http://schemas.openxmlformats.org/drawingml/2006/main">
            <a:pP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1</a:t>
            </a:r>
          </a:p>
        </p:txBody>
      </p:sp>
      <p:sp>
        <p:nvSpPr>
          <p:cNvPr id="6" name="">
            <a:extLst xmlns:a="http://schemas.openxmlformats.org/drawingml/2006/main">
              <a:ext uri="{FF2B5EF4-FFF2-40B4-BE49-F238E27FC236}">
                <a16:creationId xmlns:a16="http://schemas.microsoft.com/office/drawing/2014/main" id="{1C2186D2-5B6C-44A5-8420-2C25C353A14D}"/>
              </a:ext>
            </a:extLst>
          </p:cNvPr>
          <p:cNvSpPr>
            <a:spLocks xmlns:a="http://schemas.openxmlformats.org/drawingml/2006/main" noGrp="1"/>
          </p:cNvSpPr>
          <p:nvPr/>
        </p:nvSpPr>
        <p:spPr>
          <a:xfrm xmlns:a="http://schemas.openxmlformats.org/drawingml/2006/main">
            <a:off x="838200" y="2914650"/>
            <a:ext cx="1447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FFFFF"/>
                </a:solidFill>
                <a:latin typeface="Avenir Next"/>
                <a:ea typeface="Avenir Next"/>
                <a:cs typeface="Avenir Next"/>
              </a:defRPr>
            </a:defPPr>
          </a:lstStyle>
          <a:p xmlns:a="http://schemas.openxmlformats.org/drawingml/2006/main">
            <a:pP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Ingest</a:t>
            </a:r>
          </a:p>
        </p:txBody>
      </p:sp>
      <p:sp>
        <p:nvSpPr>
          <p:cNvPr id="7" name="">
            <a:extLst xmlns:a="http://schemas.openxmlformats.org/drawingml/2006/main">
              <a:ext uri="{FF2B5EF4-FFF2-40B4-BE49-F238E27FC236}">
                <a16:creationId xmlns:a16="http://schemas.microsoft.com/office/drawing/2014/main" id="{2D4A9966-05C7-451D-9501-3C3882F9B784}"/>
              </a:ext>
            </a:extLst>
          </p:cNvPr>
          <p:cNvSpPr>
            <a:spLocks xmlns:a="http://schemas.openxmlformats.org/drawingml/2006/main" noGrp="1"/>
          </p:cNvSpPr>
          <p:nvPr/>
        </p:nvSpPr>
        <p:spPr>
          <a:xfrm xmlns:a="http://schemas.openxmlformats.org/drawingml/2006/main">
            <a:off x="838200" y="33528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DCE3EE"/>
                </a:solidFill>
                <a:latin typeface="Avenir Next"/>
                <a:ea typeface="Avenir Next"/>
                <a:cs typeface="Avenir Next"/>
              </a:defRPr>
            </a:defPPr>
          </a:lstStyle>
          <a:p xmlns:a="http://schemas.openxmlformats.org/drawingml/2006/main">
            <a:pPr>
              <a:defRPr sz="1050" b="0">
                <a:solidFill>
                  <a:srgbClr val="DCE3EE"/>
                </a:solidFill>
                <a:latin typeface="Avenir Next"/>
                <a:ea typeface="Avenir Next"/>
                <a:cs typeface="Avenir Next"/>
              </a:defRPr>
            </a:pPr>
            <a:r>
              <a:rPr sz="1050" b="0">
                <a:solidFill>
                  <a:srgbClr val="DCE3EE"/>
                </a:solidFill>
                <a:latin typeface="Avenir Next"/>
                <a:ea typeface="Avenir Next"/>
                <a:cs typeface="Avenir Next"/>
              </a:rPr>
              <a:t>CSV, SQL, Spark</a:t>
            </a:r>
          </a:p>
        </p:txBody>
      </p:sp>
      <p:cxnSp>
        <p:nvCxnSpPr>
          <p:cNvPr id="8" name="">
            <a:extLst xmlns:a="http://schemas.openxmlformats.org/drawingml/2006/main">
              <a:ext uri="{FF2B5EF4-FFF2-40B4-BE49-F238E27FC236}">
                <a16:creationId xmlns:a16="http://schemas.microsoft.com/office/drawing/2014/main" id="{1DF322BE-0890-4DC3-8A71-D87BE6A77D7B}"/>
              </a:ext>
            </a:extLst>
          </p:cNvPr>
          <p:cNvCxnSpPr/>
          <p:nvPr/>
        </p:nvCxnSpPr>
        <p:spPr>
          <a:xfrm xmlns:a="http://schemas.openxmlformats.org/drawingml/2006/main">
            <a:off x="2438400" y="3057525"/>
            <a:ext cx="514350" cy="0"/>
          </a:xfrm>
          <a:prstGeom xmlns:a="http://schemas.openxmlformats.org/drawingml/2006/main" prst="bentConnector4">
            <a:avLst/>
          </a:prstGeom>
          <a:ln xmlns:a="http://schemas.openxmlformats.org/drawingml/2006/main" w="28575">
            <a:solidFill>
              <a:srgbClr val="F05A28"/>
            </a:solidFill>
            <a:prstDash val="solid"/>
          </a:ln>
        </p:spPr>
      </p:cxnSp>
      <p:sp>
        <p:nvSpPr>
          <p:cNvPr id="9" name="">
            <a:extLst xmlns:a="http://schemas.openxmlformats.org/drawingml/2006/main">
              <a:ext uri="{FF2B5EF4-FFF2-40B4-BE49-F238E27FC236}">
                <a16:creationId xmlns:a16="http://schemas.microsoft.com/office/drawing/2014/main" id="{A5AE9914-AA9B-4620-9BFE-8FD745D4D839}"/>
              </a:ext>
            </a:extLst>
          </p:cNvPr>
          <p:cNvSpPr>
            <a:spLocks xmlns:a="http://schemas.openxmlformats.org/drawingml/2006/main" noGrp="1"/>
          </p:cNvSpPr>
          <p:nvPr/>
        </p:nvSpPr>
        <p:spPr>
          <a:xfrm xmlns:a="http://schemas.openxmlformats.org/drawingml/2006/main">
            <a:off x="2952750" y="2333625"/>
            <a:ext cx="1752600" cy="1447800"/>
          </a:xfrm>
          <a:prstGeom xmlns:a="http://schemas.openxmlformats.org/drawingml/2006/main" prst="roundRect">
            <a:avLst>
              <a:gd name="adj" fmla="val 7895"/>
            </a:avLst>
          </a:prstGeom>
          <a:solidFill xmlns:a="http://schemas.openxmlformats.org/drawingml/2006/main">
            <a:srgbClr val="F05A28"/>
          </a:solidFill>
          <a:ln xmlns:a="http://schemas.openxmlformats.org/drawingml/2006/main" w="0">
            <a:solidFill>
              <a:srgbClr val="F05A28"/>
            </a:solidFill>
            <a:prstDash val="solid"/>
          </a:ln>
        </p:spPr>
      </p:sp>
      <p:sp>
        <p:nvSpPr>
          <p:cNvPr id="10" name="">
            <a:extLst xmlns:a="http://schemas.openxmlformats.org/drawingml/2006/main">
              <a:ext uri="{FF2B5EF4-FFF2-40B4-BE49-F238E27FC236}">
                <a16:creationId xmlns:a16="http://schemas.microsoft.com/office/drawing/2014/main" id="{C6034713-7B9E-4C93-A41E-F27899E4F039}"/>
              </a:ext>
            </a:extLst>
          </p:cNvPr>
          <p:cNvSpPr>
            <a:spLocks xmlns:a="http://schemas.openxmlformats.org/drawingml/2006/main" noGrp="1"/>
          </p:cNvSpPr>
          <p:nvPr/>
        </p:nvSpPr>
        <p:spPr>
          <a:xfrm xmlns:a="http://schemas.openxmlformats.org/drawingml/2006/main">
            <a:off x="3105150" y="25050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FFFFFF"/>
                </a:solidFill>
                <a:latin typeface="Avenir Next"/>
                <a:ea typeface="Avenir Next"/>
                <a:cs typeface="Avenir Next"/>
              </a:defRPr>
            </a:defPPr>
          </a:lstStyle>
          <a:p xmlns:a="http://schemas.openxmlformats.org/drawingml/2006/main">
            <a:pP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6AC15A2B-FE5D-454D-A68A-2B7819574024}"/>
              </a:ext>
            </a:extLst>
          </p:cNvPr>
          <p:cNvSpPr>
            <a:spLocks xmlns:a="http://schemas.openxmlformats.org/drawingml/2006/main" noGrp="1"/>
          </p:cNvSpPr>
          <p:nvPr/>
        </p:nvSpPr>
        <p:spPr>
          <a:xfrm xmlns:a="http://schemas.openxmlformats.org/drawingml/2006/main">
            <a:off x="3105150" y="2914650"/>
            <a:ext cx="1447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FFFFF"/>
                </a:solidFill>
                <a:latin typeface="Avenir Next"/>
                <a:ea typeface="Avenir Next"/>
                <a:cs typeface="Avenir Next"/>
              </a:defRPr>
            </a:defPPr>
          </a:lstStyle>
          <a:p xmlns:a="http://schemas.openxmlformats.org/drawingml/2006/main">
            <a:pPr>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Validate</a:t>
            </a:r>
          </a:p>
        </p:txBody>
      </p:sp>
      <p:sp>
        <p:nvSpPr>
          <p:cNvPr id="12" name="">
            <a:extLst xmlns:a="http://schemas.openxmlformats.org/drawingml/2006/main">
              <a:ext uri="{FF2B5EF4-FFF2-40B4-BE49-F238E27FC236}">
                <a16:creationId xmlns:a16="http://schemas.microsoft.com/office/drawing/2014/main" id="{A8915A8E-406A-4412-A8AF-D3FF32FFDC87}"/>
              </a:ext>
            </a:extLst>
          </p:cNvPr>
          <p:cNvSpPr>
            <a:spLocks xmlns:a="http://schemas.openxmlformats.org/drawingml/2006/main" noGrp="1"/>
          </p:cNvSpPr>
          <p:nvPr/>
        </p:nvSpPr>
        <p:spPr>
          <a:xfrm xmlns:a="http://schemas.openxmlformats.org/drawingml/2006/main">
            <a:off x="3105150" y="33528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DCE3EE"/>
                </a:solidFill>
                <a:latin typeface="Avenir Next"/>
                <a:ea typeface="Avenir Next"/>
                <a:cs typeface="Avenir Next"/>
              </a:defRPr>
            </a:defPPr>
          </a:lstStyle>
          <a:p xmlns:a="http://schemas.openxmlformats.org/drawingml/2006/main">
            <a:pPr>
              <a:defRPr sz="1050" b="0">
                <a:solidFill>
                  <a:srgbClr val="DCE3EE"/>
                </a:solidFill>
                <a:latin typeface="Avenir Next"/>
                <a:ea typeface="Avenir Next"/>
                <a:cs typeface="Avenir Next"/>
              </a:defRPr>
            </a:pPr>
            <a:r>
              <a:rPr sz="1050" b="0">
                <a:solidFill>
                  <a:srgbClr val="DCE3EE"/>
                </a:solidFill>
                <a:latin typeface="Avenir Next"/>
                <a:ea typeface="Avenir Next"/>
                <a:cs typeface="Avenir Next"/>
              </a:rPr>
              <a:t>GX data contract</a:t>
            </a:r>
          </a:p>
        </p:txBody>
      </p:sp>
      <p:cxnSp>
        <p:nvCxnSpPr>
          <p:cNvPr id="13" name="">
            <a:extLst xmlns:a="http://schemas.openxmlformats.org/drawingml/2006/main">
              <a:ext uri="{FF2B5EF4-FFF2-40B4-BE49-F238E27FC236}">
                <a16:creationId xmlns:a16="http://schemas.microsoft.com/office/drawing/2014/main" id="{74FD8B49-E9B5-4734-A14A-10B46DE1902A}"/>
              </a:ext>
            </a:extLst>
          </p:cNvPr>
          <p:cNvCxnSpPr/>
          <p:nvPr/>
        </p:nvCxnSpPr>
        <p:spPr>
          <a:xfrm xmlns:a="http://schemas.openxmlformats.org/drawingml/2006/main">
            <a:off x="4705350" y="3057525"/>
            <a:ext cx="514350" cy="0"/>
          </a:xfrm>
          <a:prstGeom xmlns:a="http://schemas.openxmlformats.org/drawingml/2006/main" prst="bentConnector4">
            <a:avLst/>
          </a:prstGeom>
          <a:ln xmlns:a="http://schemas.openxmlformats.org/drawingml/2006/main" w="28575">
            <a:solidFill>
              <a:srgbClr val="D9DEE8"/>
            </a:solidFill>
            <a:prstDash val="solid"/>
          </a:ln>
        </p:spPr>
      </p:cxnSp>
      <p:sp>
        <p:nvSpPr>
          <p:cNvPr id="14" name="">
            <a:extLst xmlns:a="http://schemas.openxmlformats.org/drawingml/2006/main">
              <a:ext uri="{FF2B5EF4-FFF2-40B4-BE49-F238E27FC236}">
                <a16:creationId xmlns:a16="http://schemas.microsoft.com/office/drawing/2014/main" id="{B46960D6-A103-4271-AC8E-5476B7EDBB34}"/>
              </a:ext>
            </a:extLst>
          </p:cNvPr>
          <p:cNvSpPr>
            <a:spLocks xmlns:a="http://schemas.openxmlformats.org/drawingml/2006/main" noGrp="1"/>
          </p:cNvSpPr>
          <p:nvPr/>
        </p:nvSpPr>
        <p:spPr>
          <a:xfrm xmlns:a="http://schemas.openxmlformats.org/drawingml/2006/main">
            <a:off x="5219700" y="2333625"/>
            <a:ext cx="1752600" cy="1447800"/>
          </a:xfrm>
          <a:prstGeom xmlns:a="http://schemas.openxmlformats.org/drawingml/2006/main" prst="roundRect">
            <a:avLst>
              <a:gd name="adj" fmla="val 7895"/>
            </a:avLst>
          </a:prstGeom>
          <a:solidFill xmlns:a="http://schemas.openxmlformats.org/drawingml/2006/main">
            <a:srgbClr val="EAF0FF"/>
          </a:solidFill>
          <a:ln xmlns:a="http://schemas.openxmlformats.org/drawingml/2006/main" w="9525">
            <a:solidFill>
              <a:srgbClr val="D9DEE8"/>
            </a:solidFill>
            <a:prstDash val="solid"/>
          </a:ln>
        </p:spPr>
      </p:sp>
      <p:sp>
        <p:nvSpPr>
          <p:cNvPr id="15" name="">
            <a:extLst xmlns:a="http://schemas.openxmlformats.org/drawingml/2006/main">
              <a:ext uri="{FF2B5EF4-FFF2-40B4-BE49-F238E27FC236}">
                <a16:creationId xmlns:a16="http://schemas.microsoft.com/office/drawing/2014/main" id="{A60C2D52-C573-47A8-B59E-9916B2D9E719}"/>
              </a:ext>
            </a:extLst>
          </p:cNvPr>
          <p:cNvSpPr>
            <a:spLocks xmlns:a="http://schemas.openxmlformats.org/drawingml/2006/main" noGrp="1"/>
          </p:cNvSpPr>
          <p:nvPr/>
        </p:nvSpPr>
        <p:spPr>
          <a:xfrm xmlns:a="http://schemas.openxmlformats.org/drawingml/2006/main">
            <a:off x="5372100" y="25050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67085"/>
                </a:solidFill>
                <a:latin typeface="Avenir Next"/>
                <a:ea typeface="Avenir Next"/>
                <a:cs typeface="Avenir Next"/>
              </a:defRPr>
            </a:defPPr>
          </a:lstStyle>
          <a:p xmlns:a="http://schemas.openxmlformats.org/drawingml/2006/main">
            <a:pPr>
              <a:defRPr sz="975" b="1">
                <a:solidFill>
                  <a:srgbClr val="667085"/>
                </a:solidFill>
                <a:latin typeface="Avenir Next"/>
                <a:ea typeface="Avenir Next"/>
                <a:cs typeface="Avenir Next"/>
              </a:defRPr>
            </a:pPr>
            <a:r>
              <a:rPr sz="975" b="1">
                <a:solidFill>
                  <a:srgbClr val="667085"/>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9047D84D-08B7-4012-A83E-9B7183CF6A28}"/>
              </a:ext>
            </a:extLst>
          </p:cNvPr>
          <p:cNvSpPr>
            <a:spLocks xmlns:a="http://schemas.openxmlformats.org/drawingml/2006/main" noGrp="1"/>
          </p:cNvSpPr>
          <p:nvPr/>
        </p:nvSpPr>
        <p:spPr>
          <a:xfrm xmlns:a="http://schemas.openxmlformats.org/drawingml/2006/main">
            <a:off x="5372100" y="2914650"/>
            <a:ext cx="1447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B1324"/>
                </a:solidFill>
                <a:latin typeface="Avenir Next"/>
                <a:ea typeface="Avenir Next"/>
                <a:cs typeface="Avenir Next"/>
              </a:defRPr>
            </a:defPPr>
          </a:lstStyle>
          <a:p xmlns:a="http://schemas.openxmlformats.org/drawingml/2006/main">
            <a:pPr>
              <a:defRPr sz="1800" b="1">
                <a:solidFill>
                  <a:srgbClr val="0B1324"/>
                </a:solidFill>
                <a:latin typeface="Avenir Next"/>
                <a:ea typeface="Avenir Next"/>
                <a:cs typeface="Avenir Next"/>
              </a:defRPr>
            </a:pPr>
            <a:r>
              <a:rPr sz="1800" b="1">
                <a:solidFill>
                  <a:srgbClr val="0B1324"/>
                </a:solidFill>
                <a:latin typeface="Avenir Next"/>
                <a:ea typeface="Avenir Next"/>
                <a:cs typeface="Avenir Next"/>
              </a:rPr>
              <a:t>Features</a:t>
            </a:r>
          </a:p>
        </p:txBody>
      </p:sp>
      <p:sp>
        <p:nvSpPr>
          <p:cNvPr id="17" name="">
            <a:extLst xmlns:a="http://schemas.openxmlformats.org/drawingml/2006/main">
              <a:ext uri="{FF2B5EF4-FFF2-40B4-BE49-F238E27FC236}">
                <a16:creationId xmlns:a16="http://schemas.microsoft.com/office/drawing/2014/main" id="{BAC23EFD-32D5-4248-AE7F-22A76C923CB2}"/>
              </a:ext>
            </a:extLst>
          </p:cNvPr>
          <p:cNvSpPr>
            <a:spLocks xmlns:a="http://schemas.openxmlformats.org/drawingml/2006/main" noGrp="1"/>
          </p:cNvSpPr>
          <p:nvPr/>
        </p:nvSpPr>
        <p:spPr>
          <a:xfrm xmlns:a="http://schemas.openxmlformats.org/drawingml/2006/main">
            <a:off x="5372100" y="33528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67085"/>
                </a:solidFill>
                <a:latin typeface="Avenir Next"/>
                <a:ea typeface="Avenir Next"/>
                <a:cs typeface="Avenir Next"/>
              </a:defRPr>
            </a:defPPr>
          </a:lstStyle>
          <a:p xmlns:a="http://schemas.openxmlformats.org/drawingml/2006/main">
            <a:pPr>
              <a:defRPr sz="1050" b="0">
                <a:solidFill>
                  <a:srgbClr val="667085"/>
                </a:solidFill>
                <a:latin typeface="Avenir Next"/>
                <a:ea typeface="Avenir Next"/>
                <a:cs typeface="Avenir Next"/>
              </a:defRPr>
            </a:pPr>
            <a:r>
              <a:rPr sz="1050" b="0">
                <a:solidFill>
                  <a:srgbClr val="667085"/>
                </a:solidFill>
                <a:latin typeface="Avenir Next"/>
                <a:ea typeface="Avenir Next"/>
                <a:cs typeface="Avenir Next"/>
              </a:rPr>
              <a:t>Transformations</a:t>
            </a:r>
          </a:p>
        </p:txBody>
      </p:sp>
      <p:cxnSp>
        <p:nvCxnSpPr>
          <p:cNvPr id="18" name="">
            <a:extLst xmlns:a="http://schemas.openxmlformats.org/drawingml/2006/main">
              <a:ext uri="{FF2B5EF4-FFF2-40B4-BE49-F238E27FC236}">
                <a16:creationId xmlns:a16="http://schemas.microsoft.com/office/drawing/2014/main" id="{21D9531D-3412-428F-BA2B-51BBDA60C2E0}"/>
              </a:ext>
            </a:extLst>
          </p:cNvPr>
          <p:cNvCxnSpPr/>
          <p:nvPr/>
        </p:nvCxnSpPr>
        <p:spPr>
          <a:xfrm xmlns:a="http://schemas.openxmlformats.org/drawingml/2006/main">
            <a:off x="6972300" y="3057525"/>
            <a:ext cx="514350" cy="0"/>
          </a:xfrm>
          <a:prstGeom xmlns:a="http://schemas.openxmlformats.org/drawingml/2006/main" prst="bentConnector4">
            <a:avLst/>
          </a:prstGeom>
          <a:ln xmlns:a="http://schemas.openxmlformats.org/drawingml/2006/main" w="28575">
            <a:solidFill>
              <a:srgbClr val="D9DEE8"/>
            </a:solidFill>
            <a:prstDash val="solid"/>
          </a:ln>
        </p:spPr>
      </p:cxnSp>
      <p:sp>
        <p:nvSpPr>
          <p:cNvPr id="19" name="">
            <a:extLst xmlns:a="http://schemas.openxmlformats.org/drawingml/2006/main">
              <a:ext uri="{FF2B5EF4-FFF2-40B4-BE49-F238E27FC236}">
                <a16:creationId xmlns:a16="http://schemas.microsoft.com/office/drawing/2014/main" id="{85C846F3-AE24-4E42-AFC1-F3B6C3E7E3BF}"/>
              </a:ext>
            </a:extLst>
          </p:cNvPr>
          <p:cNvSpPr>
            <a:spLocks xmlns:a="http://schemas.openxmlformats.org/drawingml/2006/main" noGrp="1"/>
          </p:cNvSpPr>
          <p:nvPr/>
        </p:nvSpPr>
        <p:spPr>
          <a:xfrm xmlns:a="http://schemas.openxmlformats.org/drawingml/2006/main">
            <a:off x="7486650" y="2333625"/>
            <a:ext cx="1752600" cy="1447800"/>
          </a:xfrm>
          <a:prstGeom xmlns:a="http://schemas.openxmlformats.org/drawingml/2006/main" prst="roundRect">
            <a:avLst>
              <a:gd name="adj" fmla="val 7895"/>
            </a:avLst>
          </a:prstGeom>
          <a:solidFill xmlns:a="http://schemas.openxmlformats.org/drawingml/2006/main">
            <a:srgbClr val="E9F7F1"/>
          </a:solidFill>
          <a:ln xmlns:a="http://schemas.openxmlformats.org/drawingml/2006/main" w="9525">
            <a:solidFill>
              <a:srgbClr val="D9DEE8"/>
            </a:solidFill>
            <a:prstDash val="solid"/>
          </a:ln>
        </p:spPr>
      </p:sp>
      <p:sp>
        <p:nvSpPr>
          <p:cNvPr id="20" name="">
            <a:extLst xmlns:a="http://schemas.openxmlformats.org/drawingml/2006/main">
              <a:ext uri="{FF2B5EF4-FFF2-40B4-BE49-F238E27FC236}">
                <a16:creationId xmlns:a16="http://schemas.microsoft.com/office/drawing/2014/main" id="{770C34E6-8F6A-4ECC-9715-DB3038285307}"/>
              </a:ext>
            </a:extLst>
          </p:cNvPr>
          <p:cNvSpPr>
            <a:spLocks xmlns:a="http://schemas.openxmlformats.org/drawingml/2006/main" noGrp="1"/>
          </p:cNvSpPr>
          <p:nvPr/>
        </p:nvSpPr>
        <p:spPr>
          <a:xfrm xmlns:a="http://schemas.openxmlformats.org/drawingml/2006/main">
            <a:off x="7639050" y="25050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67085"/>
                </a:solidFill>
                <a:latin typeface="Avenir Next"/>
                <a:ea typeface="Avenir Next"/>
                <a:cs typeface="Avenir Next"/>
              </a:defRPr>
            </a:defPPr>
          </a:lstStyle>
          <a:p xmlns:a="http://schemas.openxmlformats.org/drawingml/2006/main">
            <a:pPr>
              <a:defRPr sz="975" b="1">
                <a:solidFill>
                  <a:srgbClr val="667085"/>
                </a:solidFill>
                <a:latin typeface="Avenir Next"/>
                <a:ea typeface="Avenir Next"/>
                <a:cs typeface="Avenir Next"/>
              </a:defRPr>
            </a:pPr>
            <a:r>
              <a:rPr sz="975" b="1">
                <a:solidFill>
                  <a:srgbClr val="667085"/>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25E7F6EC-7905-455D-84FD-5097781ECA65}"/>
              </a:ext>
            </a:extLst>
          </p:cNvPr>
          <p:cNvSpPr>
            <a:spLocks xmlns:a="http://schemas.openxmlformats.org/drawingml/2006/main" noGrp="1"/>
          </p:cNvSpPr>
          <p:nvPr/>
        </p:nvSpPr>
        <p:spPr>
          <a:xfrm xmlns:a="http://schemas.openxmlformats.org/drawingml/2006/main">
            <a:off x="7639050" y="2914650"/>
            <a:ext cx="1447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B1324"/>
                </a:solidFill>
                <a:latin typeface="Avenir Next"/>
                <a:ea typeface="Avenir Next"/>
                <a:cs typeface="Avenir Next"/>
              </a:defRPr>
            </a:defPPr>
          </a:lstStyle>
          <a:p xmlns:a="http://schemas.openxmlformats.org/drawingml/2006/main">
            <a:pPr>
              <a:defRPr sz="1800" b="1">
                <a:solidFill>
                  <a:srgbClr val="0B1324"/>
                </a:solidFill>
                <a:latin typeface="Avenir Next"/>
                <a:ea typeface="Avenir Next"/>
                <a:cs typeface="Avenir Next"/>
              </a:defRPr>
            </a:pPr>
            <a:r>
              <a:rPr sz="1800" b="1">
                <a:solidFill>
                  <a:srgbClr val="0B1324"/>
                </a:solidFill>
                <a:latin typeface="Avenir Next"/>
                <a:ea typeface="Avenir Next"/>
                <a:cs typeface="Avenir Next"/>
              </a:rPr>
              <a:t>Train</a:t>
            </a:r>
          </a:p>
        </p:txBody>
      </p:sp>
      <p:sp>
        <p:nvSpPr>
          <p:cNvPr id="22" name="">
            <a:extLst xmlns:a="http://schemas.openxmlformats.org/drawingml/2006/main">
              <a:ext uri="{FF2B5EF4-FFF2-40B4-BE49-F238E27FC236}">
                <a16:creationId xmlns:a16="http://schemas.microsoft.com/office/drawing/2014/main" id="{E58D1B4F-80FC-4160-9A5D-6A7FE53A7B3C}"/>
              </a:ext>
            </a:extLst>
          </p:cNvPr>
          <p:cNvSpPr>
            <a:spLocks xmlns:a="http://schemas.openxmlformats.org/drawingml/2006/main" noGrp="1"/>
          </p:cNvSpPr>
          <p:nvPr/>
        </p:nvSpPr>
        <p:spPr>
          <a:xfrm xmlns:a="http://schemas.openxmlformats.org/drawingml/2006/main">
            <a:off x="7639050" y="33528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67085"/>
                </a:solidFill>
                <a:latin typeface="Avenir Next"/>
                <a:ea typeface="Avenir Next"/>
                <a:cs typeface="Avenir Next"/>
              </a:defRPr>
            </a:defPPr>
          </a:lstStyle>
          <a:p xmlns:a="http://schemas.openxmlformats.org/drawingml/2006/main">
            <a:pPr>
              <a:defRPr sz="1050" b="0">
                <a:solidFill>
                  <a:srgbClr val="667085"/>
                </a:solidFill>
                <a:latin typeface="Avenir Next"/>
                <a:ea typeface="Avenir Next"/>
                <a:cs typeface="Avenir Next"/>
              </a:defRPr>
            </a:pPr>
            <a:r>
              <a:rPr sz="1050" b="0">
                <a:solidFill>
                  <a:srgbClr val="667085"/>
                </a:solidFill>
                <a:latin typeface="Avenir Next"/>
                <a:ea typeface="Avenir Next"/>
                <a:cs typeface="Avenir Next"/>
              </a:rPr>
              <a:t>Estimator</a:t>
            </a:r>
          </a:p>
        </p:txBody>
      </p:sp>
      <p:cxnSp>
        <p:nvCxnSpPr>
          <p:cNvPr id="23" name="">
            <a:extLst xmlns:a="http://schemas.openxmlformats.org/drawingml/2006/main">
              <a:ext uri="{FF2B5EF4-FFF2-40B4-BE49-F238E27FC236}">
                <a16:creationId xmlns:a16="http://schemas.microsoft.com/office/drawing/2014/main" id="{382AEEE7-B02E-4117-8341-CC7DC2B6D9D0}"/>
              </a:ext>
            </a:extLst>
          </p:cNvPr>
          <p:cNvCxnSpPr/>
          <p:nvPr/>
        </p:nvCxnSpPr>
        <p:spPr>
          <a:xfrm xmlns:a="http://schemas.openxmlformats.org/drawingml/2006/main">
            <a:off x="9239250" y="3057525"/>
            <a:ext cx="514350" cy="0"/>
          </a:xfrm>
          <a:prstGeom xmlns:a="http://schemas.openxmlformats.org/drawingml/2006/main" prst="bentConnector4">
            <a:avLst/>
          </a:prstGeom>
          <a:ln xmlns:a="http://schemas.openxmlformats.org/drawingml/2006/main" w="28575">
            <a:solidFill>
              <a:srgbClr val="D9DEE8"/>
            </a:solidFill>
            <a:prstDash val="solid"/>
          </a:ln>
        </p:spPr>
      </p:cxnSp>
      <p:sp>
        <p:nvSpPr>
          <p:cNvPr id="24" name="">
            <a:extLst xmlns:a="http://schemas.openxmlformats.org/drawingml/2006/main">
              <a:ext uri="{FF2B5EF4-FFF2-40B4-BE49-F238E27FC236}">
                <a16:creationId xmlns:a16="http://schemas.microsoft.com/office/drawing/2014/main" id="{74C6749A-B1FE-40A3-B0FE-DA3ED7784CAB}"/>
              </a:ext>
            </a:extLst>
          </p:cNvPr>
          <p:cNvSpPr>
            <a:spLocks xmlns:a="http://schemas.openxmlformats.org/drawingml/2006/main" noGrp="1"/>
          </p:cNvSpPr>
          <p:nvPr/>
        </p:nvSpPr>
        <p:spPr>
          <a:xfrm xmlns:a="http://schemas.openxmlformats.org/drawingml/2006/main">
            <a:off x="9753600" y="2333625"/>
            <a:ext cx="1752600" cy="1447800"/>
          </a:xfrm>
          <a:prstGeom xmlns:a="http://schemas.openxmlformats.org/drawingml/2006/main" prst="roundRect">
            <a:avLst>
              <a:gd name="adj" fmla="val 7895"/>
            </a:avLst>
          </a:prstGeom>
          <a:solidFill xmlns:a="http://schemas.openxmlformats.org/drawingml/2006/main">
            <a:srgbClr val="EEF1F5"/>
          </a:solidFill>
          <a:ln xmlns:a="http://schemas.openxmlformats.org/drawingml/2006/main" w="9525">
            <a:solidFill>
              <a:srgbClr val="D9DEE8"/>
            </a:solidFill>
            <a:prstDash val="solid"/>
          </a:ln>
        </p:spPr>
      </p:sp>
      <p:sp>
        <p:nvSpPr>
          <p:cNvPr id="25" name="">
            <a:extLst xmlns:a="http://schemas.openxmlformats.org/drawingml/2006/main">
              <a:ext uri="{FF2B5EF4-FFF2-40B4-BE49-F238E27FC236}">
                <a16:creationId xmlns:a16="http://schemas.microsoft.com/office/drawing/2014/main" id="{471093BC-9A41-49E3-B2B7-A84B41BE58C3}"/>
              </a:ext>
            </a:extLst>
          </p:cNvPr>
          <p:cNvSpPr>
            <a:spLocks xmlns:a="http://schemas.openxmlformats.org/drawingml/2006/main" noGrp="1"/>
          </p:cNvSpPr>
          <p:nvPr/>
        </p:nvSpPr>
        <p:spPr>
          <a:xfrm xmlns:a="http://schemas.openxmlformats.org/drawingml/2006/main">
            <a:off x="9906000" y="25050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67085"/>
                </a:solidFill>
                <a:latin typeface="Avenir Next"/>
                <a:ea typeface="Avenir Next"/>
                <a:cs typeface="Avenir Next"/>
              </a:defRPr>
            </a:defPPr>
          </a:lstStyle>
          <a:p xmlns:a="http://schemas.openxmlformats.org/drawingml/2006/main">
            <a:pPr>
              <a:defRPr sz="975" b="1">
                <a:solidFill>
                  <a:srgbClr val="667085"/>
                </a:solidFill>
                <a:latin typeface="Avenir Next"/>
                <a:ea typeface="Avenir Next"/>
                <a:cs typeface="Avenir Next"/>
              </a:defRPr>
            </a:pPr>
            <a:r>
              <a:rPr sz="975" b="1">
                <a:solidFill>
                  <a:srgbClr val="667085"/>
                </a:solidFill>
                <a:latin typeface="Avenir Next"/>
                <a:ea typeface="Avenir Next"/>
                <a:cs typeface="Avenir Next"/>
              </a:rPr>
              <a:t>5</a:t>
            </a:r>
          </a:p>
        </p:txBody>
      </p:sp>
      <p:sp>
        <p:nvSpPr>
          <p:cNvPr id="26" name="">
            <a:extLst xmlns:a="http://schemas.openxmlformats.org/drawingml/2006/main">
              <a:ext uri="{FF2B5EF4-FFF2-40B4-BE49-F238E27FC236}">
                <a16:creationId xmlns:a16="http://schemas.microsoft.com/office/drawing/2014/main" id="{6923615A-60EE-48D1-8EF5-C4A7FDF3F2AC}"/>
              </a:ext>
            </a:extLst>
          </p:cNvPr>
          <p:cNvSpPr>
            <a:spLocks xmlns:a="http://schemas.openxmlformats.org/drawingml/2006/main" noGrp="1"/>
          </p:cNvSpPr>
          <p:nvPr/>
        </p:nvSpPr>
        <p:spPr>
          <a:xfrm xmlns:a="http://schemas.openxmlformats.org/drawingml/2006/main">
            <a:off x="9906000" y="2914650"/>
            <a:ext cx="1447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B1324"/>
                </a:solidFill>
                <a:latin typeface="Avenir Next"/>
                <a:ea typeface="Avenir Next"/>
                <a:cs typeface="Avenir Next"/>
              </a:defRPr>
            </a:defPPr>
          </a:lstStyle>
          <a:p xmlns:a="http://schemas.openxmlformats.org/drawingml/2006/main">
            <a:pPr>
              <a:defRPr sz="1800" b="1">
                <a:solidFill>
                  <a:srgbClr val="0B1324"/>
                </a:solidFill>
                <a:latin typeface="Avenir Next"/>
                <a:ea typeface="Avenir Next"/>
                <a:cs typeface="Avenir Next"/>
              </a:defRPr>
            </a:pPr>
            <a:r>
              <a:rPr sz="1800" b="1">
                <a:solidFill>
                  <a:srgbClr val="0B1324"/>
                </a:solidFill>
                <a:latin typeface="Avenir Next"/>
                <a:ea typeface="Avenir Next"/>
                <a:cs typeface="Avenir Next"/>
              </a:rPr>
              <a:t>Deploy</a:t>
            </a:r>
          </a:p>
        </p:txBody>
      </p:sp>
      <p:sp>
        <p:nvSpPr>
          <p:cNvPr id="27" name="">
            <a:extLst xmlns:a="http://schemas.openxmlformats.org/drawingml/2006/main">
              <a:ext uri="{FF2B5EF4-FFF2-40B4-BE49-F238E27FC236}">
                <a16:creationId xmlns:a16="http://schemas.microsoft.com/office/drawing/2014/main" id="{B82AB3CF-3BF7-488D-8087-EF568DA137EA}"/>
              </a:ext>
            </a:extLst>
          </p:cNvPr>
          <p:cNvSpPr>
            <a:spLocks xmlns:a="http://schemas.openxmlformats.org/drawingml/2006/main" noGrp="1"/>
          </p:cNvSpPr>
          <p:nvPr/>
        </p:nvSpPr>
        <p:spPr>
          <a:xfrm xmlns:a="http://schemas.openxmlformats.org/drawingml/2006/main">
            <a:off x="9906000" y="33528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67085"/>
                </a:solidFill>
                <a:latin typeface="Avenir Next"/>
                <a:ea typeface="Avenir Next"/>
                <a:cs typeface="Avenir Next"/>
              </a:defRPr>
            </a:defPPr>
          </a:lstStyle>
          <a:p xmlns:a="http://schemas.openxmlformats.org/drawingml/2006/main">
            <a:pPr>
              <a:defRPr sz="1050" b="0">
                <a:solidFill>
                  <a:srgbClr val="667085"/>
                </a:solidFill>
                <a:latin typeface="Avenir Next"/>
                <a:ea typeface="Avenir Next"/>
                <a:cs typeface="Avenir Next"/>
              </a:defRPr>
            </a:pPr>
            <a:r>
              <a:rPr sz="1050" b="0">
                <a:solidFill>
                  <a:srgbClr val="667085"/>
                </a:solidFill>
                <a:latin typeface="Avenir Next"/>
                <a:ea typeface="Avenir Next"/>
                <a:cs typeface="Avenir Next"/>
              </a:rPr>
              <a:t>Serving</a:t>
            </a:r>
          </a:p>
        </p:txBody>
      </p:sp>
      <p:sp>
        <p:nvSpPr>
          <p:cNvPr id="28" name="">
            <a:extLst xmlns:a="http://schemas.openxmlformats.org/drawingml/2006/main">
              <a:ext uri="{FF2B5EF4-FFF2-40B4-BE49-F238E27FC236}">
                <a16:creationId xmlns:a16="http://schemas.microsoft.com/office/drawing/2014/main" id="{1468D929-434C-46EA-907A-B834C521E118}"/>
              </a:ext>
            </a:extLst>
          </p:cNvPr>
          <p:cNvSpPr>
            <a:spLocks xmlns:a="http://schemas.openxmlformats.org/drawingml/2006/main" noGrp="1"/>
          </p:cNvSpPr>
          <p:nvPr/>
        </p:nvSpPr>
        <p:spPr>
          <a:xfrm xmlns:a="http://schemas.openxmlformats.org/drawingml/2006/main">
            <a:off x="2952750" y="4229100"/>
            <a:ext cx="1752600" cy="76200"/>
          </a:xfrm>
          <a:prstGeom xmlns:a="http://schemas.openxmlformats.org/drawingml/2006/main" prst="rect">
            <a:avLst/>
          </a:prstGeom>
          <a:solidFill xmlns:a="http://schemas.openxmlformats.org/drawingml/2006/main">
            <a:srgbClr val="F05A28"/>
          </a:solidFill>
          <a:ln xmlns:a="http://schemas.openxmlformats.org/drawingml/2006/main" w="0">
            <a:solidFill>
              <a:srgbClr val="F05A28"/>
            </a:solidFill>
            <a:prstDash val="solid"/>
          </a:ln>
        </p:spPr>
      </p:sp>
      <p:sp>
        <p:nvSpPr>
          <p:cNvPr id="29" name="">
            <a:extLst xmlns:a="http://schemas.openxmlformats.org/drawingml/2006/main">
              <a:ext uri="{FF2B5EF4-FFF2-40B4-BE49-F238E27FC236}">
                <a16:creationId xmlns:a16="http://schemas.microsoft.com/office/drawing/2014/main" id="{E49ECF93-2385-431E-9A59-BB5C8A5BB3C1}"/>
              </a:ext>
            </a:extLst>
          </p:cNvPr>
          <p:cNvSpPr>
            <a:spLocks xmlns:a="http://schemas.openxmlformats.org/drawingml/2006/main" noGrp="1"/>
          </p:cNvSpPr>
          <p:nvPr/>
        </p:nvSpPr>
        <p:spPr>
          <a:xfrm xmlns:a="http://schemas.openxmlformats.org/drawingml/2006/main">
            <a:off x="2905125" y="45720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4545"/>
                </a:solidFill>
                <a:latin typeface="Avenir Next"/>
                <a:ea typeface="Avenir Next"/>
                <a:cs typeface="Avenir Next"/>
              </a:defRPr>
            </a:defPPr>
          </a:lstStyle>
          <a:p xmlns:a="http://schemas.openxmlformats.org/drawingml/2006/main">
            <a:pPr>
              <a:defRPr sz="975" b="1">
                <a:solidFill>
                  <a:srgbClr val="D64545"/>
                </a:solidFill>
                <a:latin typeface="Avenir Next"/>
                <a:ea typeface="Avenir Next"/>
                <a:cs typeface="Avenir Next"/>
              </a:defRPr>
            </a:pPr>
            <a:r>
              <a:rPr sz="975" b="1">
                <a:solidFill>
                  <a:srgbClr val="D64545"/>
                </a:solidFill>
                <a:latin typeface="Avenir Next"/>
                <a:ea typeface="Avenir Next"/>
                <a:cs typeface="Avenir Next"/>
              </a:rPr>
              <a:t>FAIL</a:t>
            </a:r>
          </a:p>
        </p:txBody>
      </p:sp>
      <p:cxnSp>
        <p:nvCxnSpPr>
          <p:cNvPr id="30" name="">
            <a:extLst xmlns:a="http://schemas.openxmlformats.org/drawingml/2006/main">
              <a:ext uri="{FF2B5EF4-FFF2-40B4-BE49-F238E27FC236}">
                <a16:creationId xmlns:a16="http://schemas.microsoft.com/office/drawing/2014/main" id="{5498C62D-1252-4347-8B5C-814849DC482C}"/>
              </a:ext>
            </a:extLst>
          </p:cNvPr>
          <p:cNvCxnSpPr/>
          <p:nvPr/>
        </p:nvCxnSpPr>
        <p:spPr>
          <a:xfrm xmlns:a="http://schemas.openxmlformats.org/drawingml/2006/main">
            <a:off x="3829050" y="3781425"/>
            <a:ext cx="0" cy="1133475"/>
          </a:xfrm>
          <a:prstGeom xmlns:a="http://schemas.openxmlformats.org/drawingml/2006/main" prst="bentConnector4">
            <a:avLst/>
          </a:prstGeom>
          <a:ln xmlns:a="http://schemas.openxmlformats.org/drawingml/2006/main" w="19050">
            <a:solidFill>
              <a:srgbClr val="D64545"/>
            </a:solidFill>
            <a:prstDash val="solid"/>
          </a:ln>
        </p:spPr>
      </p:cxnSp>
      <p:sp>
        <p:nvSpPr>
          <p:cNvPr id="31" name="">
            <a:extLst xmlns:a="http://schemas.openxmlformats.org/drawingml/2006/main">
              <a:ext uri="{FF2B5EF4-FFF2-40B4-BE49-F238E27FC236}">
                <a16:creationId xmlns:a16="http://schemas.microsoft.com/office/drawing/2014/main" id="{85049EFC-13F9-455A-AA98-38EB8316E161}"/>
              </a:ext>
            </a:extLst>
          </p:cNvPr>
          <p:cNvSpPr>
            <a:spLocks xmlns:a="http://schemas.openxmlformats.org/drawingml/2006/main" noGrp="1"/>
          </p:cNvSpPr>
          <p:nvPr/>
        </p:nvSpPr>
        <p:spPr>
          <a:xfrm xmlns:a="http://schemas.openxmlformats.org/drawingml/2006/main">
            <a:off x="3124200" y="4914900"/>
            <a:ext cx="1409700" cy="514350"/>
          </a:xfrm>
          <a:prstGeom xmlns:a="http://schemas.openxmlformats.org/drawingml/2006/main" prst="roundRect">
            <a:avLst>
              <a:gd name="adj" fmla="val 22222"/>
            </a:avLst>
          </a:prstGeom>
          <a:solidFill xmlns:a="http://schemas.openxmlformats.org/drawingml/2006/main">
            <a:srgbClr val="FDECEC"/>
          </a:solidFill>
          <a:ln xmlns:a="http://schemas.openxmlformats.org/drawingml/2006/main" w="0">
            <a:solidFill>
              <a:srgbClr val="FDECEC"/>
            </a:solidFill>
            <a:prstDash val="solid"/>
          </a:ln>
        </p:spPr>
      </p:sp>
      <p:sp>
        <p:nvSpPr>
          <p:cNvPr id="32" name="">
            <a:extLst xmlns:a="http://schemas.openxmlformats.org/drawingml/2006/main">
              <a:ext uri="{FF2B5EF4-FFF2-40B4-BE49-F238E27FC236}">
                <a16:creationId xmlns:a16="http://schemas.microsoft.com/office/drawing/2014/main" id="{8D9A4C44-E051-4D47-8A09-E5C200AF98C3}"/>
              </a:ext>
            </a:extLst>
          </p:cNvPr>
          <p:cNvSpPr>
            <a:spLocks xmlns:a="http://schemas.openxmlformats.org/drawingml/2006/main" noGrp="1"/>
          </p:cNvSpPr>
          <p:nvPr/>
        </p:nvSpPr>
        <p:spPr>
          <a:xfrm xmlns:a="http://schemas.openxmlformats.org/drawingml/2006/main">
            <a:off x="3248025" y="5067300"/>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D64545"/>
                </a:solidFill>
                <a:latin typeface="Avenir Next"/>
                <a:ea typeface="Avenir Next"/>
                <a:cs typeface="Avenir Next"/>
              </a:defRPr>
            </a:defPPr>
          </a:lstStyle>
          <a:p xmlns:a="http://schemas.openxmlformats.org/drawingml/2006/main">
            <a:pPr algn="ctr">
              <a:defRPr sz="1125" b="1">
                <a:solidFill>
                  <a:srgbClr val="D64545"/>
                </a:solidFill>
                <a:latin typeface="Avenir Next"/>
                <a:ea typeface="Avenir Next"/>
                <a:cs typeface="Avenir Next"/>
              </a:defRPr>
            </a:pPr>
            <a:r>
              <a:rPr sz="1125" b="1">
                <a:solidFill>
                  <a:srgbClr val="D64545"/>
                </a:solidFill>
                <a:latin typeface="Avenir Next"/>
                <a:ea typeface="Avenir Next"/>
                <a:cs typeface="Avenir Next"/>
              </a:rPr>
              <a:t>Stop + report</a:t>
            </a:r>
          </a:p>
        </p:txBody>
      </p:sp>
      <p:sp>
        <p:nvSpPr>
          <p:cNvPr id="33" name="">
            <a:extLst xmlns:a="http://schemas.openxmlformats.org/drawingml/2006/main">
              <a:ext uri="{FF2B5EF4-FFF2-40B4-BE49-F238E27FC236}">
                <a16:creationId xmlns:a16="http://schemas.microsoft.com/office/drawing/2014/main" id="{6AC3BEE6-D501-4D2E-8337-A0D7F8A17484}"/>
              </a:ext>
            </a:extLst>
          </p:cNvPr>
          <p:cNvSpPr>
            <a:spLocks xmlns:a="http://schemas.openxmlformats.org/drawingml/2006/main" noGrp="1"/>
          </p:cNvSpPr>
          <p:nvPr/>
        </p:nvSpPr>
        <p:spPr>
          <a:xfrm xmlns:a="http://schemas.openxmlformats.org/drawingml/2006/main">
            <a:off x="5219700" y="455295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B1324"/>
                </a:solidFill>
                <a:latin typeface="Avenir Next"/>
                <a:ea typeface="Avenir Next"/>
                <a:cs typeface="Avenir Next"/>
              </a:defRPr>
            </a:defPPr>
          </a:lstStyle>
          <a:p xmlns:a="http://schemas.openxmlformats.org/drawingml/2006/main">
            <a:pPr>
              <a:defRPr sz="1950" b="1">
                <a:solidFill>
                  <a:srgbClr val="0B1324"/>
                </a:solidFill>
                <a:latin typeface="Avenir Next"/>
                <a:ea typeface="Avenir Next"/>
                <a:cs typeface="Avenir Next"/>
              </a:defRPr>
            </a:pPr>
            <a:r>
              <a:rPr sz="1950" b="1">
                <a:solidFill>
                  <a:srgbClr val="0B1324"/>
                </a:solidFill>
                <a:latin typeface="Avenir Next"/>
                <a:ea typeface="Avenir Next"/>
                <a:cs typeface="Avenir Next"/>
              </a:rPr>
              <a:t>A failed batch never reaches model.fit().</a:t>
            </a:r>
          </a:p>
        </p:txBody>
      </p:sp>
      <p:sp>
        <p:nvSpPr>
          <p:cNvPr id="34" name="">
            <a:extLst xmlns:a="http://schemas.openxmlformats.org/drawingml/2006/main">
              <a:ext uri="{FF2B5EF4-FFF2-40B4-BE49-F238E27FC236}">
                <a16:creationId xmlns:a16="http://schemas.microsoft.com/office/drawing/2014/main" id="{B510AD9B-4C08-4474-9568-C646D8A08EE3}"/>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508449883"/>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ADE0D6D-0D87-4679-B845-DA7E2B725ECC}"/>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Core concepts and architecture</a:t>
            </a:r>
          </a:p>
        </p:txBody>
      </p:sp>
      <p:sp>
        <p:nvSpPr>
          <p:cNvPr id="2" name="">
            <a:extLst xmlns:a="http://schemas.openxmlformats.org/drawingml/2006/main">
              <a:ext uri="{FF2B5EF4-FFF2-40B4-BE49-F238E27FC236}">
                <a16:creationId xmlns:a16="http://schemas.microsoft.com/office/drawing/2014/main" id="{AF822C9E-80ED-4CC3-B7F6-D5FFAF96F499}"/>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A544AB4C-70D9-4E4E-9B6D-08A3871DE0DE}"/>
              </a:ext>
            </a:extLst>
          </p:cNvPr>
          <p:cNvSpPr>
            <a:spLocks xmlns:a="http://schemas.openxmlformats.org/drawingml/2006/main" noGrp="1"/>
          </p:cNvSpPr>
          <p:nvPr/>
        </p:nvSpPr>
        <p:spPr>
          <a:xfrm xmlns:a="http://schemas.openxmlformats.org/drawingml/2006/main">
            <a:off x="685800" y="11430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GX connects a named data batch to a reusable set of expectations.</a:t>
            </a:r>
          </a:p>
        </p:txBody>
      </p:sp>
      <p:sp>
        <p:nvSpPr>
          <p:cNvPr id="4" name="">
            <a:extLst xmlns:a="http://schemas.openxmlformats.org/drawingml/2006/main">
              <a:ext uri="{FF2B5EF4-FFF2-40B4-BE49-F238E27FC236}">
                <a16:creationId xmlns:a16="http://schemas.microsoft.com/office/drawing/2014/main" id="{6B79D6CB-5510-4984-B6CF-38F9EF6FA665}"/>
              </a:ext>
            </a:extLst>
          </p:cNvPr>
          <p:cNvSpPr>
            <a:spLocks xmlns:a="http://schemas.openxmlformats.org/drawingml/2006/main" noGrp="1"/>
          </p:cNvSpPr>
          <p:nvPr/>
        </p:nvSpPr>
        <p:spPr>
          <a:xfrm xmlns:a="http://schemas.openxmlformats.org/drawingml/2006/main">
            <a:off x="685800" y="2495550"/>
            <a:ext cx="1828800" cy="1257300"/>
          </a:xfrm>
          <a:prstGeom xmlns:a="http://schemas.openxmlformats.org/drawingml/2006/main" prst="roundRect">
            <a:avLst>
              <a:gd name="adj" fmla="val 9091"/>
            </a:avLst>
          </a:prstGeom>
          <a:solidFill xmlns:a="http://schemas.openxmlformats.org/drawingml/2006/main">
            <a:srgbClr val="EAF0FF"/>
          </a:solidFill>
          <a:ln xmlns:a="http://schemas.openxmlformats.org/drawingml/2006/main" w="9525">
            <a:solidFill>
              <a:srgbClr val="3E6AE1"/>
            </a:solidFill>
            <a:prstDash val="solid"/>
          </a:ln>
        </p:spPr>
      </p:sp>
      <p:sp>
        <p:nvSpPr>
          <p:cNvPr id="5" name="">
            <a:extLst xmlns:a="http://schemas.openxmlformats.org/drawingml/2006/main">
              <a:ext uri="{FF2B5EF4-FFF2-40B4-BE49-F238E27FC236}">
                <a16:creationId xmlns:a16="http://schemas.microsoft.com/office/drawing/2014/main" id="{CE59C69B-E493-481D-9D4B-6356026E175C}"/>
              </a:ext>
            </a:extLst>
          </p:cNvPr>
          <p:cNvSpPr>
            <a:spLocks xmlns:a="http://schemas.openxmlformats.org/drawingml/2006/main" noGrp="1"/>
          </p:cNvSpPr>
          <p:nvPr/>
        </p:nvSpPr>
        <p:spPr>
          <a:xfrm xmlns:a="http://schemas.openxmlformats.org/drawingml/2006/main">
            <a:off x="83820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0B1324"/>
                </a:solidFill>
                <a:latin typeface="Avenir Next"/>
                <a:ea typeface="Avenir Next"/>
                <a:cs typeface="Avenir Next"/>
              </a:defRPr>
            </a:defPPr>
          </a:lstStyle>
          <a:p xmlns:a="http://schemas.openxmlformats.org/drawingml/2006/main">
            <a:pPr algn="ctr">
              <a:defRPr sz="1425" b="1">
                <a:solidFill>
                  <a:srgbClr val="0B1324"/>
                </a:solidFill>
                <a:latin typeface="Avenir Next"/>
                <a:ea typeface="Avenir Next"/>
                <a:cs typeface="Avenir Next"/>
              </a:defRPr>
            </a:pPr>
            <a:r>
              <a:rPr sz="1425" b="1">
                <a:solidFill>
                  <a:srgbClr val="0B1324"/>
                </a:solidFill>
                <a:latin typeface="Avenir Next"/>
                <a:ea typeface="Avenir Next"/>
                <a:cs typeface="Avenir Next"/>
              </a:rPr>
              <a:t>Data Source</a:t>
            </a:r>
          </a:p>
        </p:txBody>
      </p:sp>
      <p:sp>
        <p:nvSpPr>
          <p:cNvPr id="6" name="">
            <a:extLst xmlns:a="http://schemas.openxmlformats.org/drawingml/2006/main">
              <a:ext uri="{FF2B5EF4-FFF2-40B4-BE49-F238E27FC236}">
                <a16:creationId xmlns:a16="http://schemas.microsoft.com/office/drawing/2014/main" id="{99B1CF1E-F9A3-48D7-A522-1052D71078C0}"/>
              </a:ext>
            </a:extLst>
          </p:cNvPr>
          <p:cNvSpPr>
            <a:spLocks xmlns:a="http://schemas.openxmlformats.org/drawingml/2006/main" noGrp="1"/>
          </p:cNvSpPr>
          <p:nvPr/>
        </p:nvSpPr>
        <p:spPr>
          <a:xfrm xmlns:a="http://schemas.openxmlformats.org/drawingml/2006/main">
            <a:off x="819150" y="31813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a:solidFill>
                  <a:srgbClr val="667085"/>
                </a:solidFill>
                <a:latin typeface="Avenir Next"/>
                <a:ea typeface="Avenir Next"/>
                <a:cs typeface="Avenir Next"/>
              </a:defRPr>
            </a:defPPr>
          </a:lstStyle>
          <a:p xmlns:a="http://schemas.openxmlformats.org/drawingml/2006/main">
            <a:pPr algn="ct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Connects to pandas</a:t>
            </a:r>
          </a:p>
        </p:txBody>
      </p:sp>
      <p:cxnSp>
        <p:nvCxnSpPr>
          <p:cNvPr id="7" name="">
            <a:extLst xmlns:a="http://schemas.openxmlformats.org/drawingml/2006/main">
              <a:ext uri="{FF2B5EF4-FFF2-40B4-BE49-F238E27FC236}">
                <a16:creationId xmlns:a16="http://schemas.microsoft.com/office/drawing/2014/main" id="{BD714792-A4F5-4651-AB7E-516997224CFD}"/>
              </a:ext>
            </a:extLst>
          </p:cNvPr>
          <p:cNvCxnSpPr/>
          <p:nvPr/>
        </p:nvCxnSpPr>
        <p:spPr>
          <a:xfrm xmlns:a="http://schemas.openxmlformats.org/drawingml/2006/main">
            <a:off x="2514600" y="3124200"/>
            <a:ext cx="438150" cy="0"/>
          </a:xfrm>
          <a:prstGeom xmlns:a="http://schemas.openxmlformats.org/drawingml/2006/main" prst="bentConnector4">
            <a:avLst/>
          </a:prstGeom>
          <a:ln xmlns:a="http://schemas.openxmlformats.org/drawingml/2006/main" w="28575">
            <a:solidFill>
              <a:srgbClr val="D9DEE8"/>
            </a:solidFill>
            <a:prstDash val="solid"/>
          </a:ln>
        </p:spPr>
      </p:cxnSp>
      <p:sp>
        <p:nvSpPr>
          <p:cNvPr id="8" name="">
            <a:extLst xmlns:a="http://schemas.openxmlformats.org/drawingml/2006/main">
              <a:ext uri="{FF2B5EF4-FFF2-40B4-BE49-F238E27FC236}">
                <a16:creationId xmlns:a16="http://schemas.microsoft.com/office/drawing/2014/main" id="{1FBD5292-FC0F-4CAD-93FC-A0FFF09B8DA0}"/>
              </a:ext>
            </a:extLst>
          </p:cNvPr>
          <p:cNvSpPr>
            <a:spLocks xmlns:a="http://schemas.openxmlformats.org/drawingml/2006/main" noGrp="1"/>
          </p:cNvSpPr>
          <p:nvPr/>
        </p:nvSpPr>
        <p:spPr>
          <a:xfrm xmlns:a="http://schemas.openxmlformats.org/drawingml/2006/main">
            <a:off x="2952750" y="2495550"/>
            <a:ext cx="1828800" cy="1257300"/>
          </a:xfrm>
          <a:prstGeom xmlns:a="http://schemas.openxmlformats.org/drawingml/2006/main" prst="roundRect">
            <a:avLst>
              <a:gd name="adj" fmla="val 9091"/>
            </a:avLst>
          </a:prstGeom>
          <a:solidFill xmlns:a="http://schemas.openxmlformats.org/drawingml/2006/main">
            <a:srgbClr val="EAF0FF"/>
          </a:solidFill>
          <a:ln xmlns:a="http://schemas.openxmlformats.org/drawingml/2006/main" w="9525">
            <a:solidFill>
              <a:srgbClr val="3E6AE1"/>
            </a:solidFill>
            <a:prstDash val="solid"/>
          </a:ln>
        </p:spPr>
      </p:sp>
      <p:sp>
        <p:nvSpPr>
          <p:cNvPr id="9" name="">
            <a:extLst xmlns:a="http://schemas.openxmlformats.org/drawingml/2006/main">
              <a:ext uri="{FF2B5EF4-FFF2-40B4-BE49-F238E27FC236}">
                <a16:creationId xmlns:a16="http://schemas.microsoft.com/office/drawing/2014/main" id="{F117D0F9-0B98-4791-BA12-548C2D1DF24D}"/>
              </a:ext>
            </a:extLst>
          </p:cNvPr>
          <p:cNvSpPr>
            <a:spLocks xmlns:a="http://schemas.openxmlformats.org/drawingml/2006/main" noGrp="1"/>
          </p:cNvSpPr>
          <p:nvPr/>
        </p:nvSpPr>
        <p:spPr>
          <a:xfrm xmlns:a="http://schemas.openxmlformats.org/drawingml/2006/main">
            <a:off x="31051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0B1324"/>
                </a:solidFill>
                <a:latin typeface="Avenir Next"/>
                <a:ea typeface="Avenir Next"/>
                <a:cs typeface="Avenir Next"/>
              </a:defRPr>
            </a:defPPr>
          </a:lstStyle>
          <a:p xmlns:a="http://schemas.openxmlformats.org/drawingml/2006/main">
            <a:pPr algn="ctr">
              <a:defRPr sz="1425" b="1">
                <a:solidFill>
                  <a:srgbClr val="0B1324"/>
                </a:solidFill>
                <a:latin typeface="Avenir Next"/>
                <a:ea typeface="Avenir Next"/>
                <a:cs typeface="Avenir Next"/>
              </a:defRPr>
            </a:pPr>
            <a:r>
              <a:rPr sz="1425" b="1">
                <a:solidFill>
                  <a:srgbClr val="0B1324"/>
                </a:solidFill>
                <a:latin typeface="Avenir Next"/>
                <a:ea typeface="Avenir Next"/>
                <a:cs typeface="Avenir Next"/>
              </a:rPr>
              <a:t>Data Asset</a:t>
            </a:r>
          </a:p>
        </p:txBody>
      </p:sp>
      <p:sp>
        <p:nvSpPr>
          <p:cNvPr id="10" name="">
            <a:extLst xmlns:a="http://schemas.openxmlformats.org/drawingml/2006/main">
              <a:ext uri="{FF2B5EF4-FFF2-40B4-BE49-F238E27FC236}">
                <a16:creationId xmlns:a16="http://schemas.microsoft.com/office/drawing/2014/main" id="{5D6B5FD2-7F4F-4330-B9DD-0EED7BE9AB70}"/>
              </a:ext>
            </a:extLst>
          </p:cNvPr>
          <p:cNvSpPr>
            <a:spLocks xmlns:a="http://schemas.openxmlformats.org/drawingml/2006/main" noGrp="1"/>
          </p:cNvSpPr>
          <p:nvPr/>
        </p:nvSpPr>
        <p:spPr>
          <a:xfrm xmlns:a="http://schemas.openxmlformats.org/drawingml/2006/main">
            <a:off x="3086100" y="31813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a:solidFill>
                  <a:srgbClr val="667085"/>
                </a:solidFill>
                <a:latin typeface="Avenir Next"/>
                <a:ea typeface="Avenir Next"/>
                <a:cs typeface="Avenir Next"/>
              </a:defRPr>
            </a:defPPr>
          </a:lstStyle>
          <a:p xmlns:a="http://schemas.openxmlformats.org/drawingml/2006/main">
            <a:pPr algn="ct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Names the logical dataset</a:t>
            </a:r>
          </a:p>
        </p:txBody>
      </p:sp>
      <p:cxnSp>
        <p:nvCxnSpPr>
          <p:cNvPr id="11" name="">
            <a:extLst xmlns:a="http://schemas.openxmlformats.org/drawingml/2006/main">
              <a:ext uri="{FF2B5EF4-FFF2-40B4-BE49-F238E27FC236}">
                <a16:creationId xmlns:a16="http://schemas.microsoft.com/office/drawing/2014/main" id="{5607BA98-7DB0-451C-A429-29AFEBD0D5CF}"/>
              </a:ext>
            </a:extLst>
          </p:cNvPr>
          <p:cNvCxnSpPr/>
          <p:nvPr/>
        </p:nvCxnSpPr>
        <p:spPr>
          <a:xfrm xmlns:a="http://schemas.openxmlformats.org/drawingml/2006/main">
            <a:off x="4781550" y="3124200"/>
            <a:ext cx="438150" cy="0"/>
          </a:xfrm>
          <a:prstGeom xmlns:a="http://schemas.openxmlformats.org/drawingml/2006/main" prst="bentConnector4">
            <a:avLst/>
          </a:prstGeom>
          <a:ln xmlns:a="http://schemas.openxmlformats.org/drawingml/2006/main" w="28575">
            <a:solidFill>
              <a:srgbClr val="D9DEE8"/>
            </a:solidFill>
            <a:prstDash val="solid"/>
          </a:ln>
        </p:spPr>
      </p:cxnSp>
      <p:sp>
        <p:nvSpPr>
          <p:cNvPr id="12" name="">
            <a:extLst xmlns:a="http://schemas.openxmlformats.org/drawingml/2006/main">
              <a:ext uri="{FF2B5EF4-FFF2-40B4-BE49-F238E27FC236}">
                <a16:creationId xmlns:a16="http://schemas.microsoft.com/office/drawing/2014/main" id="{68EB0140-9C10-49D4-9A61-693D42E6CACF}"/>
              </a:ext>
            </a:extLst>
          </p:cNvPr>
          <p:cNvSpPr>
            <a:spLocks xmlns:a="http://schemas.openxmlformats.org/drawingml/2006/main" noGrp="1"/>
          </p:cNvSpPr>
          <p:nvPr/>
        </p:nvSpPr>
        <p:spPr>
          <a:xfrm xmlns:a="http://schemas.openxmlformats.org/drawingml/2006/main">
            <a:off x="5219700" y="2495550"/>
            <a:ext cx="1828800" cy="1257300"/>
          </a:xfrm>
          <a:prstGeom xmlns:a="http://schemas.openxmlformats.org/drawingml/2006/main" prst="roundRect">
            <a:avLst>
              <a:gd name="adj" fmla="val 9091"/>
            </a:avLst>
          </a:prstGeom>
          <a:solidFill xmlns:a="http://schemas.openxmlformats.org/drawingml/2006/main">
            <a:srgbClr val="FFF0EA"/>
          </a:solidFill>
          <a:ln xmlns:a="http://schemas.openxmlformats.org/drawingml/2006/main" w="9525">
            <a:solidFill>
              <a:srgbClr val="F05A28"/>
            </a:solidFill>
            <a:prstDash val="solid"/>
          </a:ln>
        </p:spPr>
      </p:sp>
      <p:sp>
        <p:nvSpPr>
          <p:cNvPr id="13" name="">
            <a:extLst xmlns:a="http://schemas.openxmlformats.org/drawingml/2006/main">
              <a:ext uri="{FF2B5EF4-FFF2-40B4-BE49-F238E27FC236}">
                <a16:creationId xmlns:a16="http://schemas.microsoft.com/office/drawing/2014/main" id="{0371EF39-E463-471C-920B-5DC59616E15E}"/>
              </a:ext>
            </a:extLst>
          </p:cNvPr>
          <p:cNvSpPr>
            <a:spLocks xmlns:a="http://schemas.openxmlformats.org/drawingml/2006/main" noGrp="1"/>
          </p:cNvSpPr>
          <p:nvPr/>
        </p:nvSpPr>
        <p:spPr>
          <a:xfrm xmlns:a="http://schemas.openxmlformats.org/drawingml/2006/main">
            <a:off x="537210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0B1324"/>
                </a:solidFill>
                <a:latin typeface="Avenir Next"/>
                <a:ea typeface="Avenir Next"/>
                <a:cs typeface="Avenir Next"/>
              </a:defRPr>
            </a:defPPr>
          </a:lstStyle>
          <a:p xmlns:a="http://schemas.openxmlformats.org/drawingml/2006/main">
            <a:pPr algn="ctr">
              <a:defRPr sz="1425" b="1">
                <a:solidFill>
                  <a:srgbClr val="0B1324"/>
                </a:solidFill>
                <a:latin typeface="Avenir Next"/>
                <a:ea typeface="Avenir Next"/>
                <a:cs typeface="Avenir Next"/>
              </a:defRPr>
            </a:pPr>
            <a:r>
              <a:rPr sz="1425" b="1">
                <a:solidFill>
                  <a:srgbClr val="0B1324"/>
                </a:solidFill>
                <a:latin typeface="Avenir Next"/>
                <a:ea typeface="Avenir Next"/>
                <a:cs typeface="Avenir Next"/>
              </a:rPr>
              <a:t>Batch Definition</a:t>
            </a:r>
          </a:p>
        </p:txBody>
      </p:sp>
      <p:sp>
        <p:nvSpPr>
          <p:cNvPr id="14" name="">
            <a:extLst xmlns:a="http://schemas.openxmlformats.org/drawingml/2006/main">
              <a:ext uri="{FF2B5EF4-FFF2-40B4-BE49-F238E27FC236}">
                <a16:creationId xmlns:a16="http://schemas.microsoft.com/office/drawing/2014/main" id="{2D872FB5-D303-48E7-9E1A-1A130EED2C32}"/>
              </a:ext>
            </a:extLst>
          </p:cNvPr>
          <p:cNvSpPr>
            <a:spLocks xmlns:a="http://schemas.openxmlformats.org/drawingml/2006/main" noGrp="1"/>
          </p:cNvSpPr>
          <p:nvPr/>
        </p:nvSpPr>
        <p:spPr>
          <a:xfrm xmlns:a="http://schemas.openxmlformats.org/drawingml/2006/main">
            <a:off x="5353050" y="31813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a:solidFill>
                  <a:srgbClr val="667085"/>
                </a:solidFill>
                <a:latin typeface="Avenir Next"/>
                <a:ea typeface="Avenir Next"/>
                <a:cs typeface="Avenir Next"/>
              </a:defRPr>
            </a:defPPr>
          </a:lstStyle>
          <a:p xmlns:a="http://schemas.openxmlformats.org/drawingml/2006/main">
            <a:pPr algn="ct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Selects data for a run</a:t>
            </a:r>
          </a:p>
        </p:txBody>
      </p:sp>
      <p:sp>
        <p:nvSpPr>
          <p:cNvPr id="15" name="">
            <a:extLst xmlns:a="http://schemas.openxmlformats.org/drawingml/2006/main">
              <a:ext uri="{FF2B5EF4-FFF2-40B4-BE49-F238E27FC236}">
                <a16:creationId xmlns:a16="http://schemas.microsoft.com/office/drawing/2014/main" id="{396C0EBB-469D-47CE-B97D-E41AB1A5856A}"/>
              </a:ext>
            </a:extLst>
          </p:cNvPr>
          <p:cNvSpPr>
            <a:spLocks xmlns:a="http://schemas.openxmlformats.org/drawingml/2006/main" noGrp="1"/>
          </p:cNvSpPr>
          <p:nvPr/>
        </p:nvSpPr>
        <p:spPr>
          <a:xfrm xmlns:a="http://schemas.openxmlformats.org/drawingml/2006/main">
            <a:off x="7486650" y="2495550"/>
            <a:ext cx="1828800" cy="1257300"/>
          </a:xfrm>
          <a:prstGeom xmlns:a="http://schemas.openxmlformats.org/drawingml/2006/main" prst="roundRect">
            <a:avLst>
              <a:gd name="adj" fmla="val 9091"/>
            </a:avLst>
          </a:prstGeom>
          <a:solidFill xmlns:a="http://schemas.openxmlformats.org/drawingml/2006/main">
            <a:srgbClr val="E9F7F1"/>
          </a:solidFill>
          <a:ln xmlns:a="http://schemas.openxmlformats.org/drawingml/2006/main" w="9525">
            <a:solidFill>
              <a:srgbClr val="1F9D68"/>
            </a:solidFill>
            <a:prstDash val="solid"/>
          </a:ln>
        </p:spPr>
      </p:sp>
      <p:sp>
        <p:nvSpPr>
          <p:cNvPr id="16" name="">
            <a:extLst xmlns:a="http://schemas.openxmlformats.org/drawingml/2006/main">
              <a:ext uri="{FF2B5EF4-FFF2-40B4-BE49-F238E27FC236}">
                <a16:creationId xmlns:a16="http://schemas.microsoft.com/office/drawing/2014/main" id="{B9B55806-0146-4DCB-B97C-E8FC1B6F5C9A}"/>
              </a:ext>
            </a:extLst>
          </p:cNvPr>
          <p:cNvSpPr>
            <a:spLocks xmlns:a="http://schemas.openxmlformats.org/drawingml/2006/main" noGrp="1"/>
          </p:cNvSpPr>
          <p:nvPr/>
        </p:nvSpPr>
        <p:spPr>
          <a:xfrm xmlns:a="http://schemas.openxmlformats.org/drawingml/2006/main">
            <a:off x="76390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0B1324"/>
                </a:solidFill>
                <a:latin typeface="Avenir Next"/>
                <a:ea typeface="Avenir Next"/>
                <a:cs typeface="Avenir Next"/>
              </a:defRPr>
            </a:defPPr>
          </a:lstStyle>
          <a:p xmlns:a="http://schemas.openxmlformats.org/drawingml/2006/main">
            <a:pPr algn="ctr">
              <a:defRPr sz="1425" b="1">
                <a:solidFill>
                  <a:srgbClr val="0B1324"/>
                </a:solidFill>
                <a:latin typeface="Avenir Next"/>
                <a:ea typeface="Avenir Next"/>
                <a:cs typeface="Avenir Next"/>
              </a:defRPr>
            </a:pPr>
            <a:r>
              <a:rPr sz="1425" b="1">
                <a:solidFill>
                  <a:srgbClr val="0B1324"/>
                </a:solidFill>
                <a:latin typeface="Avenir Next"/>
                <a:ea typeface="Avenir Next"/>
                <a:cs typeface="Avenir Next"/>
              </a:rPr>
              <a:t>Expectation Suite</a:t>
            </a:r>
          </a:p>
        </p:txBody>
      </p:sp>
      <p:sp>
        <p:nvSpPr>
          <p:cNvPr id="17" name="">
            <a:extLst xmlns:a="http://schemas.openxmlformats.org/drawingml/2006/main">
              <a:ext uri="{FF2B5EF4-FFF2-40B4-BE49-F238E27FC236}">
                <a16:creationId xmlns:a16="http://schemas.microsoft.com/office/drawing/2014/main" id="{EFB5B166-B700-4AB5-AC51-950F0804E5AA}"/>
              </a:ext>
            </a:extLst>
          </p:cNvPr>
          <p:cNvSpPr>
            <a:spLocks xmlns:a="http://schemas.openxmlformats.org/drawingml/2006/main" noGrp="1"/>
          </p:cNvSpPr>
          <p:nvPr/>
        </p:nvSpPr>
        <p:spPr>
          <a:xfrm xmlns:a="http://schemas.openxmlformats.org/drawingml/2006/main">
            <a:off x="7620000" y="31813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a:solidFill>
                  <a:srgbClr val="667085"/>
                </a:solidFill>
                <a:latin typeface="Avenir Next"/>
                <a:ea typeface="Avenir Next"/>
                <a:cs typeface="Avenir Next"/>
              </a:defRPr>
            </a:defPPr>
          </a:lstStyle>
          <a:p xmlns:a="http://schemas.openxmlformats.org/drawingml/2006/main">
            <a:pPr algn="ct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Groups the data rules</a:t>
            </a:r>
          </a:p>
        </p:txBody>
      </p:sp>
      <p:sp>
        <p:nvSpPr>
          <p:cNvPr id="18" name="">
            <a:extLst xmlns:a="http://schemas.openxmlformats.org/drawingml/2006/main">
              <a:ext uri="{FF2B5EF4-FFF2-40B4-BE49-F238E27FC236}">
                <a16:creationId xmlns:a16="http://schemas.microsoft.com/office/drawing/2014/main" id="{914CE6B9-917A-4E01-BE49-7798F6CA1FCA}"/>
              </a:ext>
            </a:extLst>
          </p:cNvPr>
          <p:cNvSpPr>
            <a:spLocks xmlns:a="http://schemas.openxmlformats.org/drawingml/2006/main" noGrp="1"/>
          </p:cNvSpPr>
          <p:nvPr/>
        </p:nvSpPr>
        <p:spPr>
          <a:xfrm xmlns:a="http://schemas.openxmlformats.org/drawingml/2006/main">
            <a:off x="7172325" y="288607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667085"/>
                </a:solidFill>
                <a:latin typeface="Avenir Next"/>
                <a:ea typeface="Avenir Next"/>
                <a:cs typeface="Avenir Next"/>
              </a:defRPr>
            </a:defPPr>
          </a:lstStyle>
          <a:p xmlns:a="http://schemas.openxmlformats.org/drawingml/2006/main">
            <a:pPr algn="ctr">
              <a:defRPr sz="2100" b="1">
                <a:solidFill>
                  <a:srgbClr val="667085"/>
                </a:solidFill>
                <a:latin typeface="Avenir Next"/>
                <a:ea typeface="Avenir Next"/>
                <a:cs typeface="Avenir Next"/>
              </a:defRPr>
            </a:pPr>
            <a:r>
              <a:rPr sz="2100" b="1">
                <a:solidFill>
                  <a:srgbClr val="667085"/>
                </a:solidFill>
                <a:latin typeface="Avenir Next"/>
                <a:ea typeface="Avenir Next"/>
                <a:cs typeface="Avenir Next"/>
              </a:rPr>
              <a:t>+</a:t>
            </a:r>
          </a:p>
        </p:txBody>
      </p:sp>
      <p:sp>
        <p:nvSpPr>
          <p:cNvPr id="19" name="">
            <a:extLst xmlns:a="http://schemas.openxmlformats.org/drawingml/2006/main">
              <a:ext uri="{FF2B5EF4-FFF2-40B4-BE49-F238E27FC236}">
                <a16:creationId xmlns:a16="http://schemas.microsoft.com/office/drawing/2014/main" id="{97129B61-9A87-4BDF-A4AE-31AE7D0979D1}"/>
              </a:ext>
            </a:extLst>
          </p:cNvPr>
          <p:cNvSpPr>
            <a:spLocks xmlns:a="http://schemas.openxmlformats.org/drawingml/2006/main" noGrp="1"/>
          </p:cNvSpPr>
          <p:nvPr/>
        </p:nvSpPr>
        <p:spPr>
          <a:xfrm xmlns:a="http://schemas.openxmlformats.org/drawingml/2006/main">
            <a:off x="9753600" y="2495550"/>
            <a:ext cx="1752600" cy="1257300"/>
          </a:xfrm>
          <a:prstGeom xmlns:a="http://schemas.openxmlformats.org/drawingml/2006/main" prst="roundRect">
            <a:avLst>
              <a:gd name="adj" fmla="val 9091"/>
            </a:avLst>
          </a:prstGeom>
          <a:solidFill xmlns:a="http://schemas.openxmlformats.org/drawingml/2006/main">
            <a:srgbClr val="0B1324"/>
          </a:solidFill>
          <a:ln xmlns:a="http://schemas.openxmlformats.org/drawingml/2006/main" w="0">
            <a:solidFill>
              <a:srgbClr val="0B1324"/>
            </a:solidFill>
            <a:prstDash val="solid"/>
          </a:ln>
        </p:spPr>
      </p:sp>
      <p:sp>
        <p:nvSpPr>
          <p:cNvPr id="20" name="">
            <a:extLst xmlns:a="http://schemas.openxmlformats.org/drawingml/2006/main">
              <a:ext uri="{FF2B5EF4-FFF2-40B4-BE49-F238E27FC236}">
                <a16:creationId xmlns:a16="http://schemas.microsoft.com/office/drawing/2014/main" id="{3484BC87-6F18-4C09-8017-F8AA92AEB0CE}"/>
              </a:ext>
            </a:extLst>
          </p:cNvPr>
          <p:cNvSpPr>
            <a:spLocks xmlns:a="http://schemas.openxmlformats.org/drawingml/2006/main" noGrp="1"/>
          </p:cNvSpPr>
          <p:nvPr/>
        </p:nvSpPr>
        <p:spPr>
          <a:xfrm xmlns:a="http://schemas.openxmlformats.org/drawingml/2006/main">
            <a:off x="9944100" y="2724150"/>
            <a:ext cx="1371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a:solidFill>
                  <a:srgbClr val="FFFFFF"/>
                </a:solidFill>
                <a:latin typeface="Avenir Next"/>
                <a:ea typeface="Avenir Next"/>
                <a:cs typeface="Avenir Next"/>
              </a:defRPr>
            </a:defPPr>
          </a:lstStyle>
          <a:p xmlns:a="http://schemas.openxmlformats.org/drawingml/2006/main">
            <a:pPr algn="ctr">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Validation</a:t>
            </a:r>
          </a:p>
          <a:p xmlns:a="http://schemas.openxmlformats.org/drawingml/2006/main">
            <a:pPr algn="ctr">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Definition</a:t>
            </a:r>
          </a:p>
        </p:txBody>
      </p:sp>
      <p:sp>
        <p:nvSpPr>
          <p:cNvPr id="21" name="">
            <a:extLst xmlns:a="http://schemas.openxmlformats.org/drawingml/2006/main">
              <a:ext uri="{FF2B5EF4-FFF2-40B4-BE49-F238E27FC236}">
                <a16:creationId xmlns:a16="http://schemas.microsoft.com/office/drawing/2014/main" id="{4AE20383-26B5-42BF-81C7-A9D630184646}"/>
              </a:ext>
            </a:extLst>
          </p:cNvPr>
          <p:cNvSpPr>
            <a:spLocks xmlns:a="http://schemas.openxmlformats.org/drawingml/2006/main" noGrp="1"/>
          </p:cNvSpPr>
          <p:nvPr/>
        </p:nvSpPr>
        <p:spPr>
          <a:xfrm xmlns:a="http://schemas.openxmlformats.org/drawingml/2006/main">
            <a:off x="9906000" y="338137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0">
                <a:solidFill>
                  <a:srgbClr val="B8C2D6"/>
                </a:solidFill>
                <a:latin typeface="Avenir Next"/>
                <a:ea typeface="Avenir Next"/>
                <a:cs typeface="Avenir Next"/>
              </a:defRPr>
            </a:defPPr>
          </a:lstStyle>
          <a:p xmlns:a="http://schemas.openxmlformats.org/drawingml/2006/main">
            <a:pPr algn="ctr">
              <a:defRPr sz="900" b="0">
                <a:solidFill>
                  <a:srgbClr val="B8C2D6"/>
                </a:solidFill>
                <a:latin typeface="Avenir Next"/>
                <a:ea typeface="Avenir Next"/>
                <a:cs typeface="Avenir Next"/>
              </a:defRPr>
            </a:pPr>
            <a:r>
              <a:rPr sz="900" b="0">
                <a:solidFill>
                  <a:srgbClr val="B8C2D6"/>
                </a:solidFill>
                <a:latin typeface="Avenir Next"/>
                <a:ea typeface="Avenir Next"/>
                <a:cs typeface="Avenir Next"/>
              </a:rPr>
              <a:t>links batch + suite</a:t>
            </a:r>
          </a:p>
        </p:txBody>
      </p:sp>
      <p:cxnSp>
        <p:nvCxnSpPr>
          <p:cNvPr id="22" name="">
            <a:extLst xmlns:a="http://schemas.openxmlformats.org/drawingml/2006/main">
              <a:ext uri="{FF2B5EF4-FFF2-40B4-BE49-F238E27FC236}">
                <a16:creationId xmlns:a16="http://schemas.microsoft.com/office/drawing/2014/main" id="{05912319-B278-42FE-9B35-022F016BAA7B}"/>
              </a:ext>
            </a:extLst>
          </p:cNvPr>
          <p:cNvCxnSpPr/>
          <p:nvPr/>
        </p:nvCxnSpPr>
        <p:spPr>
          <a:xfrm xmlns:a="http://schemas.openxmlformats.org/drawingml/2006/main">
            <a:off x="7048500" y="3752850"/>
            <a:ext cx="3467100" cy="552450"/>
          </a:xfrm>
          <a:prstGeom xmlns:a="http://schemas.openxmlformats.org/drawingml/2006/main" prst="bentConnector4">
            <a:avLst/>
          </a:prstGeom>
          <a:ln xmlns:a="http://schemas.openxmlformats.org/drawingml/2006/main" w="28575">
            <a:solidFill>
              <a:srgbClr val="F05A28"/>
            </a:solidFill>
            <a:prstDash val="solid"/>
          </a:ln>
        </p:spPr>
      </p:cxnSp>
      <p:cxnSp>
        <p:nvCxnSpPr>
          <p:cNvPr id="23" name="">
            <a:extLst xmlns:a="http://schemas.openxmlformats.org/drawingml/2006/main">
              <a:ext uri="{FF2B5EF4-FFF2-40B4-BE49-F238E27FC236}">
                <a16:creationId xmlns:a16="http://schemas.microsoft.com/office/drawing/2014/main" id="{BEC39281-B1F7-474A-BE50-A4462261C157}"/>
              </a:ext>
            </a:extLst>
          </p:cNvPr>
          <p:cNvCxnSpPr/>
          <p:nvPr/>
        </p:nvCxnSpPr>
        <p:spPr>
          <a:xfrm xmlns:a="http://schemas.openxmlformats.org/drawingml/2006/main">
            <a:off x="8401050" y="3752850"/>
            <a:ext cx="2114550" cy="552450"/>
          </a:xfrm>
          <a:prstGeom xmlns:a="http://schemas.openxmlformats.org/drawingml/2006/main" prst="bentConnector4">
            <a:avLst/>
          </a:prstGeom>
          <a:ln xmlns:a="http://schemas.openxmlformats.org/drawingml/2006/main" w="28575">
            <a:solidFill>
              <a:srgbClr val="1F9D68"/>
            </a:solidFill>
            <a:prstDash val="solid"/>
          </a:ln>
        </p:spPr>
      </p:cxnSp>
      <p:sp>
        <p:nvSpPr>
          <p:cNvPr id="24" name="">
            <a:extLst xmlns:a="http://schemas.openxmlformats.org/drawingml/2006/main">
              <a:ext uri="{FF2B5EF4-FFF2-40B4-BE49-F238E27FC236}">
                <a16:creationId xmlns:a16="http://schemas.microsoft.com/office/drawing/2014/main" id="{EE7C6ACF-1EDC-4CE2-9FE4-C8CC441E29DF}"/>
              </a:ext>
            </a:extLst>
          </p:cNvPr>
          <p:cNvSpPr>
            <a:spLocks xmlns:a="http://schemas.openxmlformats.org/drawingml/2006/main" noGrp="1"/>
          </p:cNvSpPr>
          <p:nvPr/>
        </p:nvSpPr>
        <p:spPr>
          <a:xfrm xmlns:a="http://schemas.openxmlformats.org/drawingml/2006/main">
            <a:off x="8267700" y="4305300"/>
            <a:ext cx="32004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EE8"/>
            </a:solidFill>
            <a:prstDash val="solid"/>
          </a:ln>
        </p:spPr>
      </p:sp>
      <p:sp>
        <p:nvSpPr>
          <p:cNvPr id="25" name="">
            <a:extLst xmlns:a="http://schemas.openxmlformats.org/drawingml/2006/main">
              <a:ext uri="{FF2B5EF4-FFF2-40B4-BE49-F238E27FC236}">
                <a16:creationId xmlns:a16="http://schemas.microsoft.com/office/drawing/2014/main" id="{EEB445E6-98DE-4906-BD6A-07916DC2AA0D}"/>
              </a:ext>
            </a:extLst>
          </p:cNvPr>
          <p:cNvSpPr>
            <a:spLocks xmlns:a="http://schemas.openxmlformats.org/drawingml/2006/main" noGrp="1"/>
          </p:cNvSpPr>
          <p:nvPr/>
        </p:nvSpPr>
        <p:spPr>
          <a:xfrm xmlns:a="http://schemas.openxmlformats.org/drawingml/2006/main">
            <a:off x="8496300" y="44958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a:solidFill>
                  <a:srgbClr val="0B1324"/>
                </a:solidFill>
                <a:latin typeface="Avenir Next"/>
                <a:ea typeface="Avenir Next"/>
                <a:cs typeface="Avenir Next"/>
              </a:defRPr>
            </a:defPPr>
          </a:lstStyle>
          <a:p xmlns:a="http://schemas.openxmlformats.org/drawingml/2006/main">
            <a:pPr algn="ct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Validation Result</a:t>
            </a:r>
          </a:p>
        </p:txBody>
      </p:sp>
      <p:sp>
        <p:nvSpPr>
          <p:cNvPr id="26" name="">
            <a:extLst xmlns:a="http://schemas.openxmlformats.org/drawingml/2006/main">
              <a:ext uri="{FF2B5EF4-FFF2-40B4-BE49-F238E27FC236}">
                <a16:creationId xmlns:a16="http://schemas.microsoft.com/office/drawing/2014/main" id="{2A53CCC0-D820-4B90-8C17-F59B16EFBDBB}"/>
              </a:ext>
            </a:extLst>
          </p:cNvPr>
          <p:cNvSpPr>
            <a:spLocks xmlns:a="http://schemas.openxmlformats.org/drawingml/2006/main" noGrp="1"/>
          </p:cNvSpPr>
          <p:nvPr/>
        </p:nvSpPr>
        <p:spPr>
          <a:xfrm xmlns:a="http://schemas.openxmlformats.org/drawingml/2006/main">
            <a:off x="8496300" y="4819650"/>
            <a:ext cx="274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a:solidFill>
                  <a:srgbClr val="667085"/>
                </a:solidFill>
                <a:latin typeface="Avenir Next"/>
                <a:ea typeface="Avenir Next"/>
                <a:cs typeface="Avenir Next"/>
              </a:defRPr>
            </a:defPPr>
          </a:lstStyle>
          <a:p xmlns:a="http://schemas.openxmlformats.org/drawingml/2006/main">
            <a:pPr algn="ct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success, failures, counts, examples</a:t>
            </a:r>
          </a:p>
        </p:txBody>
      </p:sp>
      <p:sp>
        <p:nvSpPr>
          <p:cNvPr id="27" name="">
            <a:extLst xmlns:a="http://schemas.openxmlformats.org/drawingml/2006/main">
              <a:ext uri="{FF2B5EF4-FFF2-40B4-BE49-F238E27FC236}">
                <a16:creationId xmlns:a16="http://schemas.microsoft.com/office/drawing/2014/main" id="{78927674-AF82-4AE0-BE50-33F57B116EFA}"/>
              </a:ext>
            </a:extLst>
          </p:cNvPr>
          <p:cNvSpPr>
            <a:spLocks xmlns:a="http://schemas.openxmlformats.org/drawingml/2006/main" noGrp="1"/>
          </p:cNvSpPr>
          <p:nvPr/>
        </p:nvSpPr>
        <p:spPr>
          <a:xfrm xmlns:a="http://schemas.openxmlformats.org/drawingml/2006/main">
            <a:off x="685800" y="4457700"/>
            <a:ext cx="6343650" cy="1066800"/>
          </a:xfrm>
          <a:prstGeom xmlns:a="http://schemas.openxmlformats.org/drawingml/2006/main" prst="roundRect">
            <a:avLst>
              <a:gd name="adj" fmla="val 10714"/>
            </a:avLst>
          </a:prstGeom>
          <a:solidFill xmlns:a="http://schemas.openxmlformats.org/drawingml/2006/main">
            <a:srgbClr val="111D34"/>
          </a:solidFill>
          <a:ln xmlns:a="http://schemas.openxmlformats.org/drawingml/2006/main" w="0">
            <a:solidFill>
              <a:srgbClr val="111D34"/>
            </a:solidFill>
            <a:prstDash val="solid"/>
          </a:ln>
        </p:spPr>
      </p:sp>
      <p:sp>
        <p:nvSpPr>
          <p:cNvPr id="28" name="">
            <a:extLst xmlns:a="http://schemas.openxmlformats.org/drawingml/2006/main">
              <a:ext uri="{FF2B5EF4-FFF2-40B4-BE49-F238E27FC236}">
                <a16:creationId xmlns:a16="http://schemas.microsoft.com/office/drawing/2014/main" id="{380F23C5-F2D7-4868-B9D8-EE1F6003231E}"/>
              </a:ext>
            </a:extLst>
          </p:cNvPr>
          <p:cNvSpPr>
            <a:spLocks xmlns:a="http://schemas.openxmlformats.org/drawingml/2006/main" noGrp="1"/>
          </p:cNvSpPr>
          <p:nvPr/>
        </p:nvSpPr>
        <p:spPr>
          <a:xfrm xmlns:a="http://schemas.openxmlformats.org/drawingml/2006/main">
            <a:off x="971550" y="4686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FFFFF"/>
                </a:solidFill>
                <a:latin typeface="Avenir Next"/>
                <a:ea typeface="Avenir Next"/>
                <a:cs typeface="Avenir Next"/>
              </a:defRPr>
            </a:defPPr>
          </a:lstStyle>
          <a:p xmlns:a="http://schemas.openxmlformats.org/drawingml/2006/main">
            <a:pP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Data Context</a:t>
            </a:r>
          </a:p>
        </p:txBody>
      </p:sp>
      <p:sp>
        <p:nvSpPr>
          <p:cNvPr id="29" name="">
            <a:extLst xmlns:a="http://schemas.openxmlformats.org/drawingml/2006/main">
              <a:ext uri="{FF2B5EF4-FFF2-40B4-BE49-F238E27FC236}">
                <a16:creationId xmlns:a16="http://schemas.microsoft.com/office/drawing/2014/main" id="{2BC68F6E-DD12-4FD0-B329-7F334BD6FA7B}"/>
              </a:ext>
            </a:extLst>
          </p:cNvPr>
          <p:cNvSpPr>
            <a:spLocks xmlns:a="http://schemas.openxmlformats.org/drawingml/2006/main" noGrp="1"/>
          </p:cNvSpPr>
          <p:nvPr/>
        </p:nvSpPr>
        <p:spPr>
          <a:xfrm xmlns:a="http://schemas.openxmlformats.org/drawingml/2006/main">
            <a:off x="971550" y="5076825"/>
            <a:ext cx="5505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8C2D6"/>
                </a:solidFill>
                <a:latin typeface="Avenir Next"/>
                <a:ea typeface="Avenir Next"/>
                <a:cs typeface="Avenir Next"/>
              </a:defRPr>
            </a:defPPr>
          </a:lstStyle>
          <a:p xmlns:a="http://schemas.openxmlformats.org/drawingml/2006/main">
            <a:pPr>
              <a:defRPr sz="1200" b="0">
                <a:solidFill>
                  <a:srgbClr val="B8C2D6"/>
                </a:solidFill>
                <a:latin typeface="Avenir Next"/>
                <a:ea typeface="Avenir Next"/>
                <a:cs typeface="Avenir Next"/>
              </a:defRPr>
            </a:pPr>
            <a:r>
              <a:rPr sz="1200" b="0">
                <a:solidFill>
                  <a:srgbClr val="B8C2D6"/>
                </a:solidFill>
                <a:latin typeface="Avenir Next"/>
                <a:ea typeface="Avenir Next"/>
                <a:cs typeface="Avenir Next"/>
              </a:rPr>
              <a:t>Manages configuration, validation metadata, and saved results</a:t>
            </a:r>
          </a:p>
        </p:txBody>
      </p:sp>
      <p:sp>
        <p:nvSpPr>
          <p:cNvPr id="30" name="">
            <a:extLst xmlns:a="http://schemas.openxmlformats.org/drawingml/2006/main">
              <a:ext uri="{FF2B5EF4-FFF2-40B4-BE49-F238E27FC236}">
                <a16:creationId xmlns:a16="http://schemas.microsoft.com/office/drawing/2014/main" id="{779545AE-664B-490E-9C59-9D6D5FF3BA7E}"/>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1145599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E1B6831-7F38-48B6-947A-9E3B82914804}"/>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The demo data contract</a:t>
            </a:r>
          </a:p>
        </p:txBody>
      </p:sp>
      <p:sp>
        <p:nvSpPr>
          <p:cNvPr id="2" name="">
            <a:extLst xmlns:a="http://schemas.openxmlformats.org/drawingml/2006/main">
              <a:ext uri="{FF2B5EF4-FFF2-40B4-BE49-F238E27FC236}">
                <a16:creationId xmlns:a16="http://schemas.microsoft.com/office/drawing/2014/main" id="{4F4C345F-FFA3-4943-8444-C025954D01E3}"/>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D79D872E-5293-4DCB-9573-54E7FD992B0B}"/>
              </a:ext>
            </a:extLst>
          </p:cNvPr>
          <p:cNvSpPr>
            <a:spLocks xmlns:a="http://schemas.openxmlformats.org/drawingml/2006/main" noGrp="1"/>
          </p:cNvSpPr>
          <p:nvPr/>
        </p:nvSpPr>
        <p:spPr>
          <a:xfrm xmlns:a="http://schemas.openxmlformats.org/drawingml/2006/main">
            <a:off x="685800" y="1143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Loan applications · 200 rows · 6 columns</a:t>
            </a:r>
          </a:p>
        </p:txBody>
      </p:sp>
      <p:sp>
        <p:nvSpPr>
          <p:cNvPr id="4" name="">
            <a:extLst xmlns:a="http://schemas.openxmlformats.org/drawingml/2006/main">
              <a:ext uri="{FF2B5EF4-FFF2-40B4-BE49-F238E27FC236}">
                <a16:creationId xmlns:a16="http://schemas.microsoft.com/office/drawing/2014/main" id="{3FAFC3E8-73DE-424B-9E16-F56AF100841B}"/>
              </a:ext>
            </a:extLst>
          </p:cNvPr>
          <p:cNvSpPr>
            <a:spLocks xmlns:a="http://schemas.openxmlformats.org/drawingml/2006/main" noGrp="1"/>
          </p:cNvSpPr>
          <p:nvPr/>
        </p:nvSpPr>
        <p:spPr>
          <a:xfrm xmlns:a="http://schemas.openxmlformats.org/drawingml/2006/main">
            <a:off x="685800" y="1790700"/>
            <a:ext cx="3143250" cy="3676650"/>
          </a:xfrm>
          <a:prstGeom xmlns:a="http://schemas.openxmlformats.org/drawingml/2006/main" prst="roundRect">
            <a:avLst>
              <a:gd name="adj" fmla="val 4848"/>
            </a:avLst>
          </a:prstGeom>
          <a:solidFill xmlns:a="http://schemas.openxmlformats.org/drawingml/2006/main">
            <a:srgbClr val="0B1324"/>
          </a:solidFill>
          <a:ln xmlns:a="http://schemas.openxmlformats.org/drawingml/2006/main" w="0">
            <a:solidFill>
              <a:srgbClr val="0B1324"/>
            </a:solidFill>
            <a:prstDash val="solid"/>
          </a:ln>
        </p:spPr>
      </p:sp>
      <p:sp>
        <p:nvSpPr>
          <p:cNvPr id="5" name="">
            <a:extLst xmlns:a="http://schemas.openxmlformats.org/drawingml/2006/main">
              <a:ext uri="{FF2B5EF4-FFF2-40B4-BE49-F238E27FC236}">
                <a16:creationId xmlns:a16="http://schemas.microsoft.com/office/drawing/2014/main" id="{0C3D4B9B-6A42-4236-B2B8-E9E7945A1C4A}"/>
              </a:ext>
            </a:extLst>
          </p:cNvPr>
          <p:cNvSpPr>
            <a:spLocks xmlns:a="http://schemas.openxmlformats.org/drawingml/2006/main" noGrp="1"/>
          </p:cNvSpPr>
          <p:nvPr/>
        </p:nvSpPr>
        <p:spPr>
          <a:xfrm xmlns:a="http://schemas.openxmlformats.org/drawingml/2006/main">
            <a:off x="990600" y="2095500"/>
            <a:ext cx="2533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5850" b="1">
                <a:solidFill>
                  <a:srgbClr val="F05A28"/>
                </a:solidFill>
                <a:latin typeface="Avenir Next"/>
                <a:ea typeface="Avenir Next"/>
                <a:cs typeface="Avenir Next"/>
              </a:defRPr>
            </a:defPPr>
          </a:lstStyle>
          <a:p xmlns:a="http://schemas.openxmlformats.org/drawingml/2006/main">
            <a:pPr algn="ctr">
              <a:defRPr sz="5850" b="1">
                <a:solidFill>
                  <a:srgbClr val="F05A28"/>
                </a:solidFill>
                <a:latin typeface="Avenir Next"/>
                <a:ea typeface="Avenir Next"/>
                <a:cs typeface="Avenir Next"/>
              </a:defRPr>
            </a:pPr>
            <a:r>
              <a:rPr sz="5850" b="1">
                <a:solidFill>
                  <a:srgbClr val="F05A28"/>
                </a:solidFill>
                <a:latin typeface="Avenir Next"/>
                <a:ea typeface="Avenir Next"/>
                <a:cs typeface="Avenir Next"/>
              </a:rPr>
              <a:t>13</a:t>
            </a:r>
          </a:p>
        </p:txBody>
      </p:sp>
      <p:sp>
        <p:nvSpPr>
          <p:cNvPr id="6" name="">
            <a:extLst xmlns:a="http://schemas.openxmlformats.org/drawingml/2006/main">
              <a:ext uri="{FF2B5EF4-FFF2-40B4-BE49-F238E27FC236}">
                <a16:creationId xmlns:a16="http://schemas.microsoft.com/office/drawing/2014/main" id="{BEAC809E-75C6-43E0-A8A6-DA28C5F4B21C}"/>
              </a:ext>
            </a:extLst>
          </p:cNvPr>
          <p:cNvSpPr>
            <a:spLocks xmlns:a="http://schemas.openxmlformats.org/drawingml/2006/main" noGrp="1"/>
          </p:cNvSpPr>
          <p:nvPr/>
        </p:nvSpPr>
        <p:spPr>
          <a:xfrm xmlns:a="http://schemas.openxmlformats.org/drawingml/2006/main">
            <a:off x="990600" y="314325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FFFFFF"/>
                </a:solidFill>
                <a:latin typeface="Avenir Next"/>
                <a:ea typeface="Avenir Next"/>
                <a:cs typeface="Avenir Next"/>
              </a:defRPr>
            </a:defPPr>
          </a:lstStyle>
          <a:p xmlns:a="http://schemas.openxmlformats.org/drawingml/2006/main">
            <a:pPr algn="ctr">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expectations</a:t>
            </a:r>
          </a:p>
        </p:txBody>
      </p:sp>
      <p:sp>
        <p:nvSpPr>
          <p:cNvPr id="7" name="">
            <a:extLst xmlns:a="http://schemas.openxmlformats.org/drawingml/2006/main">
              <a:ext uri="{FF2B5EF4-FFF2-40B4-BE49-F238E27FC236}">
                <a16:creationId xmlns:a16="http://schemas.microsoft.com/office/drawing/2014/main" id="{55F1F19E-5788-4204-BB43-0C143FD814E1}"/>
              </a:ext>
            </a:extLst>
          </p:cNvPr>
          <p:cNvSpPr>
            <a:spLocks xmlns:a="http://schemas.openxmlformats.org/drawingml/2006/main" noGrp="1"/>
          </p:cNvSpPr>
          <p:nvPr/>
        </p:nvSpPr>
        <p:spPr>
          <a:xfrm xmlns:a="http://schemas.openxmlformats.org/drawingml/2006/main">
            <a:off x="1028700" y="3781425"/>
            <a:ext cx="24574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0">
                <a:solidFill>
                  <a:srgbClr val="BCC6D8"/>
                </a:solidFill>
                <a:latin typeface="Avenir Next"/>
                <a:ea typeface="Avenir Next"/>
                <a:cs typeface="Avenir Next"/>
              </a:defRPr>
            </a:defPPr>
          </a:lstStyle>
          <a:p xmlns:a="http://schemas.openxmlformats.org/drawingml/2006/main">
            <a:pPr algn="ctr">
              <a:defRPr sz="1425" b="0">
                <a:solidFill>
                  <a:srgbClr val="BCC6D8"/>
                </a:solidFill>
                <a:latin typeface="Avenir Next"/>
                <a:ea typeface="Avenir Next"/>
                <a:cs typeface="Avenir Next"/>
              </a:defRPr>
            </a:pPr>
            <a:r>
              <a:rPr sz="1425" b="0">
                <a:solidFill>
                  <a:srgbClr val="BCC6D8"/>
                </a:solidFill>
                <a:latin typeface="Avenir Next"/>
                <a:ea typeface="Avenir Next"/>
                <a:cs typeface="Avenir Next"/>
              </a:rPr>
              <a:t>One suite becomes the</a:t>
            </a:r>
          </a:p>
          <a:p xmlns:a="http://schemas.openxmlformats.org/drawingml/2006/main">
            <a:pPr algn="ctr">
              <a:defRPr sz="1425" b="0">
                <a:solidFill>
                  <a:srgbClr val="BCC6D8"/>
                </a:solidFill>
                <a:latin typeface="Avenir Next"/>
                <a:ea typeface="Avenir Next"/>
                <a:cs typeface="Avenir Next"/>
              </a:defRPr>
            </a:pPr>
            <a:r>
              <a:rPr sz="1425" b="0">
                <a:solidFill>
                  <a:srgbClr val="BCC6D8"/>
                </a:solidFill>
                <a:latin typeface="Avenir Next"/>
                <a:ea typeface="Avenir Next"/>
                <a:cs typeface="Avenir Next"/>
              </a:rPr>
              <a:t>training-data contract</a:t>
            </a:r>
          </a:p>
        </p:txBody>
      </p:sp>
      <p:sp>
        <p:nvSpPr>
          <p:cNvPr id="8" name="">
            <a:extLst xmlns:a="http://schemas.openxmlformats.org/drawingml/2006/main">
              <a:ext uri="{FF2B5EF4-FFF2-40B4-BE49-F238E27FC236}">
                <a16:creationId xmlns:a16="http://schemas.microsoft.com/office/drawing/2014/main" id="{9472C051-FC49-4C18-AFD7-4A05266F06D1}"/>
              </a:ext>
            </a:extLst>
          </p:cNvPr>
          <p:cNvSpPr>
            <a:spLocks xmlns:a="http://schemas.openxmlformats.org/drawingml/2006/main" noGrp="1"/>
          </p:cNvSpPr>
          <p:nvPr/>
        </p:nvSpPr>
        <p:spPr>
          <a:xfrm xmlns:a="http://schemas.openxmlformats.org/drawingml/2006/main">
            <a:off x="971550" y="4810125"/>
            <a:ext cx="2571750" cy="323850"/>
          </a:xfrm>
          <a:prstGeom xmlns:a="http://schemas.openxmlformats.org/drawingml/2006/main" prst="roundRect">
            <a:avLst>
              <a:gd name="adj" fmla="val 35294"/>
            </a:avLst>
          </a:prstGeom>
          <a:solidFill xmlns:a="http://schemas.openxmlformats.org/drawingml/2006/main">
            <a:srgbClr val="23314A"/>
          </a:solidFill>
          <a:ln xmlns:a="http://schemas.openxmlformats.org/drawingml/2006/main" w="0">
            <a:solidFill>
              <a:srgbClr val="23314A"/>
            </a:solidFill>
            <a:prstDash val="solid"/>
          </a:ln>
        </p:spPr>
      </p:sp>
      <p:sp>
        <p:nvSpPr>
          <p:cNvPr id="9" name="">
            <a:extLst xmlns:a="http://schemas.openxmlformats.org/drawingml/2006/main">
              <a:ext uri="{FF2B5EF4-FFF2-40B4-BE49-F238E27FC236}">
                <a16:creationId xmlns:a16="http://schemas.microsoft.com/office/drawing/2014/main" id="{89D2A335-8148-405B-AD4D-41383BF435A6}"/>
              </a:ext>
            </a:extLst>
          </p:cNvPr>
          <p:cNvSpPr>
            <a:spLocks xmlns:a="http://schemas.openxmlformats.org/drawingml/2006/main" noGrp="1"/>
          </p:cNvSpPr>
          <p:nvPr/>
        </p:nvSpPr>
        <p:spPr>
          <a:xfrm xmlns:a="http://schemas.openxmlformats.org/drawingml/2006/main">
            <a:off x="1066800" y="48768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FFFFFF"/>
                </a:solidFill>
                <a:latin typeface="Avenir Next"/>
                <a:ea typeface="Avenir Next"/>
                <a:cs typeface="Avenir Next"/>
              </a:defRPr>
            </a:defPPr>
          </a:lstStyle>
          <a:p xmlns:a="http://schemas.openxmlformats.org/drawingml/2006/main">
            <a:pPr algn="ctr">
              <a:defRPr sz="900" b="1">
                <a:solidFill>
                  <a:srgbClr val="FFFFFF"/>
                </a:solidFill>
                <a:latin typeface="Avenir Next"/>
                <a:ea typeface="Avenir Next"/>
                <a:cs typeface="Avenir Next"/>
              </a:defRPr>
            </a:pPr>
            <a:r>
              <a:rPr sz="900" b="1">
                <a:solidFill>
                  <a:srgbClr val="FFFFFF"/>
                </a:solidFill>
                <a:latin typeface="Avenir Next"/>
                <a:ea typeface="Avenir Next"/>
                <a:cs typeface="Avenir Next"/>
              </a:rPr>
              <a:t>EXPLICIT · TESTABLE · VERSIONED</a:t>
            </a:r>
          </a:p>
        </p:txBody>
      </p:sp>
      <p:sp>
        <p:nvSpPr>
          <p:cNvPr id="10" name="">
            <a:extLst xmlns:a="http://schemas.openxmlformats.org/drawingml/2006/main">
              <a:ext uri="{FF2B5EF4-FFF2-40B4-BE49-F238E27FC236}">
                <a16:creationId xmlns:a16="http://schemas.microsoft.com/office/drawing/2014/main" id="{8F2A17FC-B26D-4622-A236-6E505F45FEE7}"/>
              </a:ext>
            </a:extLst>
          </p:cNvPr>
          <p:cNvSpPr>
            <a:spLocks xmlns:a="http://schemas.openxmlformats.org/drawingml/2006/main" noGrp="1"/>
          </p:cNvSpPr>
          <p:nvPr/>
        </p:nvSpPr>
        <p:spPr>
          <a:xfrm xmlns:a="http://schemas.openxmlformats.org/drawingml/2006/main">
            <a:off x="4324350" y="180975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11" name="">
            <a:extLst xmlns:a="http://schemas.openxmlformats.org/drawingml/2006/main">
              <a:ext uri="{FF2B5EF4-FFF2-40B4-BE49-F238E27FC236}">
                <a16:creationId xmlns:a16="http://schemas.microsoft.com/office/drawing/2014/main" id="{A9BF36F0-FD02-46F9-BFD0-9E9304BCE1D5}"/>
              </a:ext>
            </a:extLst>
          </p:cNvPr>
          <p:cNvSpPr>
            <a:spLocks xmlns:a="http://schemas.openxmlformats.org/drawingml/2006/main" noGrp="1"/>
          </p:cNvSpPr>
          <p:nvPr/>
        </p:nvSpPr>
        <p:spPr>
          <a:xfrm xmlns:a="http://schemas.openxmlformats.org/drawingml/2006/main">
            <a:off x="4324350" y="18954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12" name="">
            <a:extLst xmlns:a="http://schemas.openxmlformats.org/drawingml/2006/main">
              <a:ext uri="{FF2B5EF4-FFF2-40B4-BE49-F238E27FC236}">
                <a16:creationId xmlns:a16="http://schemas.microsoft.com/office/drawing/2014/main" id="{FD65A8AA-2B2A-4C70-BCDA-36E8E42B650C}"/>
              </a:ext>
            </a:extLst>
          </p:cNvPr>
          <p:cNvSpPr>
            <a:spLocks xmlns:a="http://schemas.openxmlformats.org/drawingml/2006/main" noGrp="1"/>
          </p:cNvSpPr>
          <p:nvPr/>
        </p:nvSpPr>
        <p:spPr>
          <a:xfrm xmlns:a="http://schemas.openxmlformats.org/drawingml/2006/main">
            <a:off x="5010150" y="17907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Schema</a:t>
            </a:r>
          </a:p>
        </p:txBody>
      </p:sp>
      <p:sp>
        <p:nvSpPr>
          <p:cNvPr id="13" name="">
            <a:extLst xmlns:a="http://schemas.openxmlformats.org/drawingml/2006/main">
              <a:ext uri="{FF2B5EF4-FFF2-40B4-BE49-F238E27FC236}">
                <a16:creationId xmlns:a16="http://schemas.microsoft.com/office/drawing/2014/main" id="{BF40CEF0-B004-4484-AAEA-CC8BB63573D8}"/>
              </a:ext>
            </a:extLst>
          </p:cNvPr>
          <p:cNvSpPr>
            <a:spLocks xmlns:a="http://schemas.openxmlformats.org/drawingml/2006/main" noGrp="1"/>
          </p:cNvSpPr>
          <p:nvPr/>
        </p:nvSpPr>
        <p:spPr>
          <a:xfrm xmlns:a="http://schemas.openxmlformats.org/drawingml/2006/main">
            <a:off x="7191375" y="1809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Exact column names and order</a:t>
            </a:r>
          </a:p>
        </p:txBody>
      </p:sp>
      <p:cxnSp>
        <p:nvCxnSpPr>
          <p:cNvPr id="14" name="">
            <a:extLst xmlns:a="http://schemas.openxmlformats.org/drawingml/2006/main">
              <a:ext uri="{FF2B5EF4-FFF2-40B4-BE49-F238E27FC236}">
                <a16:creationId xmlns:a16="http://schemas.microsoft.com/office/drawing/2014/main" id="{EBCBFD63-711C-439D-8172-543A28FA90C0}"/>
              </a:ext>
            </a:extLst>
          </p:cNvPr>
          <p:cNvCxnSpPr/>
          <p:nvPr/>
        </p:nvCxnSpPr>
        <p:spPr>
          <a:xfrm xmlns:a="http://schemas.openxmlformats.org/drawingml/2006/main">
            <a:off x="5010150" y="232410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15" name="">
            <a:extLst xmlns:a="http://schemas.openxmlformats.org/drawingml/2006/main">
              <a:ext uri="{FF2B5EF4-FFF2-40B4-BE49-F238E27FC236}">
                <a16:creationId xmlns:a16="http://schemas.microsoft.com/office/drawing/2014/main" id="{498EA2E6-325F-4BD4-AFD4-062B729D4846}"/>
              </a:ext>
            </a:extLst>
          </p:cNvPr>
          <p:cNvSpPr>
            <a:spLocks xmlns:a="http://schemas.openxmlformats.org/drawingml/2006/main" noGrp="1"/>
          </p:cNvSpPr>
          <p:nvPr/>
        </p:nvSpPr>
        <p:spPr>
          <a:xfrm xmlns:a="http://schemas.openxmlformats.org/drawingml/2006/main">
            <a:off x="4324350" y="255270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16" name="">
            <a:extLst xmlns:a="http://schemas.openxmlformats.org/drawingml/2006/main">
              <a:ext uri="{FF2B5EF4-FFF2-40B4-BE49-F238E27FC236}">
                <a16:creationId xmlns:a16="http://schemas.microsoft.com/office/drawing/2014/main" id="{3B18C1F0-DFA8-4401-BB38-8A069FCEF282}"/>
              </a:ext>
            </a:extLst>
          </p:cNvPr>
          <p:cNvSpPr>
            <a:spLocks xmlns:a="http://schemas.openxmlformats.org/drawingml/2006/main" noGrp="1"/>
          </p:cNvSpPr>
          <p:nvPr/>
        </p:nvSpPr>
        <p:spPr>
          <a:xfrm xmlns:a="http://schemas.openxmlformats.org/drawingml/2006/main">
            <a:off x="4324350" y="26384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7" name="">
            <a:extLst xmlns:a="http://schemas.openxmlformats.org/drawingml/2006/main">
              <a:ext uri="{FF2B5EF4-FFF2-40B4-BE49-F238E27FC236}">
                <a16:creationId xmlns:a16="http://schemas.microsoft.com/office/drawing/2014/main" id="{1B61711D-F7E3-4484-801E-9EFCCBE2295D}"/>
              </a:ext>
            </a:extLst>
          </p:cNvPr>
          <p:cNvSpPr>
            <a:spLocks xmlns:a="http://schemas.openxmlformats.org/drawingml/2006/main" noGrp="1"/>
          </p:cNvSpPr>
          <p:nvPr/>
        </p:nvSpPr>
        <p:spPr>
          <a:xfrm xmlns:a="http://schemas.openxmlformats.org/drawingml/2006/main">
            <a:off x="5010150" y="253365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Identity</a:t>
            </a:r>
          </a:p>
        </p:txBody>
      </p:sp>
      <p:sp>
        <p:nvSpPr>
          <p:cNvPr id="18" name="">
            <a:extLst xmlns:a="http://schemas.openxmlformats.org/drawingml/2006/main">
              <a:ext uri="{FF2B5EF4-FFF2-40B4-BE49-F238E27FC236}">
                <a16:creationId xmlns:a16="http://schemas.microsoft.com/office/drawing/2014/main" id="{D89046BB-EFFA-4C7A-AB4D-46B590C37A0C}"/>
              </a:ext>
            </a:extLst>
          </p:cNvPr>
          <p:cNvSpPr>
            <a:spLocks xmlns:a="http://schemas.openxmlformats.org/drawingml/2006/main" noGrp="1"/>
          </p:cNvSpPr>
          <p:nvPr/>
        </p:nvSpPr>
        <p:spPr>
          <a:xfrm xmlns:a="http://schemas.openxmlformats.org/drawingml/2006/main">
            <a:off x="7191375" y="25527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Applicant IDs are present and unique</a:t>
            </a:r>
          </a:p>
        </p:txBody>
      </p:sp>
      <p:cxnSp>
        <p:nvCxnSpPr>
          <p:cNvPr id="19" name="">
            <a:extLst xmlns:a="http://schemas.openxmlformats.org/drawingml/2006/main">
              <a:ext uri="{FF2B5EF4-FFF2-40B4-BE49-F238E27FC236}">
                <a16:creationId xmlns:a16="http://schemas.microsoft.com/office/drawing/2014/main" id="{8B51B39A-FB20-4456-8E45-C85837B1F6C4}"/>
              </a:ext>
            </a:extLst>
          </p:cNvPr>
          <p:cNvCxnSpPr/>
          <p:nvPr/>
        </p:nvCxnSpPr>
        <p:spPr>
          <a:xfrm xmlns:a="http://schemas.openxmlformats.org/drawingml/2006/main">
            <a:off x="5010150" y="306705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20" name="">
            <a:extLst xmlns:a="http://schemas.openxmlformats.org/drawingml/2006/main">
              <a:ext uri="{FF2B5EF4-FFF2-40B4-BE49-F238E27FC236}">
                <a16:creationId xmlns:a16="http://schemas.microsoft.com/office/drawing/2014/main" id="{64062D4D-D8BF-436E-B2E9-520F12C799FB}"/>
              </a:ext>
            </a:extLst>
          </p:cNvPr>
          <p:cNvSpPr>
            <a:spLocks xmlns:a="http://schemas.openxmlformats.org/drawingml/2006/main" noGrp="1"/>
          </p:cNvSpPr>
          <p:nvPr/>
        </p:nvSpPr>
        <p:spPr>
          <a:xfrm xmlns:a="http://schemas.openxmlformats.org/drawingml/2006/main">
            <a:off x="4324350" y="329565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21" name="">
            <a:extLst xmlns:a="http://schemas.openxmlformats.org/drawingml/2006/main">
              <a:ext uri="{FF2B5EF4-FFF2-40B4-BE49-F238E27FC236}">
                <a16:creationId xmlns:a16="http://schemas.microsoft.com/office/drawing/2014/main" id="{723D7015-73E9-4C01-BA6E-AB8E1A0C57CB}"/>
              </a:ext>
            </a:extLst>
          </p:cNvPr>
          <p:cNvSpPr>
            <a:spLocks xmlns:a="http://schemas.openxmlformats.org/drawingml/2006/main" noGrp="1"/>
          </p:cNvSpPr>
          <p:nvPr/>
        </p:nvSpPr>
        <p:spPr>
          <a:xfrm xmlns:a="http://schemas.openxmlformats.org/drawingml/2006/main">
            <a:off x="4324350" y="3381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a:t>
            </a:r>
          </a:p>
        </p:txBody>
      </p:sp>
      <p:sp>
        <p:nvSpPr>
          <p:cNvPr id="22" name="">
            <a:extLst xmlns:a="http://schemas.openxmlformats.org/drawingml/2006/main">
              <a:ext uri="{FF2B5EF4-FFF2-40B4-BE49-F238E27FC236}">
                <a16:creationId xmlns:a16="http://schemas.microsoft.com/office/drawing/2014/main" id="{9697D54D-1D44-4C64-BE0A-6F79A943E697}"/>
              </a:ext>
            </a:extLst>
          </p:cNvPr>
          <p:cNvSpPr>
            <a:spLocks xmlns:a="http://schemas.openxmlformats.org/drawingml/2006/main" noGrp="1"/>
          </p:cNvSpPr>
          <p:nvPr/>
        </p:nvSpPr>
        <p:spPr>
          <a:xfrm xmlns:a="http://schemas.openxmlformats.org/drawingml/2006/main">
            <a:off x="5010150" y="32766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Completeness</a:t>
            </a:r>
          </a:p>
        </p:txBody>
      </p:sp>
      <p:sp>
        <p:nvSpPr>
          <p:cNvPr id="23" name="">
            <a:extLst xmlns:a="http://schemas.openxmlformats.org/drawingml/2006/main">
              <a:ext uri="{FF2B5EF4-FFF2-40B4-BE49-F238E27FC236}">
                <a16:creationId xmlns:a16="http://schemas.microsoft.com/office/drawing/2014/main" id="{C5C76E5F-1A1D-4C73-B069-53890885ADF3}"/>
              </a:ext>
            </a:extLst>
          </p:cNvPr>
          <p:cNvSpPr>
            <a:spLocks xmlns:a="http://schemas.openxmlformats.org/drawingml/2006/main" noGrp="1"/>
          </p:cNvSpPr>
          <p:nvPr/>
        </p:nvSpPr>
        <p:spPr>
          <a:xfrm xmlns:a="http://schemas.openxmlformats.org/drawingml/2006/main">
            <a:off x="7191375" y="32956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No nulls in required columns</a:t>
            </a:r>
          </a:p>
        </p:txBody>
      </p:sp>
      <p:cxnSp>
        <p:nvCxnSpPr>
          <p:cNvPr id="24" name="">
            <a:extLst xmlns:a="http://schemas.openxmlformats.org/drawingml/2006/main">
              <a:ext uri="{FF2B5EF4-FFF2-40B4-BE49-F238E27FC236}">
                <a16:creationId xmlns:a16="http://schemas.microsoft.com/office/drawing/2014/main" id="{4B22F42E-65A0-4866-B074-0ED7AD90EBE0}"/>
              </a:ext>
            </a:extLst>
          </p:cNvPr>
          <p:cNvCxnSpPr/>
          <p:nvPr/>
        </p:nvCxnSpPr>
        <p:spPr>
          <a:xfrm xmlns:a="http://schemas.openxmlformats.org/drawingml/2006/main">
            <a:off x="5010150" y="381000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25" name="">
            <a:extLst xmlns:a="http://schemas.openxmlformats.org/drawingml/2006/main">
              <a:ext uri="{FF2B5EF4-FFF2-40B4-BE49-F238E27FC236}">
                <a16:creationId xmlns:a16="http://schemas.microsoft.com/office/drawing/2014/main" id="{0FCAFF3B-6934-4D1B-89C8-9CF93136509F}"/>
              </a:ext>
            </a:extLst>
          </p:cNvPr>
          <p:cNvSpPr>
            <a:spLocks xmlns:a="http://schemas.openxmlformats.org/drawingml/2006/main" noGrp="1"/>
          </p:cNvSpPr>
          <p:nvPr/>
        </p:nvSpPr>
        <p:spPr>
          <a:xfrm xmlns:a="http://schemas.openxmlformats.org/drawingml/2006/main">
            <a:off x="4324350" y="4038600"/>
            <a:ext cx="419100" cy="419100"/>
          </a:xfrm>
          <a:prstGeom xmlns:a="http://schemas.openxmlformats.org/drawingml/2006/main" prst="ellipse">
            <a:avLst/>
          </a:prstGeom>
          <a:solidFill xmlns:a="http://schemas.openxmlformats.org/drawingml/2006/main">
            <a:srgbClr val="F05A28"/>
          </a:solidFill>
          <a:ln xmlns:a="http://schemas.openxmlformats.org/drawingml/2006/main" w="0">
            <a:solidFill>
              <a:srgbClr val="F05A28"/>
            </a:solidFill>
            <a:prstDash val="solid"/>
          </a:ln>
        </p:spPr>
      </p:sp>
      <p:sp>
        <p:nvSpPr>
          <p:cNvPr id="26" name="">
            <a:extLst xmlns:a="http://schemas.openxmlformats.org/drawingml/2006/main">
              <a:ext uri="{FF2B5EF4-FFF2-40B4-BE49-F238E27FC236}">
                <a16:creationId xmlns:a16="http://schemas.microsoft.com/office/drawing/2014/main" id="{3E8BFD0F-0832-42FC-99B3-2EBC70A1D7FE}"/>
              </a:ext>
            </a:extLst>
          </p:cNvPr>
          <p:cNvSpPr>
            <a:spLocks xmlns:a="http://schemas.openxmlformats.org/drawingml/2006/main" noGrp="1"/>
          </p:cNvSpPr>
          <p:nvPr/>
        </p:nvSpPr>
        <p:spPr>
          <a:xfrm xmlns:a="http://schemas.openxmlformats.org/drawingml/2006/main">
            <a:off x="4324350" y="41243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4</a:t>
            </a:r>
          </a:p>
        </p:txBody>
      </p:sp>
      <p:sp>
        <p:nvSpPr>
          <p:cNvPr id="27" name="">
            <a:extLst xmlns:a="http://schemas.openxmlformats.org/drawingml/2006/main">
              <a:ext uri="{FF2B5EF4-FFF2-40B4-BE49-F238E27FC236}">
                <a16:creationId xmlns:a16="http://schemas.microsoft.com/office/drawing/2014/main" id="{3FEDC1C1-9EC6-4CEB-9558-BF0E546BB9F8}"/>
              </a:ext>
            </a:extLst>
          </p:cNvPr>
          <p:cNvSpPr>
            <a:spLocks xmlns:a="http://schemas.openxmlformats.org/drawingml/2006/main" noGrp="1"/>
          </p:cNvSpPr>
          <p:nvPr/>
        </p:nvSpPr>
        <p:spPr>
          <a:xfrm xmlns:a="http://schemas.openxmlformats.org/drawingml/2006/main">
            <a:off x="5010150" y="401955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Ranges</a:t>
            </a:r>
          </a:p>
        </p:txBody>
      </p:sp>
      <p:sp>
        <p:nvSpPr>
          <p:cNvPr id="28" name="">
            <a:extLst xmlns:a="http://schemas.openxmlformats.org/drawingml/2006/main">
              <a:ext uri="{FF2B5EF4-FFF2-40B4-BE49-F238E27FC236}">
                <a16:creationId xmlns:a16="http://schemas.microsoft.com/office/drawing/2014/main" id="{4CB52800-C9ED-4C0F-90E6-A655FE4F65BD}"/>
              </a:ext>
            </a:extLst>
          </p:cNvPr>
          <p:cNvSpPr>
            <a:spLocks xmlns:a="http://schemas.openxmlformats.org/drawingml/2006/main" noGrp="1"/>
          </p:cNvSpPr>
          <p:nvPr/>
        </p:nvSpPr>
        <p:spPr>
          <a:xfrm xmlns:a="http://schemas.openxmlformats.org/drawingml/2006/main">
            <a:off x="7191375" y="403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Age, income, debt ratio, credit score</a:t>
            </a:r>
          </a:p>
        </p:txBody>
      </p:sp>
      <p:cxnSp>
        <p:nvCxnSpPr>
          <p:cNvPr id="29" name="">
            <a:extLst xmlns:a="http://schemas.openxmlformats.org/drawingml/2006/main">
              <a:ext uri="{FF2B5EF4-FFF2-40B4-BE49-F238E27FC236}">
                <a16:creationId xmlns:a16="http://schemas.microsoft.com/office/drawing/2014/main" id="{C6F10331-D503-436F-94D1-6B0219A8C3EC}"/>
              </a:ext>
            </a:extLst>
          </p:cNvPr>
          <p:cNvCxnSpPr/>
          <p:nvPr/>
        </p:nvCxnSpPr>
        <p:spPr>
          <a:xfrm xmlns:a="http://schemas.openxmlformats.org/drawingml/2006/main">
            <a:off x="5010150" y="455295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30" name="">
            <a:extLst xmlns:a="http://schemas.openxmlformats.org/drawingml/2006/main">
              <a:ext uri="{FF2B5EF4-FFF2-40B4-BE49-F238E27FC236}">
                <a16:creationId xmlns:a16="http://schemas.microsoft.com/office/drawing/2014/main" id="{24F50183-444A-4661-8C4E-273009E0A854}"/>
              </a:ext>
            </a:extLst>
          </p:cNvPr>
          <p:cNvSpPr>
            <a:spLocks xmlns:a="http://schemas.openxmlformats.org/drawingml/2006/main" noGrp="1"/>
          </p:cNvSpPr>
          <p:nvPr/>
        </p:nvSpPr>
        <p:spPr>
          <a:xfrm xmlns:a="http://schemas.openxmlformats.org/drawingml/2006/main">
            <a:off x="4324350" y="478155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31" name="">
            <a:extLst xmlns:a="http://schemas.openxmlformats.org/drawingml/2006/main">
              <a:ext uri="{FF2B5EF4-FFF2-40B4-BE49-F238E27FC236}">
                <a16:creationId xmlns:a16="http://schemas.microsoft.com/office/drawing/2014/main" id="{C161474C-800F-4E76-91FC-6E2E05E9A9DD}"/>
              </a:ext>
            </a:extLst>
          </p:cNvPr>
          <p:cNvSpPr>
            <a:spLocks xmlns:a="http://schemas.openxmlformats.org/drawingml/2006/main" noGrp="1"/>
          </p:cNvSpPr>
          <p:nvPr/>
        </p:nvSpPr>
        <p:spPr>
          <a:xfrm xmlns:a="http://schemas.openxmlformats.org/drawingml/2006/main">
            <a:off x="4324350" y="48672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5</a:t>
            </a:r>
          </a:p>
        </p:txBody>
      </p:sp>
      <p:sp>
        <p:nvSpPr>
          <p:cNvPr id="32" name="">
            <a:extLst xmlns:a="http://schemas.openxmlformats.org/drawingml/2006/main">
              <a:ext uri="{FF2B5EF4-FFF2-40B4-BE49-F238E27FC236}">
                <a16:creationId xmlns:a16="http://schemas.microsoft.com/office/drawing/2014/main" id="{289BD721-605F-428A-97E8-208D8619121F}"/>
              </a:ext>
            </a:extLst>
          </p:cNvPr>
          <p:cNvSpPr>
            <a:spLocks xmlns:a="http://schemas.openxmlformats.org/drawingml/2006/main" noGrp="1"/>
          </p:cNvSpPr>
          <p:nvPr/>
        </p:nvSpPr>
        <p:spPr>
          <a:xfrm xmlns:a="http://schemas.openxmlformats.org/drawingml/2006/main">
            <a:off x="5010150" y="47625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Label</a:t>
            </a:r>
          </a:p>
        </p:txBody>
      </p:sp>
      <p:sp>
        <p:nvSpPr>
          <p:cNvPr id="33" name="">
            <a:extLst xmlns:a="http://schemas.openxmlformats.org/drawingml/2006/main">
              <a:ext uri="{FF2B5EF4-FFF2-40B4-BE49-F238E27FC236}">
                <a16:creationId xmlns:a16="http://schemas.microsoft.com/office/drawing/2014/main" id="{9FED5F86-C9F2-437D-A3FB-2A231451D488}"/>
              </a:ext>
            </a:extLst>
          </p:cNvPr>
          <p:cNvSpPr>
            <a:spLocks xmlns:a="http://schemas.openxmlformats.org/drawingml/2006/main" noGrp="1"/>
          </p:cNvSpPr>
          <p:nvPr/>
        </p:nvSpPr>
        <p:spPr>
          <a:xfrm xmlns:a="http://schemas.openxmlformats.org/drawingml/2006/main">
            <a:off x="7191375" y="47815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approved is limited to 0 or 1</a:t>
            </a:r>
          </a:p>
        </p:txBody>
      </p:sp>
      <p:sp>
        <p:nvSpPr>
          <p:cNvPr id="34" name="">
            <a:extLst xmlns:a="http://schemas.openxmlformats.org/drawingml/2006/main">
              <a:ext uri="{FF2B5EF4-FFF2-40B4-BE49-F238E27FC236}">
                <a16:creationId xmlns:a16="http://schemas.microsoft.com/office/drawing/2014/main" id="{0EA7E6DA-D0CE-40D4-813E-3CCBBE1DF0E5}"/>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755035496"/>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EC0712E-CACE-4C53-A9FB-90878CABC246}"/>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The validation gate in code</a:t>
            </a:r>
          </a:p>
        </p:txBody>
      </p:sp>
      <p:sp>
        <p:nvSpPr>
          <p:cNvPr id="2" name="">
            <a:extLst xmlns:a="http://schemas.openxmlformats.org/drawingml/2006/main">
              <a:ext uri="{FF2B5EF4-FFF2-40B4-BE49-F238E27FC236}">
                <a16:creationId xmlns:a16="http://schemas.microsoft.com/office/drawing/2014/main" id="{41A9D1D5-5B34-4DCD-8F63-5F827CA62855}"/>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F5CB1CDD-0033-4685-B882-2B5183C7B46A}"/>
              </a:ext>
            </a:extLst>
          </p:cNvPr>
          <p:cNvSpPr>
            <a:spLocks xmlns:a="http://schemas.openxmlformats.org/drawingml/2006/main" noGrp="1"/>
          </p:cNvSpPr>
          <p:nvPr/>
        </p:nvSpPr>
        <p:spPr>
          <a:xfrm xmlns:a="http://schemas.openxmlformats.org/drawingml/2006/main">
            <a:off x="685800" y="11430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The Validation Definition runs the suite against the current dataframe.</a:t>
            </a:r>
          </a:p>
        </p:txBody>
      </p:sp>
      <p:sp>
        <p:nvSpPr>
          <p:cNvPr id="4" name="">
            <a:extLst xmlns:a="http://schemas.openxmlformats.org/drawingml/2006/main">
              <a:ext uri="{FF2B5EF4-FFF2-40B4-BE49-F238E27FC236}">
                <a16:creationId xmlns:a16="http://schemas.microsoft.com/office/drawing/2014/main" id="{0EF84ACB-C57E-460D-994E-59988B71566C}"/>
              </a:ext>
            </a:extLst>
          </p:cNvPr>
          <p:cNvSpPr>
            <a:spLocks xmlns:a="http://schemas.openxmlformats.org/drawingml/2006/main" noGrp="1"/>
          </p:cNvSpPr>
          <p:nvPr/>
        </p:nvSpPr>
        <p:spPr>
          <a:xfrm xmlns:a="http://schemas.openxmlformats.org/drawingml/2006/main">
            <a:off x="685800" y="1752600"/>
            <a:ext cx="7524750" cy="3905250"/>
          </a:xfrm>
          <a:prstGeom xmlns:a="http://schemas.openxmlformats.org/drawingml/2006/main" prst="roundRect">
            <a:avLst>
              <a:gd name="adj" fmla="val 2927"/>
            </a:avLst>
          </a:prstGeom>
          <a:solidFill xmlns:a="http://schemas.openxmlformats.org/drawingml/2006/main">
            <a:srgbClr val="0B1324"/>
          </a:solidFill>
          <a:ln xmlns:a="http://schemas.openxmlformats.org/drawingml/2006/main" w="0">
            <a:solidFill>
              <a:srgbClr val="0B1324"/>
            </a:solidFill>
            <a:prstDash val="solid"/>
          </a:ln>
        </p:spPr>
      </p:sp>
      <p:sp>
        <p:nvSpPr>
          <p:cNvPr id="5" name="">
            <a:extLst xmlns:a="http://schemas.openxmlformats.org/drawingml/2006/main">
              <a:ext uri="{FF2B5EF4-FFF2-40B4-BE49-F238E27FC236}">
                <a16:creationId xmlns:a16="http://schemas.microsoft.com/office/drawing/2014/main" id="{F7DC61CF-42C5-4F83-99FA-EE863B33EBD0}"/>
              </a:ext>
            </a:extLst>
          </p:cNvPr>
          <p:cNvSpPr>
            <a:spLocks xmlns:a="http://schemas.openxmlformats.org/drawingml/2006/main" noGrp="1"/>
          </p:cNvSpPr>
          <p:nvPr/>
        </p:nvSpPr>
        <p:spPr>
          <a:xfrm xmlns:a="http://schemas.openxmlformats.org/drawingml/2006/main">
            <a:off x="1000125" y="2028825"/>
            <a:ext cx="689610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E7ECF4"/>
                </a:solidFill>
                <a:latin typeface="Menlo"/>
                <a:ea typeface="Menlo"/>
                <a:cs typeface="Menlo"/>
              </a:defRPr>
            </a:defPPr>
          </a:lstStyle>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suite = context.suites.add(build_expectation_suite())</a:t>
            </a:r>
          </a:p>
          <a:p xmlns:a="http://schemas.openxmlformats.org/drawingml/2006/main">
            <a:r>
              <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validation = gx.ValidationDefinition(</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name="validate_before_training",</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data=batch_definition,</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suite=suite,</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result = validation.run(</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batch_parameters={"dataframe": dataframe}</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a:t>
            </a:r>
          </a:p>
          <a:p xmlns:a="http://schemas.openxmlformats.org/drawingml/2006/main">
            <a:r>
              <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if not result.success:</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return 2  # model training never runs</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metrics = train_model(dataframe)</a:t>
            </a:r>
          </a:p>
        </p:txBody>
      </p:sp>
      <p:sp>
        <p:nvSpPr>
          <p:cNvPr id="6" name="">
            <a:extLst xmlns:a="http://schemas.openxmlformats.org/drawingml/2006/main">
              <a:ext uri="{FF2B5EF4-FFF2-40B4-BE49-F238E27FC236}">
                <a16:creationId xmlns:a16="http://schemas.microsoft.com/office/drawing/2014/main" id="{7DC139FF-A1FA-46E8-836B-B57988C829D1}"/>
              </a:ext>
            </a:extLst>
          </p:cNvPr>
          <p:cNvSpPr>
            <a:spLocks xmlns:a="http://schemas.openxmlformats.org/drawingml/2006/main" noGrp="1"/>
          </p:cNvSpPr>
          <p:nvPr/>
        </p:nvSpPr>
        <p:spPr>
          <a:xfrm xmlns:a="http://schemas.openxmlformats.org/drawingml/2006/main">
            <a:off x="8667750" y="1876425"/>
            <a:ext cx="28384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8"/>
            </a:solidFill>
            <a:prstDash val="solid"/>
          </a:ln>
        </p:spPr>
      </p:sp>
      <p:sp>
        <p:nvSpPr>
          <p:cNvPr id="7" name="">
            <a:extLst xmlns:a="http://schemas.openxmlformats.org/drawingml/2006/main">
              <a:ext uri="{FF2B5EF4-FFF2-40B4-BE49-F238E27FC236}">
                <a16:creationId xmlns:a16="http://schemas.microsoft.com/office/drawing/2014/main" id="{FA9CEB1D-53C9-4B5D-852F-618A4B8FFB5A}"/>
              </a:ext>
            </a:extLst>
          </p:cNvPr>
          <p:cNvSpPr>
            <a:spLocks xmlns:a="http://schemas.openxmlformats.org/drawingml/2006/main" noGrp="1"/>
          </p:cNvSpPr>
          <p:nvPr/>
        </p:nvSpPr>
        <p:spPr>
          <a:xfrm xmlns:a="http://schemas.openxmlformats.org/drawingml/2006/main">
            <a:off x="8839200" y="2066925"/>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8" name="">
            <a:extLst xmlns:a="http://schemas.openxmlformats.org/drawingml/2006/main">
              <a:ext uri="{FF2B5EF4-FFF2-40B4-BE49-F238E27FC236}">
                <a16:creationId xmlns:a16="http://schemas.microsoft.com/office/drawing/2014/main" id="{EE68072F-5B14-49B0-B3E7-E60724B1DCD2}"/>
              </a:ext>
            </a:extLst>
          </p:cNvPr>
          <p:cNvSpPr>
            <a:spLocks xmlns:a="http://schemas.openxmlformats.org/drawingml/2006/main" noGrp="1"/>
          </p:cNvSpPr>
          <p:nvPr/>
        </p:nvSpPr>
        <p:spPr>
          <a:xfrm xmlns:a="http://schemas.openxmlformats.org/drawingml/2006/main">
            <a:off x="8839200" y="21621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C5D6E63D-4496-46ED-AFC2-A85284669BB8}"/>
              </a:ext>
            </a:extLst>
          </p:cNvPr>
          <p:cNvSpPr>
            <a:spLocks xmlns:a="http://schemas.openxmlformats.org/drawingml/2006/main" noGrp="1"/>
          </p:cNvSpPr>
          <p:nvPr/>
        </p:nvSpPr>
        <p:spPr>
          <a:xfrm xmlns:a="http://schemas.openxmlformats.org/drawingml/2006/main">
            <a:off x="9448800" y="20383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4"/>
                </a:solidFill>
                <a:latin typeface="Avenir Next"/>
                <a:ea typeface="Avenir Next"/>
                <a:cs typeface="Avenir Next"/>
              </a:defRPr>
            </a:defPPr>
          </a:lstStyle>
          <a:p xmlns:a="http://schemas.openxmlformats.org/drawingml/2006/main">
            <a:pPr>
              <a:defRPr sz="1350" b="1">
                <a:solidFill>
                  <a:srgbClr val="0B1324"/>
                </a:solidFill>
                <a:latin typeface="Avenir Next"/>
                <a:ea typeface="Avenir Next"/>
                <a:cs typeface="Avenir Next"/>
              </a:defRPr>
            </a:pPr>
            <a:r>
              <a:rPr sz="1350" b="1">
                <a:solidFill>
                  <a:srgbClr val="0B1324"/>
                </a:solidFill>
                <a:latin typeface="Avenir Next"/>
                <a:ea typeface="Avenir Next"/>
                <a:cs typeface="Avenir Next"/>
              </a:rPr>
              <a:t>Build suite</a:t>
            </a:r>
          </a:p>
        </p:txBody>
      </p:sp>
      <p:sp>
        <p:nvSpPr>
          <p:cNvPr id="10" name="">
            <a:extLst xmlns:a="http://schemas.openxmlformats.org/drawingml/2006/main">
              <a:ext uri="{FF2B5EF4-FFF2-40B4-BE49-F238E27FC236}">
                <a16:creationId xmlns:a16="http://schemas.microsoft.com/office/drawing/2014/main" id="{E6BDBD73-E775-49AA-86B5-093A171F9B77}"/>
              </a:ext>
            </a:extLst>
          </p:cNvPr>
          <p:cNvSpPr>
            <a:spLocks xmlns:a="http://schemas.openxmlformats.org/drawingml/2006/main" noGrp="1"/>
          </p:cNvSpPr>
          <p:nvPr/>
        </p:nvSpPr>
        <p:spPr>
          <a:xfrm xmlns:a="http://schemas.openxmlformats.org/drawingml/2006/main">
            <a:off x="9448800" y="2362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67085"/>
                </a:solidFill>
                <a:latin typeface="Avenir Next"/>
                <a:ea typeface="Avenir Next"/>
                <a:cs typeface="Avenir Next"/>
              </a:defRPr>
            </a:defPPr>
          </a:lstStyle>
          <a:p xmlns:a="http://schemas.openxmlformats.org/drawingml/2006/main">
            <a:pP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Readable rules in Python</a:t>
            </a:r>
          </a:p>
        </p:txBody>
      </p:sp>
      <p:sp>
        <p:nvSpPr>
          <p:cNvPr id="11" name="">
            <a:extLst xmlns:a="http://schemas.openxmlformats.org/drawingml/2006/main">
              <a:ext uri="{FF2B5EF4-FFF2-40B4-BE49-F238E27FC236}">
                <a16:creationId xmlns:a16="http://schemas.microsoft.com/office/drawing/2014/main" id="{28A7AC20-7D7F-49F1-B182-21B7288BE209}"/>
              </a:ext>
            </a:extLst>
          </p:cNvPr>
          <p:cNvSpPr>
            <a:spLocks xmlns:a="http://schemas.openxmlformats.org/drawingml/2006/main" noGrp="1"/>
          </p:cNvSpPr>
          <p:nvPr/>
        </p:nvSpPr>
        <p:spPr>
          <a:xfrm xmlns:a="http://schemas.openxmlformats.org/drawingml/2006/main">
            <a:off x="8667750" y="3095625"/>
            <a:ext cx="28384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8"/>
            </a:solidFill>
            <a:prstDash val="solid"/>
          </a:ln>
        </p:spPr>
      </p:sp>
      <p:sp>
        <p:nvSpPr>
          <p:cNvPr id="12" name="">
            <a:extLst xmlns:a="http://schemas.openxmlformats.org/drawingml/2006/main">
              <a:ext uri="{FF2B5EF4-FFF2-40B4-BE49-F238E27FC236}">
                <a16:creationId xmlns:a16="http://schemas.microsoft.com/office/drawing/2014/main" id="{DF72646A-28A9-4F30-88D5-681B822D8E81}"/>
              </a:ext>
            </a:extLst>
          </p:cNvPr>
          <p:cNvSpPr>
            <a:spLocks xmlns:a="http://schemas.openxmlformats.org/drawingml/2006/main" noGrp="1"/>
          </p:cNvSpPr>
          <p:nvPr/>
        </p:nvSpPr>
        <p:spPr>
          <a:xfrm xmlns:a="http://schemas.openxmlformats.org/drawingml/2006/main">
            <a:off x="8839200" y="3286125"/>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13" name="">
            <a:extLst xmlns:a="http://schemas.openxmlformats.org/drawingml/2006/main">
              <a:ext uri="{FF2B5EF4-FFF2-40B4-BE49-F238E27FC236}">
                <a16:creationId xmlns:a16="http://schemas.microsoft.com/office/drawing/2014/main" id="{1E06BE2C-593F-4E83-9969-98B9070FF025}"/>
              </a:ext>
            </a:extLst>
          </p:cNvPr>
          <p:cNvSpPr>
            <a:spLocks xmlns:a="http://schemas.openxmlformats.org/drawingml/2006/main" noGrp="1"/>
          </p:cNvSpPr>
          <p:nvPr/>
        </p:nvSpPr>
        <p:spPr>
          <a:xfrm xmlns:a="http://schemas.openxmlformats.org/drawingml/2006/main">
            <a:off x="8839200" y="33813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52321817-97D2-4B45-AFEB-23BC8A362EB4}"/>
              </a:ext>
            </a:extLst>
          </p:cNvPr>
          <p:cNvSpPr>
            <a:spLocks xmlns:a="http://schemas.openxmlformats.org/drawingml/2006/main" noGrp="1"/>
          </p:cNvSpPr>
          <p:nvPr/>
        </p:nvSpPr>
        <p:spPr>
          <a:xfrm xmlns:a="http://schemas.openxmlformats.org/drawingml/2006/main">
            <a:off x="9448800" y="32575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4"/>
                </a:solidFill>
                <a:latin typeface="Avenir Next"/>
                <a:ea typeface="Avenir Next"/>
                <a:cs typeface="Avenir Next"/>
              </a:defRPr>
            </a:defPPr>
          </a:lstStyle>
          <a:p xmlns:a="http://schemas.openxmlformats.org/drawingml/2006/main">
            <a:pPr>
              <a:defRPr sz="1350" b="1">
                <a:solidFill>
                  <a:srgbClr val="0B1324"/>
                </a:solidFill>
                <a:latin typeface="Avenir Next"/>
                <a:ea typeface="Avenir Next"/>
                <a:cs typeface="Avenir Next"/>
              </a:defRPr>
            </a:pPr>
            <a:r>
              <a:rPr sz="1350" b="1">
                <a:solidFill>
                  <a:srgbClr val="0B1324"/>
                </a:solidFill>
                <a:latin typeface="Avenir Next"/>
                <a:ea typeface="Avenir Next"/>
                <a:cs typeface="Avenir Next"/>
              </a:rPr>
              <a:t>Run validation</a:t>
            </a:r>
          </a:p>
        </p:txBody>
      </p:sp>
      <p:sp>
        <p:nvSpPr>
          <p:cNvPr id="15" name="">
            <a:extLst xmlns:a="http://schemas.openxmlformats.org/drawingml/2006/main">
              <a:ext uri="{FF2B5EF4-FFF2-40B4-BE49-F238E27FC236}">
                <a16:creationId xmlns:a16="http://schemas.microsoft.com/office/drawing/2014/main" id="{D7C8F075-BA34-4EAC-B04B-4B390B523137}"/>
              </a:ext>
            </a:extLst>
          </p:cNvPr>
          <p:cNvSpPr>
            <a:spLocks xmlns:a="http://schemas.openxmlformats.org/drawingml/2006/main" noGrp="1"/>
          </p:cNvSpPr>
          <p:nvPr/>
        </p:nvSpPr>
        <p:spPr>
          <a:xfrm xmlns:a="http://schemas.openxmlformats.org/drawingml/2006/main">
            <a:off x="9448800" y="35814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67085"/>
                </a:solidFill>
                <a:latin typeface="Avenir Next"/>
                <a:ea typeface="Avenir Next"/>
                <a:cs typeface="Avenir Next"/>
              </a:defRPr>
            </a:defPPr>
          </a:lstStyle>
          <a:p xmlns:a="http://schemas.openxmlformats.org/drawingml/2006/main">
            <a:pP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Current dataframe becomes the batch</a:t>
            </a:r>
          </a:p>
        </p:txBody>
      </p:sp>
      <p:sp>
        <p:nvSpPr>
          <p:cNvPr id="16" name="">
            <a:extLst xmlns:a="http://schemas.openxmlformats.org/drawingml/2006/main">
              <a:ext uri="{FF2B5EF4-FFF2-40B4-BE49-F238E27FC236}">
                <a16:creationId xmlns:a16="http://schemas.microsoft.com/office/drawing/2014/main" id="{E5199F50-B572-4C95-B3B8-B23C38FAD33A}"/>
              </a:ext>
            </a:extLst>
          </p:cNvPr>
          <p:cNvSpPr>
            <a:spLocks xmlns:a="http://schemas.openxmlformats.org/drawingml/2006/main" noGrp="1"/>
          </p:cNvSpPr>
          <p:nvPr/>
        </p:nvSpPr>
        <p:spPr>
          <a:xfrm xmlns:a="http://schemas.openxmlformats.org/drawingml/2006/main">
            <a:off x="8667750" y="4314825"/>
            <a:ext cx="28384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A6C1ABD5-57AB-41C8-96C4-52B222E4D43B}"/>
              </a:ext>
            </a:extLst>
          </p:cNvPr>
          <p:cNvSpPr>
            <a:spLocks xmlns:a="http://schemas.openxmlformats.org/drawingml/2006/main" noGrp="1"/>
          </p:cNvSpPr>
          <p:nvPr/>
        </p:nvSpPr>
        <p:spPr>
          <a:xfrm xmlns:a="http://schemas.openxmlformats.org/drawingml/2006/main">
            <a:off x="8839200" y="4505325"/>
            <a:ext cx="419100" cy="419100"/>
          </a:xfrm>
          <a:prstGeom xmlns:a="http://schemas.openxmlformats.org/drawingml/2006/main" prst="ellipse">
            <a:avLst/>
          </a:prstGeom>
          <a:solidFill xmlns:a="http://schemas.openxmlformats.org/drawingml/2006/main">
            <a:srgbClr val="F05A28"/>
          </a:solidFill>
          <a:ln xmlns:a="http://schemas.openxmlformats.org/drawingml/2006/main" w="0">
            <a:solidFill>
              <a:srgbClr val="F05A28"/>
            </a:solidFill>
            <a:prstDash val="solid"/>
          </a:ln>
        </p:spPr>
      </p:sp>
      <p:sp>
        <p:nvSpPr>
          <p:cNvPr id="18" name="">
            <a:extLst xmlns:a="http://schemas.openxmlformats.org/drawingml/2006/main">
              <a:ext uri="{FF2B5EF4-FFF2-40B4-BE49-F238E27FC236}">
                <a16:creationId xmlns:a16="http://schemas.microsoft.com/office/drawing/2014/main" id="{927A41F6-5ABC-4558-A389-3DD38F2FADEC}"/>
              </a:ext>
            </a:extLst>
          </p:cNvPr>
          <p:cNvSpPr>
            <a:spLocks xmlns:a="http://schemas.openxmlformats.org/drawingml/2006/main" noGrp="1"/>
          </p:cNvSpPr>
          <p:nvPr/>
        </p:nvSpPr>
        <p:spPr>
          <a:xfrm xmlns:a="http://schemas.openxmlformats.org/drawingml/2006/main">
            <a:off x="8839200" y="46005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a:t>
            </a:r>
          </a:p>
        </p:txBody>
      </p:sp>
      <p:sp>
        <p:nvSpPr>
          <p:cNvPr id="19" name="">
            <a:extLst xmlns:a="http://schemas.openxmlformats.org/drawingml/2006/main">
              <a:ext uri="{FF2B5EF4-FFF2-40B4-BE49-F238E27FC236}">
                <a16:creationId xmlns:a16="http://schemas.microsoft.com/office/drawing/2014/main" id="{9AF29D04-12B0-4946-8DAB-8981FF6E87AC}"/>
              </a:ext>
            </a:extLst>
          </p:cNvPr>
          <p:cNvSpPr>
            <a:spLocks xmlns:a="http://schemas.openxmlformats.org/drawingml/2006/main" noGrp="1"/>
          </p:cNvSpPr>
          <p:nvPr/>
        </p:nvSpPr>
        <p:spPr>
          <a:xfrm xmlns:a="http://schemas.openxmlformats.org/drawingml/2006/main">
            <a:off x="9448800" y="44767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4"/>
                </a:solidFill>
                <a:latin typeface="Avenir Next"/>
                <a:ea typeface="Avenir Next"/>
                <a:cs typeface="Avenir Next"/>
              </a:defRPr>
            </a:defPPr>
          </a:lstStyle>
          <a:p xmlns:a="http://schemas.openxmlformats.org/drawingml/2006/main">
            <a:pPr>
              <a:defRPr sz="1350" b="1">
                <a:solidFill>
                  <a:srgbClr val="0B1324"/>
                </a:solidFill>
                <a:latin typeface="Avenir Next"/>
                <a:ea typeface="Avenir Next"/>
                <a:cs typeface="Avenir Next"/>
              </a:defRPr>
            </a:pPr>
            <a:r>
              <a:rPr sz="1350" b="1">
                <a:solidFill>
                  <a:srgbClr val="0B1324"/>
                </a:solidFill>
                <a:latin typeface="Avenir Next"/>
                <a:ea typeface="Avenir Next"/>
                <a:cs typeface="Avenir Next"/>
              </a:rPr>
              <a:t>Branch on result</a:t>
            </a:r>
          </a:p>
        </p:txBody>
      </p:sp>
      <p:sp>
        <p:nvSpPr>
          <p:cNvPr id="20" name="">
            <a:extLst xmlns:a="http://schemas.openxmlformats.org/drawingml/2006/main">
              <a:ext uri="{FF2B5EF4-FFF2-40B4-BE49-F238E27FC236}">
                <a16:creationId xmlns:a16="http://schemas.microsoft.com/office/drawing/2014/main" id="{EB5B0941-3789-431C-8A26-50E559460F1C}"/>
              </a:ext>
            </a:extLst>
          </p:cNvPr>
          <p:cNvSpPr>
            <a:spLocks xmlns:a="http://schemas.openxmlformats.org/drawingml/2006/main" noGrp="1"/>
          </p:cNvSpPr>
          <p:nvPr/>
        </p:nvSpPr>
        <p:spPr>
          <a:xfrm xmlns:a="http://schemas.openxmlformats.org/drawingml/2006/main">
            <a:off x="9448800" y="48006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67085"/>
                </a:solidFill>
                <a:latin typeface="Avenir Next"/>
                <a:ea typeface="Avenir Next"/>
                <a:cs typeface="Avenir Next"/>
              </a:defRPr>
            </a:defPPr>
          </a:lstStyle>
          <a:p xmlns:a="http://schemas.openxmlformats.org/drawingml/2006/main">
            <a:pP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Failure stops the pipeline</a:t>
            </a:r>
          </a:p>
        </p:txBody>
      </p:sp>
      <p:sp>
        <p:nvSpPr>
          <p:cNvPr id="21" name="">
            <a:extLst xmlns:a="http://schemas.openxmlformats.org/drawingml/2006/main">
              <a:ext uri="{FF2B5EF4-FFF2-40B4-BE49-F238E27FC236}">
                <a16:creationId xmlns:a16="http://schemas.microsoft.com/office/drawing/2014/main" id="{790613DC-CE67-4DC2-8A3B-02845AC56958}"/>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8924204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1A1654-7430-4F86-A57F-1AF50CE0A8B9}"/>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Failure is visible and actionable</a:t>
            </a:r>
          </a:p>
        </p:txBody>
      </p:sp>
      <p:sp>
        <p:nvSpPr>
          <p:cNvPr id="2" name="">
            <a:extLst xmlns:a="http://schemas.openxmlformats.org/drawingml/2006/main">
              <a:ext uri="{FF2B5EF4-FFF2-40B4-BE49-F238E27FC236}">
                <a16:creationId xmlns:a16="http://schemas.microsoft.com/office/drawing/2014/main" id="{5974F110-AAB2-4C17-B17B-899FDFE1DCA9}"/>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E6CCA158-7D6F-4360-B54A-7B6F2ADA32FF}"/>
              </a:ext>
            </a:extLst>
          </p:cNvPr>
          <p:cNvSpPr>
            <a:spLocks xmlns:a="http://schemas.openxmlformats.org/drawingml/2006/main" noGrp="1"/>
          </p:cNvSpPr>
          <p:nvPr/>
        </p:nvSpPr>
        <p:spPr>
          <a:xfrm xmlns:a="http://schemas.openxmlformats.org/drawingml/2006/main">
            <a:off x="685800" y="1133475"/>
            <a:ext cx="2381250" cy="323850"/>
          </a:xfrm>
          <a:prstGeom xmlns:a="http://schemas.openxmlformats.org/drawingml/2006/main" prst="roundRect">
            <a:avLst>
              <a:gd name="adj" fmla="val 35294"/>
            </a:avLst>
          </a:prstGeom>
          <a:solidFill xmlns:a="http://schemas.openxmlformats.org/drawingml/2006/main">
            <a:srgbClr val="FDECEC"/>
          </a:solidFill>
          <a:ln xmlns:a="http://schemas.openxmlformats.org/drawingml/2006/main" w="0">
            <a:solidFill>
              <a:srgbClr val="FDECEC"/>
            </a:solidFill>
            <a:prstDash val="solid"/>
          </a:ln>
        </p:spPr>
      </p:sp>
      <p:sp>
        <p:nvSpPr>
          <p:cNvPr id="4" name="">
            <a:extLst xmlns:a="http://schemas.openxmlformats.org/drawingml/2006/main">
              <a:ext uri="{FF2B5EF4-FFF2-40B4-BE49-F238E27FC236}">
                <a16:creationId xmlns:a16="http://schemas.microsoft.com/office/drawing/2014/main" id="{7CA216D6-A614-441B-B6BE-A6FF04AAACBC}"/>
              </a:ext>
            </a:extLst>
          </p:cNvPr>
          <p:cNvSpPr>
            <a:spLocks xmlns:a="http://schemas.openxmlformats.org/drawingml/2006/main" noGrp="1"/>
          </p:cNvSpPr>
          <p:nvPr/>
        </p:nvSpPr>
        <p:spPr>
          <a:xfrm xmlns:a="http://schemas.openxmlformats.org/drawingml/2006/main">
            <a:off x="781050" y="12001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D64545"/>
                </a:solidFill>
                <a:latin typeface="Avenir Next"/>
                <a:ea typeface="Avenir Next"/>
                <a:cs typeface="Avenir Next"/>
              </a:defRPr>
            </a:defPPr>
          </a:lstStyle>
          <a:p xmlns:a="http://schemas.openxmlformats.org/drawingml/2006/main">
            <a:pPr algn="ctr">
              <a:defRPr sz="900" b="1">
                <a:solidFill>
                  <a:srgbClr val="D64545"/>
                </a:solidFill>
                <a:latin typeface="Avenir Next"/>
                <a:ea typeface="Avenir Next"/>
                <a:cs typeface="Avenir Next"/>
              </a:defRPr>
            </a:pPr>
            <a:r>
              <a:rPr sz="900" b="1">
                <a:solidFill>
                  <a:srgbClr val="D64545"/>
                </a:solidFill>
                <a:latin typeface="Avenir Next"/>
                <a:ea typeface="Avenir Next"/>
                <a:cs typeface="Avenir Next"/>
              </a:rPr>
              <a:t>INTENTIONALLY BROKEN DATA</a:t>
            </a:r>
          </a:p>
        </p:txBody>
      </p:sp>
      <p:sp>
        <p:nvSpPr>
          <p:cNvPr id="5" name="">
            <a:extLst xmlns:a="http://schemas.openxmlformats.org/drawingml/2006/main">
              <a:ext uri="{FF2B5EF4-FFF2-40B4-BE49-F238E27FC236}">
                <a16:creationId xmlns:a16="http://schemas.microsoft.com/office/drawing/2014/main" id="{D13F5550-54EC-44EA-A7B4-4C6C241CEAAC}"/>
              </a:ext>
            </a:extLst>
          </p:cNvPr>
          <p:cNvSpPr>
            <a:spLocks xmlns:a="http://schemas.openxmlformats.org/drawingml/2006/main" noGrp="1"/>
          </p:cNvSpPr>
          <p:nvPr/>
        </p:nvSpPr>
        <p:spPr>
          <a:xfrm xmlns:a="http://schemas.openxmlformats.org/drawingml/2006/main">
            <a:off x="685800" y="16192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B1324"/>
                </a:solidFill>
                <a:latin typeface="Avenir Next"/>
                <a:ea typeface="Avenir Next"/>
                <a:cs typeface="Avenir Next"/>
              </a:defRPr>
            </a:defPPr>
          </a:lstStyle>
          <a:p xmlns:a="http://schemas.openxmlformats.org/drawingml/2006/main">
            <a:pPr>
              <a:defRPr sz="2250" b="1">
                <a:solidFill>
                  <a:srgbClr val="0B1324"/>
                </a:solidFill>
                <a:latin typeface="Avenir Next"/>
                <a:ea typeface="Avenir Next"/>
                <a:cs typeface="Avenir Next"/>
              </a:defRPr>
            </a:pPr>
            <a:r>
              <a:rPr sz="2250" b="1">
                <a:solidFill>
                  <a:srgbClr val="0B1324"/>
                </a:solidFill>
                <a:latin typeface="Avenir Next"/>
                <a:ea typeface="Avenir Next"/>
                <a:cs typeface="Avenir Next"/>
              </a:rPr>
              <a:t>Six rule violations block training</a:t>
            </a:r>
          </a:p>
        </p:txBody>
      </p:sp>
      <p:sp>
        <p:nvSpPr>
          <p:cNvPr id="6" name="">
            <a:extLst xmlns:a="http://schemas.openxmlformats.org/drawingml/2006/main">
              <a:ext uri="{FF2B5EF4-FFF2-40B4-BE49-F238E27FC236}">
                <a16:creationId xmlns:a16="http://schemas.microsoft.com/office/drawing/2014/main" id="{B7313A8D-6E19-4253-B34D-235E645FBDEF}"/>
              </a:ext>
            </a:extLst>
          </p:cNvPr>
          <p:cNvSpPr>
            <a:spLocks xmlns:a="http://schemas.openxmlformats.org/drawingml/2006/main" noGrp="1"/>
          </p:cNvSpPr>
          <p:nvPr/>
        </p:nvSpPr>
        <p:spPr>
          <a:xfrm xmlns:a="http://schemas.openxmlformats.org/drawingml/2006/main">
            <a:off x="685800" y="2247900"/>
            <a:ext cx="10820400" cy="3486150"/>
          </a:xfrm>
          <a:prstGeom xmlns:a="http://schemas.openxmlformats.org/drawingml/2006/main" prst="roundRect">
            <a:avLst>
              <a:gd name="adj" fmla="val 3279"/>
            </a:avLst>
          </a:prstGeom>
          <a:solidFill xmlns:a="http://schemas.openxmlformats.org/drawingml/2006/main">
            <a:srgbClr val="0B1324"/>
          </a:solidFill>
          <a:ln xmlns:a="http://schemas.openxmlformats.org/drawingml/2006/main" w="0">
            <a:solidFill>
              <a:srgbClr val="0B1324"/>
            </a:solidFill>
            <a:prstDash val="solid"/>
          </a:ln>
        </p:spPr>
      </p:sp>
      <p:sp>
        <p:nvSpPr>
          <p:cNvPr id="7" name="">
            <a:extLst xmlns:a="http://schemas.openxmlformats.org/drawingml/2006/main">
              <a:ext uri="{FF2B5EF4-FFF2-40B4-BE49-F238E27FC236}">
                <a16:creationId xmlns:a16="http://schemas.microsoft.com/office/drawing/2014/main" id="{F7E558C3-FF26-404A-876C-73D66CAFB958}"/>
              </a:ext>
            </a:extLst>
          </p:cNvPr>
          <p:cNvSpPr>
            <a:spLocks xmlns:a="http://schemas.openxmlformats.org/drawingml/2006/main" noGrp="1"/>
          </p:cNvSpPr>
          <p:nvPr/>
        </p:nvSpPr>
        <p:spPr>
          <a:xfrm xmlns:a="http://schemas.openxmlformats.org/drawingml/2006/main">
            <a:off x="990600" y="25146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DA9BF"/>
                </a:solidFill>
                <a:latin typeface="Menlo"/>
                <a:ea typeface="Menlo"/>
                <a:cs typeface="Menlo"/>
              </a:defRPr>
            </a:defPPr>
          </a:lstStyle>
          <a:p xmlns:a="http://schemas.openxmlformats.org/drawingml/2006/main">
            <a:pPr>
              <a:defRPr sz="1050" b="0">
                <a:solidFill>
                  <a:srgbClr val="9DA9BF"/>
                </a:solidFill>
                <a:latin typeface="Menlo"/>
                <a:ea typeface="Menlo"/>
                <a:cs typeface="Menlo"/>
              </a:defRPr>
            </a:pPr>
            <a:r>
              <a:rPr sz="1050" b="0">
                <a:solidFill>
                  <a:srgbClr val="9DA9BF"/>
                </a:solidFill>
                <a:latin typeface="Menlo"/>
                <a:ea typeface="Menlo"/>
                <a:cs typeface="Menlo"/>
              </a:rPr>
              <a:t>$ python -m src.pipeline --data data/loan_applications_bad.csv</a:t>
            </a:r>
          </a:p>
        </p:txBody>
      </p:sp>
      <p:sp>
        <p:nvSpPr>
          <p:cNvPr id="8" name="">
            <a:extLst xmlns:a="http://schemas.openxmlformats.org/drawingml/2006/main">
              <a:ext uri="{FF2B5EF4-FFF2-40B4-BE49-F238E27FC236}">
                <a16:creationId xmlns:a16="http://schemas.microsoft.com/office/drawing/2014/main" id="{2D5321C7-294C-416C-AD37-E20F5BB9CCE1}"/>
              </a:ext>
            </a:extLst>
          </p:cNvPr>
          <p:cNvSpPr>
            <a:spLocks xmlns:a="http://schemas.openxmlformats.org/drawingml/2006/main" noGrp="1"/>
          </p:cNvSpPr>
          <p:nvPr/>
        </p:nvSpPr>
        <p:spPr>
          <a:xfrm xmlns:a="http://schemas.openxmlformats.org/drawingml/2006/main">
            <a:off x="990600" y="2990850"/>
            <a:ext cx="99060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EEF2F7"/>
                </a:solidFill>
                <a:latin typeface="Menlo"/>
                <a:ea typeface="Menlo"/>
                <a:cs typeface="Menlo"/>
              </a:defRPr>
            </a:defPPr>
          </a:lstStyle>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VALIDATION FAILED: 6 expectation(s) failed</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applicant_id   duplicate      A0072</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age            outside range  15</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annual_income  missing        NaN</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debt_to_income outside range  1.4</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credit_score   outside range  950</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approved       invalid label  3</a:t>
            </a:r>
          </a:p>
          <a:p xmlns:a="http://schemas.openxmlformats.org/drawingml/2006/main">
            <a:r>
              <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TRAINING BLOCKED: fix the data and run the pipeline again</a:t>
            </a:r>
          </a:p>
        </p:txBody>
      </p:sp>
      <p:sp>
        <p:nvSpPr>
          <p:cNvPr id="9" name="">
            <a:extLst xmlns:a="http://schemas.openxmlformats.org/drawingml/2006/main">
              <a:ext uri="{FF2B5EF4-FFF2-40B4-BE49-F238E27FC236}">
                <a16:creationId xmlns:a16="http://schemas.microsoft.com/office/drawing/2014/main" id="{276B8944-E18A-46F1-9F03-75AF62A41155}"/>
              </a:ext>
            </a:extLst>
          </p:cNvPr>
          <p:cNvSpPr>
            <a:spLocks xmlns:a="http://schemas.openxmlformats.org/drawingml/2006/main" noGrp="1"/>
          </p:cNvSpPr>
          <p:nvPr/>
        </p:nvSpPr>
        <p:spPr>
          <a:xfrm xmlns:a="http://schemas.openxmlformats.org/drawingml/2006/main">
            <a:off x="990600" y="5324475"/>
            <a:ext cx="9906000" cy="38100"/>
          </a:xfrm>
          <a:prstGeom xmlns:a="http://schemas.openxmlformats.org/drawingml/2006/main" prst="rect">
            <a:avLst/>
          </a:prstGeom>
          <a:solidFill xmlns:a="http://schemas.openxmlformats.org/drawingml/2006/main">
            <a:srgbClr val="D64545"/>
          </a:solidFill>
          <a:ln xmlns:a="http://schemas.openxmlformats.org/drawingml/2006/main" w="0">
            <a:solidFill>
              <a:srgbClr val="D64545"/>
            </a:solidFill>
            <a:prstDash val="solid"/>
          </a:ln>
        </p:spPr>
      </p:sp>
      <p:sp>
        <p:nvSpPr>
          <p:cNvPr id="10" name="">
            <a:extLst xmlns:a="http://schemas.openxmlformats.org/drawingml/2006/main">
              <a:ext uri="{FF2B5EF4-FFF2-40B4-BE49-F238E27FC236}">
                <a16:creationId xmlns:a16="http://schemas.microsoft.com/office/drawing/2014/main" id="{B2150CCF-E438-447C-AFD3-185D7F3AAFBE}"/>
              </a:ext>
            </a:extLst>
          </p:cNvPr>
          <p:cNvSpPr>
            <a:spLocks xmlns:a="http://schemas.openxmlformats.org/drawingml/2006/main" noGrp="1"/>
          </p:cNvSpPr>
          <p:nvPr/>
        </p:nvSpPr>
        <p:spPr>
          <a:xfrm xmlns:a="http://schemas.openxmlformats.org/drawingml/2006/main">
            <a:off x="9544050" y="5467350"/>
            <a:ext cx="1352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00" b="1">
                <a:solidFill>
                  <a:srgbClr val="F6A8A8"/>
                </a:solidFill>
                <a:latin typeface="Avenir Next"/>
                <a:ea typeface="Avenir Next"/>
                <a:cs typeface="Avenir Next"/>
              </a:defRPr>
            </a:defPPr>
          </a:lstStyle>
          <a:p xmlns:a="http://schemas.openxmlformats.org/drawingml/2006/main">
            <a:pPr algn="r">
              <a:defRPr sz="900" b="1">
                <a:solidFill>
                  <a:srgbClr val="F6A8A8"/>
                </a:solidFill>
                <a:latin typeface="Avenir Next"/>
                <a:ea typeface="Avenir Next"/>
                <a:cs typeface="Avenir Next"/>
              </a:defRPr>
            </a:pPr>
            <a:r>
              <a:rPr sz="900" b="1">
                <a:solidFill>
                  <a:srgbClr val="F6A8A8"/>
                </a:solidFill>
                <a:latin typeface="Avenir Next"/>
                <a:ea typeface="Avenir Next"/>
                <a:cs typeface="Avenir Next"/>
              </a:rPr>
              <a:t>Exit code 2</a:t>
            </a:r>
          </a:p>
        </p:txBody>
      </p:sp>
      <p:sp>
        <p:nvSpPr>
          <p:cNvPr id="11" name="">
            <a:extLst xmlns:a="http://schemas.openxmlformats.org/drawingml/2006/main">
              <a:ext uri="{FF2B5EF4-FFF2-40B4-BE49-F238E27FC236}">
                <a16:creationId xmlns:a16="http://schemas.microsoft.com/office/drawing/2014/main" id="{E9A9FE35-6E0B-48A9-8184-53850C30BF50}"/>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35879810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C1B53D-633E-4735-9476-609E39EC0DC3}"/>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Success unlocks model training</a:t>
            </a:r>
          </a:p>
        </p:txBody>
      </p:sp>
      <p:sp>
        <p:nvSpPr>
          <p:cNvPr id="2" name="">
            <a:extLst xmlns:a="http://schemas.openxmlformats.org/drawingml/2006/main">
              <a:ext uri="{FF2B5EF4-FFF2-40B4-BE49-F238E27FC236}">
                <a16:creationId xmlns:a16="http://schemas.microsoft.com/office/drawing/2014/main" id="{175C4C83-0B83-4BF5-A00E-7963C10D8132}"/>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42C917C3-0ACE-47AE-BFC7-38EF5A808C49}"/>
              </a:ext>
            </a:extLst>
          </p:cNvPr>
          <p:cNvSpPr>
            <a:spLocks xmlns:a="http://schemas.openxmlformats.org/drawingml/2006/main" noGrp="1"/>
          </p:cNvSpPr>
          <p:nvPr/>
        </p:nvSpPr>
        <p:spPr>
          <a:xfrm xmlns:a="http://schemas.openxmlformats.org/drawingml/2006/main">
            <a:off x="685800" y="1133475"/>
            <a:ext cx="1352550" cy="323850"/>
          </a:xfrm>
          <a:prstGeom xmlns:a="http://schemas.openxmlformats.org/drawingml/2006/main" prst="roundRect">
            <a:avLst>
              <a:gd name="adj" fmla="val 35294"/>
            </a:avLst>
          </a:prstGeom>
          <a:solidFill xmlns:a="http://schemas.openxmlformats.org/drawingml/2006/main">
            <a:srgbClr val="E9F7F1"/>
          </a:solidFill>
          <a:ln xmlns:a="http://schemas.openxmlformats.org/drawingml/2006/main" w="0">
            <a:solidFill>
              <a:srgbClr val="E9F7F1"/>
            </a:solidFill>
            <a:prstDash val="solid"/>
          </a:ln>
        </p:spPr>
      </p:sp>
      <p:sp>
        <p:nvSpPr>
          <p:cNvPr id="4" name="">
            <a:extLst xmlns:a="http://schemas.openxmlformats.org/drawingml/2006/main">
              <a:ext uri="{FF2B5EF4-FFF2-40B4-BE49-F238E27FC236}">
                <a16:creationId xmlns:a16="http://schemas.microsoft.com/office/drawing/2014/main" id="{59E7EA11-E9D1-48A2-A511-273B308FFEFB}"/>
              </a:ext>
            </a:extLst>
          </p:cNvPr>
          <p:cNvSpPr>
            <a:spLocks xmlns:a="http://schemas.openxmlformats.org/drawingml/2006/main" noGrp="1"/>
          </p:cNvSpPr>
          <p:nvPr/>
        </p:nvSpPr>
        <p:spPr>
          <a:xfrm xmlns:a="http://schemas.openxmlformats.org/drawingml/2006/main">
            <a:off x="781050" y="120015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1F9D68"/>
                </a:solidFill>
                <a:latin typeface="Avenir Next"/>
                <a:ea typeface="Avenir Next"/>
                <a:cs typeface="Avenir Next"/>
              </a:defRPr>
            </a:defPPr>
          </a:lstStyle>
          <a:p xmlns:a="http://schemas.openxmlformats.org/drawingml/2006/main">
            <a:pPr algn="ctr">
              <a:defRPr sz="900" b="1">
                <a:solidFill>
                  <a:srgbClr val="1F9D68"/>
                </a:solidFill>
                <a:latin typeface="Avenir Next"/>
                <a:ea typeface="Avenir Next"/>
                <a:cs typeface="Avenir Next"/>
              </a:defRPr>
            </a:pPr>
            <a:r>
              <a:rPr sz="900" b="1">
                <a:solidFill>
                  <a:srgbClr val="1F9D68"/>
                </a:solidFill>
                <a:latin typeface="Avenir Next"/>
                <a:ea typeface="Avenir Next"/>
                <a:cs typeface="Avenir Next"/>
              </a:rPr>
              <a:t>CLEAN DATA</a:t>
            </a:r>
          </a:p>
        </p:txBody>
      </p:sp>
      <p:sp>
        <p:nvSpPr>
          <p:cNvPr id="5" name="">
            <a:extLst xmlns:a="http://schemas.openxmlformats.org/drawingml/2006/main">
              <a:ext uri="{FF2B5EF4-FFF2-40B4-BE49-F238E27FC236}">
                <a16:creationId xmlns:a16="http://schemas.microsoft.com/office/drawing/2014/main" id="{EB1E6736-4242-4949-BF2C-DD2745407B19}"/>
              </a:ext>
            </a:extLst>
          </p:cNvPr>
          <p:cNvSpPr>
            <a:spLocks xmlns:a="http://schemas.openxmlformats.org/drawingml/2006/main" noGrp="1"/>
          </p:cNvSpPr>
          <p:nvPr/>
        </p:nvSpPr>
        <p:spPr>
          <a:xfrm xmlns:a="http://schemas.openxmlformats.org/drawingml/2006/main">
            <a:off x="685800" y="1714500"/>
            <a:ext cx="6572250" cy="3105150"/>
          </a:xfrm>
          <a:prstGeom xmlns:a="http://schemas.openxmlformats.org/drawingml/2006/main" prst="roundRect">
            <a:avLst>
              <a:gd name="adj" fmla="val 3681"/>
            </a:avLst>
          </a:prstGeom>
          <a:solidFill xmlns:a="http://schemas.openxmlformats.org/drawingml/2006/main">
            <a:srgbClr val="0B1324"/>
          </a:solidFill>
          <a:ln xmlns:a="http://schemas.openxmlformats.org/drawingml/2006/main" w="0">
            <a:solidFill>
              <a:srgbClr val="0B1324"/>
            </a:solidFill>
            <a:prstDash val="solid"/>
          </a:ln>
        </p:spPr>
      </p:sp>
      <p:sp>
        <p:nvSpPr>
          <p:cNvPr id="6" name="">
            <a:extLst xmlns:a="http://schemas.openxmlformats.org/drawingml/2006/main">
              <a:ext uri="{FF2B5EF4-FFF2-40B4-BE49-F238E27FC236}">
                <a16:creationId xmlns:a16="http://schemas.microsoft.com/office/drawing/2014/main" id="{C73ED3A2-48BB-49AF-969D-509187D3B649}"/>
              </a:ext>
            </a:extLst>
          </p:cNvPr>
          <p:cNvSpPr>
            <a:spLocks xmlns:a="http://schemas.openxmlformats.org/drawingml/2006/main" noGrp="1"/>
          </p:cNvSpPr>
          <p:nvPr/>
        </p:nvSpPr>
        <p:spPr>
          <a:xfrm xmlns:a="http://schemas.openxmlformats.org/drawingml/2006/main">
            <a:off x="990600" y="203835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DA9BF"/>
                </a:solidFill>
                <a:latin typeface="Menlo"/>
                <a:ea typeface="Menlo"/>
                <a:cs typeface="Menlo"/>
              </a:defRPr>
            </a:defPPr>
          </a:lstStyle>
          <a:p xmlns:a="http://schemas.openxmlformats.org/drawingml/2006/main">
            <a:pPr>
              <a:defRPr sz="975" b="0">
                <a:solidFill>
                  <a:srgbClr val="9DA9BF"/>
                </a:solidFill>
                <a:latin typeface="Menlo"/>
                <a:ea typeface="Menlo"/>
                <a:cs typeface="Menlo"/>
              </a:defRPr>
            </a:pPr>
            <a:r>
              <a:rPr sz="975" b="0">
                <a:solidFill>
                  <a:srgbClr val="9DA9BF"/>
                </a:solidFill>
                <a:latin typeface="Menlo"/>
                <a:ea typeface="Menlo"/>
                <a:cs typeface="Menlo"/>
              </a:rPr>
              <a:t>$ python -m src.pipeline --data data/loan_applications_clean.csv</a:t>
            </a:r>
          </a:p>
        </p:txBody>
      </p:sp>
      <p:sp>
        <p:nvSpPr>
          <p:cNvPr id="7" name="">
            <a:extLst xmlns:a="http://schemas.openxmlformats.org/drawingml/2006/main">
              <a:ext uri="{FF2B5EF4-FFF2-40B4-BE49-F238E27FC236}">
                <a16:creationId xmlns:a16="http://schemas.microsoft.com/office/drawing/2014/main" id="{ED4A8611-5873-429D-9DC6-C09A6D1C1FE2}"/>
              </a:ext>
            </a:extLst>
          </p:cNvPr>
          <p:cNvSpPr>
            <a:spLocks xmlns:a="http://schemas.openxmlformats.org/drawingml/2006/main" noGrp="1"/>
          </p:cNvSpPr>
          <p:nvPr/>
        </p:nvSpPr>
        <p:spPr>
          <a:xfrm xmlns:a="http://schemas.openxmlformats.org/drawingml/2006/main">
            <a:off x="990600" y="2857500"/>
            <a:ext cx="561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7CE0B4"/>
                </a:solidFill>
                <a:latin typeface="Menlo"/>
                <a:ea typeface="Menlo"/>
                <a:cs typeface="Menlo"/>
              </a:defRPr>
            </a:defPPr>
          </a:lstStyle>
          <a:p xmlns:a="http://schemas.openxmlformats.org/drawingml/2006/main">
            <a:pPr>
              <a:defRPr sz="1725" b="1">
                <a:solidFill>
                  <a:srgbClr val="7CE0B4"/>
                </a:solidFill>
                <a:latin typeface="Menlo"/>
                <a:ea typeface="Menlo"/>
                <a:cs typeface="Menlo"/>
              </a:defRPr>
            </a:pPr>
            <a:r>
              <a:rPr sz="1725" b="1">
                <a:solidFill>
                  <a:srgbClr val="7CE0B4"/>
                </a:solidFill>
                <a:latin typeface="Menlo"/>
                <a:ea typeface="Menlo"/>
                <a:cs typeface="Menlo"/>
              </a:rPr>
              <a:t>VALIDATION PASSED</a:t>
            </a:r>
          </a:p>
          <a:p xmlns:a="http://schemas.openxmlformats.org/drawingml/2006/main">
            <a:pPr>
              <a:defRPr sz="1725" b="1">
                <a:solidFill>
                  <a:srgbClr val="7CE0B4"/>
                </a:solidFill>
                <a:latin typeface="Menlo"/>
                <a:ea typeface="Menlo"/>
                <a:cs typeface="Menlo"/>
              </a:defRPr>
            </a:pPr>
            <a:r>
              <a:rPr sz="1725" b="1">
                <a:solidFill>
                  <a:srgbClr val="7CE0B4"/>
                </a:solidFill>
                <a:latin typeface="Menlo"/>
                <a:ea typeface="Menlo"/>
                <a:cs typeface="Menlo"/>
              </a:rPr>
              <a:t>13/13 expectations succeeded</a:t>
            </a:r>
          </a:p>
        </p:txBody>
      </p:sp>
      <p:sp>
        <p:nvSpPr>
          <p:cNvPr id="8" name="">
            <a:extLst xmlns:a="http://schemas.openxmlformats.org/drawingml/2006/main">
              <a:ext uri="{FF2B5EF4-FFF2-40B4-BE49-F238E27FC236}">
                <a16:creationId xmlns:a16="http://schemas.microsoft.com/office/drawing/2014/main" id="{4171ED11-30A4-4676-A4C8-45F4E101559D}"/>
              </a:ext>
            </a:extLst>
          </p:cNvPr>
          <p:cNvSpPr>
            <a:spLocks xmlns:a="http://schemas.openxmlformats.org/drawingml/2006/main" noGrp="1"/>
          </p:cNvSpPr>
          <p:nvPr/>
        </p:nvSpPr>
        <p:spPr>
          <a:xfrm xmlns:a="http://schemas.openxmlformats.org/drawingml/2006/main">
            <a:off x="990600" y="3943350"/>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FFFFF"/>
                </a:solidFill>
                <a:latin typeface="Menlo"/>
                <a:ea typeface="Menlo"/>
                <a:cs typeface="Menlo"/>
              </a:defRPr>
            </a:defPPr>
          </a:lstStyle>
          <a:p xmlns:a="http://schemas.openxmlformats.org/drawingml/2006/main">
            <a:pPr>
              <a:defRPr sz="1350" b="0">
                <a:solidFill>
                  <a:srgbClr val="FFFFFF"/>
                </a:solidFill>
                <a:latin typeface="Menlo"/>
                <a:ea typeface="Menlo"/>
                <a:cs typeface="Menlo"/>
              </a:defRPr>
            </a:pPr>
            <a:r>
              <a:rPr sz="1350" b="0">
                <a:solidFill>
                  <a:srgbClr val="FFFFFF"/>
                </a:solidFill>
                <a:latin typeface="Menlo"/>
                <a:ea typeface="Menlo"/>
                <a:cs typeface="Menlo"/>
              </a:rPr>
              <a:t>MODEL TRAINED</a:t>
            </a:r>
          </a:p>
          <a:p xmlns:a="http://schemas.openxmlformats.org/drawingml/2006/main">
            <a:pPr>
              <a:defRPr sz="1350" b="0">
                <a:solidFill>
                  <a:srgbClr val="FFFFFF"/>
                </a:solidFill>
                <a:latin typeface="Menlo"/>
                <a:ea typeface="Menlo"/>
                <a:cs typeface="Menlo"/>
              </a:defRPr>
            </a:pPr>
            <a:r>
              <a:rPr sz="1350" b="0">
                <a:solidFill>
                  <a:srgbClr val="FFFFFF"/>
                </a:solidFill>
                <a:latin typeface="Menlo"/>
                <a:ea typeface="Menlo"/>
                <a:cs typeface="Menlo"/>
              </a:rPr>
              <a:t>accuracy=0.760 on 50 held-out rows</a:t>
            </a:r>
          </a:p>
        </p:txBody>
      </p:sp>
      <p:sp>
        <p:nvSpPr>
          <p:cNvPr id="9" name="">
            <a:extLst xmlns:a="http://schemas.openxmlformats.org/drawingml/2006/main">
              <a:ext uri="{FF2B5EF4-FFF2-40B4-BE49-F238E27FC236}">
                <a16:creationId xmlns:a16="http://schemas.microsoft.com/office/drawing/2014/main" id="{2B63DEA6-9FE3-4DBC-87B1-DC6B4FF71ABB}"/>
              </a:ext>
            </a:extLst>
          </p:cNvPr>
          <p:cNvSpPr>
            <a:spLocks xmlns:a="http://schemas.openxmlformats.org/drawingml/2006/main" noGrp="1"/>
          </p:cNvSpPr>
          <p:nvPr/>
        </p:nvSpPr>
        <p:spPr>
          <a:xfrm xmlns:a="http://schemas.openxmlformats.org/drawingml/2006/main">
            <a:off x="7810500" y="1857375"/>
            <a:ext cx="335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B1324"/>
                </a:solidFill>
                <a:latin typeface="Avenir Next"/>
                <a:ea typeface="Avenir Next"/>
                <a:cs typeface="Avenir Next"/>
              </a:defRPr>
            </a:defPPr>
          </a:lstStyle>
          <a:p xmlns:a="http://schemas.openxmlformats.org/drawingml/2006/main">
            <a:pPr>
              <a:defRPr sz="2100" b="1">
                <a:solidFill>
                  <a:srgbClr val="0B1324"/>
                </a:solidFill>
                <a:latin typeface="Avenir Next"/>
                <a:ea typeface="Avenir Next"/>
                <a:cs typeface="Avenir Next"/>
              </a:defRPr>
            </a:pPr>
            <a:r>
              <a:rPr sz="2100" b="1">
                <a:solidFill>
                  <a:srgbClr val="0B1324"/>
                </a:solidFill>
                <a:latin typeface="Avenir Next"/>
                <a:ea typeface="Avenir Next"/>
                <a:cs typeface="Avenir Next"/>
              </a:rPr>
              <a:t>Only validated data crosses the boundary</a:t>
            </a:r>
          </a:p>
        </p:txBody>
      </p:sp>
      <p:sp>
        <p:nvSpPr>
          <p:cNvPr id="10" name="">
            <a:extLst xmlns:a="http://schemas.openxmlformats.org/drawingml/2006/main">
              <a:ext uri="{FF2B5EF4-FFF2-40B4-BE49-F238E27FC236}">
                <a16:creationId xmlns:a16="http://schemas.microsoft.com/office/drawing/2014/main" id="{485B2A95-7B63-4747-BC32-CAD216AAC691}"/>
              </a:ext>
            </a:extLst>
          </p:cNvPr>
          <p:cNvSpPr>
            <a:spLocks xmlns:a="http://schemas.openxmlformats.org/drawingml/2006/main" noGrp="1"/>
          </p:cNvSpPr>
          <p:nvPr/>
        </p:nvSpPr>
        <p:spPr>
          <a:xfrm xmlns:a="http://schemas.openxmlformats.org/drawingml/2006/main">
            <a:off x="7810500" y="30765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Validation result</a:t>
            </a:r>
          </a:p>
        </p:txBody>
      </p:sp>
      <p:sp>
        <p:nvSpPr>
          <p:cNvPr id="11" name="">
            <a:extLst xmlns:a="http://schemas.openxmlformats.org/drawingml/2006/main">
              <a:ext uri="{FF2B5EF4-FFF2-40B4-BE49-F238E27FC236}">
                <a16:creationId xmlns:a16="http://schemas.microsoft.com/office/drawing/2014/main" id="{4F575FE9-B22C-492F-85ED-B7B62C336E74}"/>
              </a:ext>
            </a:extLst>
          </p:cNvPr>
          <p:cNvSpPr>
            <a:spLocks xmlns:a="http://schemas.openxmlformats.org/drawingml/2006/main" noGrp="1"/>
          </p:cNvSpPr>
          <p:nvPr/>
        </p:nvSpPr>
        <p:spPr>
          <a:xfrm xmlns:a="http://schemas.openxmlformats.org/drawingml/2006/main">
            <a:off x="10306050" y="3009900"/>
            <a:ext cx="857250" cy="323850"/>
          </a:xfrm>
          <a:prstGeom xmlns:a="http://schemas.openxmlformats.org/drawingml/2006/main" prst="roundRect">
            <a:avLst>
              <a:gd name="adj" fmla="val 35294"/>
            </a:avLst>
          </a:prstGeom>
          <a:solidFill xmlns:a="http://schemas.openxmlformats.org/drawingml/2006/main">
            <a:srgbClr val="E9F7F1"/>
          </a:solidFill>
          <a:ln xmlns:a="http://schemas.openxmlformats.org/drawingml/2006/main" w="0">
            <a:solidFill>
              <a:srgbClr val="E9F7F1"/>
            </a:solidFill>
            <a:prstDash val="solid"/>
          </a:ln>
        </p:spPr>
      </p:sp>
      <p:sp>
        <p:nvSpPr>
          <p:cNvPr id="12" name="">
            <a:extLst xmlns:a="http://schemas.openxmlformats.org/drawingml/2006/main">
              <a:ext uri="{FF2B5EF4-FFF2-40B4-BE49-F238E27FC236}">
                <a16:creationId xmlns:a16="http://schemas.microsoft.com/office/drawing/2014/main" id="{30EB5A77-4E47-42A3-833A-772A888FEC46}"/>
              </a:ext>
            </a:extLst>
          </p:cNvPr>
          <p:cNvSpPr>
            <a:spLocks xmlns:a="http://schemas.openxmlformats.org/drawingml/2006/main" noGrp="1"/>
          </p:cNvSpPr>
          <p:nvPr/>
        </p:nvSpPr>
        <p:spPr>
          <a:xfrm xmlns:a="http://schemas.openxmlformats.org/drawingml/2006/main">
            <a:off x="10401300" y="30765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1F9D68"/>
                </a:solidFill>
                <a:latin typeface="Avenir Next"/>
                <a:ea typeface="Avenir Next"/>
                <a:cs typeface="Avenir Next"/>
              </a:defRPr>
            </a:defPPr>
          </a:lstStyle>
          <a:p xmlns:a="http://schemas.openxmlformats.org/drawingml/2006/main">
            <a:pPr algn="ctr">
              <a:defRPr sz="900" b="1">
                <a:solidFill>
                  <a:srgbClr val="1F9D68"/>
                </a:solidFill>
                <a:latin typeface="Avenir Next"/>
                <a:ea typeface="Avenir Next"/>
                <a:cs typeface="Avenir Next"/>
              </a:defRPr>
            </a:pPr>
            <a:r>
              <a:rPr sz="900" b="1">
                <a:solidFill>
                  <a:srgbClr val="1F9D68"/>
                </a:solidFill>
                <a:latin typeface="Avenir Next"/>
                <a:ea typeface="Avenir Next"/>
                <a:cs typeface="Avenir Next"/>
              </a:rPr>
              <a:t>PASS</a:t>
            </a:r>
          </a:p>
        </p:txBody>
      </p:sp>
      <p:sp>
        <p:nvSpPr>
          <p:cNvPr id="13" name="">
            <a:extLst xmlns:a="http://schemas.openxmlformats.org/drawingml/2006/main">
              <a:ext uri="{FF2B5EF4-FFF2-40B4-BE49-F238E27FC236}">
                <a16:creationId xmlns:a16="http://schemas.microsoft.com/office/drawing/2014/main" id="{4A8F6F50-DF0C-4B19-B372-DF645F218194}"/>
              </a:ext>
            </a:extLst>
          </p:cNvPr>
          <p:cNvSpPr>
            <a:spLocks xmlns:a="http://schemas.openxmlformats.org/drawingml/2006/main" noGrp="1"/>
          </p:cNvSpPr>
          <p:nvPr/>
        </p:nvSpPr>
        <p:spPr>
          <a:xfrm xmlns:a="http://schemas.openxmlformats.org/drawingml/2006/main">
            <a:off x="7810500" y="37814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Training call</a:t>
            </a:r>
          </a:p>
        </p:txBody>
      </p:sp>
      <p:sp>
        <p:nvSpPr>
          <p:cNvPr id="14" name="">
            <a:extLst xmlns:a="http://schemas.openxmlformats.org/drawingml/2006/main">
              <a:ext uri="{FF2B5EF4-FFF2-40B4-BE49-F238E27FC236}">
                <a16:creationId xmlns:a16="http://schemas.microsoft.com/office/drawing/2014/main" id="{35764FBD-D932-4AEF-AA18-C6DD4DF9193E}"/>
              </a:ext>
            </a:extLst>
          </p:cNvPr>
          <p:cNvSpPr>
            <a:spLocks xmlns:a="http://schemas.openxmlformats.org/drawingml/2006/main" noGrp="1"/>
          </p:cNvSpPr>
          <p:nvPr/>
        </p:nvSpPr>
        <p:spPr>
          <a:xfrm xmlns:a="http://schemas.openxmlformats.org/drawingml/2006/main">
            <a:off x="10306050" y="3714750"/>
            <a:ext cx="857250" cy="323850"/>
          </a:xfrm>
          <a:prstGeom xmlns:a="http://schemas.openxmlformats.org/drawingml/2006/main" prst="roundRect">
            <a:avLst>
              <a:gd name="adj" fmla="val 35294"/>
            </a:avLst>
          </a:prstGeom>
          <a:solidFill xmlns:a="http://schemas.openxmlformats.org/drawingml/2006/main">
            <a:srgbClr val="EAF0FF"/>
          </a:solidFill>
          <a:ln xmlns:a="http://schemas.openxmlformats.org/drawingml/2006/main" w="0">
            <a:solidFill>
              <a:srgbClr val="EAF0FF"/>
            </a:solidFill>
            <a:prstDash val="solid"/>
          </a:ln>
        </p:spPr>
      </p:sp>
      <p:sp>
        <p:nvSpPr>
          <p:cNvPr id="15" name="">
            <a:extLst xmlns:a="http://schemas.openxmlformats.org/drawingml/2006/main">
              <a:ext uri="{FF2B5EF4-FFF2-40B4-BE49-F238E27FC236}">
                <a16:creationId xmlns:a16="http://schemas.microsoft.com/office/drawing/2014/main" id="{7A8053FE-E01C-4593-9153-36DB5C6EADD5}"/>
              </a:ext>
            </a:extLst>
          </p:cNvPr>
          <p:cNvSpPr>
            <a:spLocks xmlns:a="http://schemas.openxmlformats.org/drawingml/2006/main" noGrp="1"/>
          </p:cNvSpPr>
          <p:nvPr/>
        </p:nvSpPr>
        <p:spPr>
          <a:xfrm xmlns:a="http://schemas.openxmlformats.org/drawingml/2006/main">
            <a:off x="10401300" y="37814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3E6AE1"/>
                </a:solidFill>
                <a:latin typeface="Avenir Next"/>
                <a:ea typeface="Avenir Next"/>
                <a:cs typeface="Avenir Next"/>
              </a:defRPr>
            </a:defPPr>
          </a:lstStyle>
          <a:p xmlns:a="http://schemas.openxmlformats.org/drawingml/2006/main">
            <a:pPr algn="ctr">
              <a:defRPr sz="900" b="1">
                <a:solidFill>
                  <a:srgbClr val="3E6AE1"/>
                </a:solidFill>
                <a:latin typeface="Avenir Next"/>
                <a:ea typeface="Avenir Next"/>
                <a:cs typeface="Avenir Next"/>
              </a:defRPr>
            </a:pPr>
            <a:r>
              <a:rPr sz="900" b="1">
                <a:solidFill>
                  <a:srgbClr val="3E6AE1"/>
                </a:solidFill>
                <a:latin typeface="Avenir Next"/>
                <a:ea typeface="Avenir Next"/>
                <a:cs typeface="Avenir Next"/>
              </a:rPr>
              <a:t>RUN</a:t>
            </a:r>
          </a:p>
        </p:txBody>
      </p:sp>
      <p:sp>
        <p:nvSpPr>
          <p:cNvPr id="16" name="">
            <a:extLst xmlns:a="http://schemas.openxmlformats.org/drawingml/2006/main">
              <a:ext uri="{FF2B5EF4-FFF2-40B4-BE49-F238E27FC236}">
                <a16:creationId xmlns:a16="http://schemas.microsoft.com/office/drawing/2014/main" id="{D8890900-D75A-410A-B972-27C5143251BD}"/>
              </a:ext>
            </a:extLst>
          </p:cNvPr>
          <p:cNvSpPr>
            <a:spLocks xmlns:a="http://schemas.openxmlformats.org/drawingml/2006/main" noGrp="1"/>
          </p:cNvSpPr>
          <p:nvPr/>
        </p:nvSpPr>
        <p:spPr>
          <a:xfrm xmlns:a="http://schemas.openxmlformats.org/drawingml/2006/main">
            <a:off x="7810500" y="44862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Evidence written</a:t>
            </a:r>
          </a:p>
        </p:txBody>
      </p:sp>
      <p:sp>
        <p:nvSpPr>
          <p:cNvPr id="17" name="">
            <a:extLst xmlns:a="http://schemas.openxmlformats.org/drawingml/2006/main">
              <a:ext uri="{FF2B5EF4-FFF2-40B4-BE49-F238E27FC236}">
                <a16:creationId xmlns:a16="http://schemas.microsoft.com/office/drawing/2014/main" id="{24643AF6-6116-4630-B20A-17147DFB84A3}"/>
              </a:ext>
            </a:extLst>
          </p:cNvPr>
          <p:cNvSpPr>
            <a:spLocks xmlns:a="http://schemas.openxmlformats.org/drawingml/2006/main" noGrp="1"/>
          </p:cNvSpPr>
          <p:nvPr/>
        </p:nvSpPr>
        <p:spPr>
          <a:xfrm xmlns:a="http://schemas.openxmlformats.org/drawingml/2006/main">
            <a:off x="10306050" y="4419600"/>
            <a:ext cx="857250" cy="323850"/>
          </a:xfrm>
          <a:prstGeom xmlns:a="http://schemas.openxmlformats.org/drawingml/2006/main" prst="roundRect">
            <a:avLst>
              <a:gd name="adj" fmla="val 35294"/>
            </a:avLst>
          </a:prstGeom>
          <a:solidFill xmlns:a="http://schemas.openxmlformats.org/drawingml/2006/main">
            <a:srgbClr val="FFF0EA"/>
          </a:solidFill>
          <a:ln xmlns:a="http://schemas.openxmlformats.org/drawingml/2006/main" w="0">
            <a:solidFill>
              <a:srgbClr val="FFF0EA"/>
            </a:solidFill>
            <a:prstDash val="solid"/>
          </a:ln>
        </p:spPr>
      </p:sp>
      <p:sp>
        <p:nvSpPr>
          <p:cNvPr id="18" name="">
            <a:extLst xmlns:a="http://schemas.openxmlformats.org/drawingml/2006/main">
              <a:ext uri="{FF2B5EF4-FFF2-40B4-BE49-F238E27FC236}">
                <a16:creationId xmlns:a16="http://schemas.microsoft.com/office/drawing/2014/main" id="{BCC48F01-3AEC-4674-B5D1-CCCB6017A756}"/>
              </a:ext>
            </a:extLst>
          </p:cNvPr>
          <p:cNvSpPr>
            <a:spLocks xmlns:a="http://schemas.openxmlformats.org/drawingml/2006/main" noGrp="1"/>
          </p:cNvSpPr>
          <p:nvPr/>
        </p:nvSpPr>
        <p:spPr>
          <a:xfrm xmlns:a="http://schemas.openxmlformats.org/drawingml/2006/main">
            <a:off x="10401300" y="44862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F05A28"/>
                </a:solidFill>
                <a:latin typeface="Avenir Next"/>
                <a:ea typeface="Avenir Next"/>
                <a:cs typeface="Avenir Next"/>
              </a:defRPr>
            </a:defPPr>
          </a:lstStyle>
          <a:p xmlns:a="http://schemas.openxmlformats.org/drawingml/2006/main">
            <a:pPr algn="ctr">
              <a:defRPr sz="900" b="1">
                <a:solidFill>
                  <a:srgbClr val="F05A28"/>
                </a:solidFill>
                <a:latin typeface="Avenir Next"/>
                <a:ea typeface="Avenir Next"/>
                <a:cs typeface="Avenir Next"/>
              </a:defRPr>
            </a:pPr>
            <a:r>
              <a:rPr sz="900" b="1">
                <a:solidFill>
                  <a:srgbClr val="F05A28"/>
                </a:solidFill>
                <a:latin typeface="Avenir Next"/>
                <a:ea typeface="Avenir Next"/>
                <a:cs typeface="Avenir Next"/>
              </a:rPr>
              <a:t>JSON</a:t>
            </a:r>
          </a:p>
        </p:txBody>
      </p:sp>
      <p:sp>
        <p:nvSpPr>
          <p:cNvPr id="19" name="">
            <a:extLst xmlns:a="http://schemas.openxmlformats.org/drawingml/2006/main">
              <a:ext uri="{FF2B5EF4-FFF2-40B4-BE49-F238E27FC236}">
                <a16:creationId xmlns:a16="http://schemas.microsoft.com/office/drawing/2014/main" id="{2726A758-8FAB-491F-9D0B-738B28304B1B}"/>
              </a:ext>
            </a:extLst>
          </p:cNvPr>
          <p:cNvSpPr>
            <a:spLocks xmlns:a="http://schemas.openxmlformats.org/drawingml/2006/main" noGrp="1"/>
          </p:cNvSpPr>
          <p:nvPr/>
        </p:nvSpPr>
        <p:spPr>
          <a:xfrm xmlns:a="http://schemas.openxmlformats.org/drawingml/2006/main">
            <a:off x="685800" y="52197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The metric proves that the rest of the pipeline ran. It is not a model-quality claim.</a:t>
            </a:r>
          </a:p>
        </p:txBody>
      </p:sp>
      <p:sp>
        <p:nvSpPr>
          <p:cNvPr id="20" name="">
            <a:extLst xmlns:a="http://schemas.openxmlformats.org/drawingml/2006/main">
              <a:ext uri="{FF2B5EF4-FFF2-40B4-BE49-F238E27FC236}">
                <a16:creationId xmlns:a16="http://schemas.microsoft.com/office/drawing/2014/main" id="{DD4B8751-573C-464F-B27A-6F89BF487F67}"/>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2184140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E7B2E6C-14EA-4DCB-BA28-7287809C6010}"/>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Four-minute live demo</a:t>
            </a:r>
          </a:p>
        </p:txBody>
      </p:sp>
      <p:sp>
        <p:nvSpPr>
          <p:cNvPr id="2" name="">
            <a:extLst xmlns:a="http://schemas.openxmlformats.org/drawingml/2006/main">
              <a:ext uri="{FF2B5EF4-FFF2-40B4-BE49-F238E27FC236}">
                <a16:creationId xmlns:a16="http://schemas.microsoft.com/office/drawing/2014/main" id="{88548041-247C-46A3-8587-A334026E21EE}"/>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4201DB1A-0137-40B0-A5C4-85F41743998F}"/>
              </a:ext>
            </a:extLst>
          </p:cNvPr>
          <p:cNvSpPr>
            <a:spLocks xmlns:a="http://schemas.openxmlformats.org/drawingml/2006/main" noGrp="1"/>
          </p:cNvSpPr>
          <p:nvPr/>
        </p:nvSpPr>
        <p:spPr>
          <a:xfrm xmlns:a="http://schemas.openxmlformats.org/drawingml/2006/main">
            <a:off x="685800" y="114300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The demo shows the same code path with two inputs.</a:t>
            </a:r>
          </a:p>
        </p:txBody>
      </p:sp>
      <p:sp>
        <p:nvSpPr>
          <p:cNvPr id="4" name="">
            <a:extLst xmlns:a="http://schemas.openxmlformats.org/drawingml/2006/main">
              <a:ext uri="{FF2B5EF4-FFF2-40B4-BE49-F238E27FC236}">
                <a16:creationId xmlns:a16="http://schemas.microsoft.com/office/drawing/2014/main" id="{D12018C3-38EE-41ED-B443-CEDE8ADC9EBA}"/>
              </a:ext>
            </a:extLst>
          </p:cNvPr>
          <p:cNvSpPr>
            <a:spLocks xmlns:a="http://schemas.openxmlformats.org/drawingml/2006/main" noGrp="1"/>
          </p:cNvSpPr>
          <p:nvPr/>
        </p:nvSpPr>
        <p:spPr>
          <a:xfrm xmlns:a="http://schemas.openxmlformats.org/drawingml/2006/main">
            <a:off x="685800" y="1847850"/>
            <a:ext cx="876300" cy="419100"/>
          </a:xfrm>
          <a:prstGeom xmlns:a="http://schemas.openxmlformats.org/drawingml/2006/main" prst="roundRect">
            <a:avLst>
              <a:gd name="adj" fmla="val 27273"/>
            </a:avLst>
          </a:prstGeom>
          <a:solidFill xmlns:a="http://schemas.openxmlformats.org/drawingml/2006/main">
            <a:srgbClr val="EAF0FF"/>
          </a:solidFill>
          <a:ln xmlns:a="http://schemas.openxmlformats.org/drawingml/2006/main" w="0">
            <a:solidFill>
              <a:srgbClr val="EAF0FF"/>
            </a:solidFill>
            <a:prstDash val="solid"/>
          </a:ln>
        </p:spPr>
      </p:sp>
      <p:sp>
        <p:nvSpPr>
          <p:cNvPr id="5" name="">
            <a:extLst xmlns:a="http://schemas.openxmlformats.org/drawingml/2006/main">
              <a:ext uri="{FF2B5EF4-FFF2-40B4-BE49-F238E27FC236}">
                <a16:creationId xmlns:a16="http://schemas.microsoft.com/office/drawing/2014/main" id="{9D74E7C0-7289-4CBF-82F4-73B094AD1101}"/>
              </a:ext>
            </a:extLst>
          </p:cNvPr>
          <p:cNvSpPr>
            <a:spLocks xmlns:a="http://schemas.openxmlformats.org/drawingml/2006/main" noGrp="1"/>
          </p:cNvSpPr>
          <p:nvPr/>
        </p:nvSpPr>
        <p:spPr>
          <a:xfrm xmlns:a="http://schemas.openxmlformats.org/drawingml/2006/main">
            <a:off x="685800" y="195262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3E6AE1"/>
                </a:solidFill>
                <a:latin typeface="Avenir Next"/>
                <a:ea typeface="Avenir Next"/>
                <a:cs typeface="Avenir Next"/>
              </a:defRPr>
            </a:defPPr>
          </a:lstStyle>
          <a:p xmlns:a="http://schemas.openxmlformats.org/drawingml/2006/main">
            <a:pPr algn="ctr">
              <a:defRPr sz="975" b="1">
                <a:solidFill>
                  <a:srgbClr val="3E6AE1"/>
                </a:solidFill>
                <a:latin typeface="Avenir Next"/>
                <a:ea typeface="Avenir Next"/>
                <a:cs typeface="Avenir Next"/>
              </a:defRPr>
            </a:pPr>
            <a:r>
              <a:rPr sz="975" b="1">
                <a:solidFill>
                  <a:srgbClr val="3E6AE1"/>
                </a:solidFill>
                <a:latin typeface="Avenir Next"/>
                <a:ea typeface="Avenir Next"/>
                <a:cs typeface="Avenir Next"/>
              </a:rPr>
              <a:t>0:00</a:t>
            </a:r>
          </a:p>
        </p:txBody>
      </p:sp>
      <p:sp>
        <p:nvSpPr>
          <p:cNvPr id="6" name="">
            <a:extLst xmlns:a="http://schemas.openxmlformats.org/drawingml/2006/main">
              <a:ext uri="{FF2B5EF4-FFF2-40B4-BE49-F238E27FC236}">
                <a16:creationId xmlns:a16="http://schemas.microsoft.com/office/drawing/2014/main" id="{53E58245-C966-499C-96DF-EC770176C15B}"/>
              </a:ext>
            </a:extLst>
          </p:cNvPr>
          <p:cNvSpPr>
            <a:spLocks xmlns:a="http://schemas.openxmlformats.org/drawingml/2006/main" noGrp="1"/>
          </p:cNvSpPr>
          <p:nvPr/>
        </p:nvSpPr>
        <p:spPr>
          <a:xfrm xmlns:a="http://schemas.openxmlformats.org/drawingml/2006/main">
            <a:off x="1905000" y="180975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Inspect the data</a:t>
            </a:r>
          </a:p>
        </p:txBody>
      </p:sp>
      <p:sp>
        <p:nvSpPr>
          <p:cNvPr id="7" name="">
            <a:extLst xmlns:a="http://schemas.openxmlformats.org/drawingml/2006/main">
              <a:ext uri="{FF2B5EF4-FFF2-40B4-BE49-F238E27FC236}">
                <a16:creationId xmlns:a16="http://schemas.microsoft.com/office/drawing/2014/main" id="{2897AB0F-B1E1-42F2-89CD-E3FCF851B49E}"/>
              </a:ext>
            </a:extLst>
          </p:cNvPr>
          <p:cNvSpPr>
            <a:spLocks xmlns:a="http://schemas.openxmlformats.org/drawingml/2006/main" noGrp="1"/>
          </p:cNvSpPr>
          <p:nvPr/>
        </p:nvSpPr>
        <p:spPr>
          <a:xfrm xmlns:a="http://schemas.openxmlformats.org/drawingml/2006/main">
            <a:off x="4572000" y="18288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Show one invalid row in the bad CSV</a:t>
            </a:r>
          </a:p>
        </p:txBody>
      </p:sp>
      <p:cxnSp>
        <p:nvCxnSpPr>
          <p:cNvPr id="8" name="">
            <a:extLst xmlns:a="http://schemas.openxmlformats.org/drawingml/2006/main">
              <a:ext uri="{FF2B5EF4-FFF2-40B4-BE49-F238E27FC236}">
                <a16:creationId xmlns:a16="http://schemas.microsoft.com/office/drawing/2014/main" id="{6514CE1D-2989-4AF4-834E-AFE8BED467CA}"/>
              </a:ext>
            </a:extLst>
          </p:cNvPr>
          <p:cNvCxnSpPr/>
          <p:nvPr/>
        </p:nvCxnSpPr>
        <p:spPr>
          <a:xfrm xmlns:a="http://schemas.openxmlformats.org/drawingml/2006/main">
            <a:off x="1123950" y="2266950"/>
            <a:ext cx="0" cy="323850"/>
          </a:xfrm>
          <a:prstGeom xmlns:a="http://schemas.openxmlformats.org/drawingml/2006/main" prst="bentConnector4">
            <a:avLst/>
          </a:prstGeom>
          <a:ln xmlns:a="http://schemas.openxmlformats.org/drawingml/2006/main" w="19050">
            <a:solidFill>
              <a:srgbClr val="D9DEE8"/>
            </a:solidFill>
            <a:prstDash val="solid"/>
          </a:ln>
        </p:spPr>
      </p:cxnSp>
      <p:sp>
        <p:nvSpPr>
          <p:cNvPr id="9" name="">
            <a:extLst xmlns:a="http://schemas.openxmlformats.org/drawingml/2006/main">
              <a:ext uri="{FF2B5EF4-FFF2-40B4-BE49-F238E27FC236}">
                <a16:creationId xmlns:a16="http://schemas.microsoft.com/office/drawing/2014/main" id="{8F516AF2-448F-4AB7-8367-2EAA70C88214}"/>
              </a:ext>
            </a:extLst>
          </p:cNvPr>
          <p:cNvSpPr>
            <a:spLocks xmlns:a="http://schemas.openxmlformats.org/drawingml/2006/main" noGrp="1"/>
          </p:cNvSpPr>
          <p:nvPr/>
        </p:nvSpPr>
        <p:spPr>
          <a:xfrm xmlns:a="http://schemas.openxmlformats.org/drawingml/2006/main">
            <a:off x="685800" y="2628900"/>
            <a:ext cx="876300" cy="419100"/>
          </a:xfrm>
          <a:prstGeom xmlns:a="http://schemas.openxmlformats.org/drawingml/2006/main" prst="roundRect">
            <a:avLst>
              <a:gd name="adj" fmla="val 27273"/>
            </a:avLst>
          </a:prstGeom>
          <a:solidFill xmlns:a="http://schemas.openxmlformats.org/drawingml/2006/main">
            <a:srgbClr val="EAF0FF"/>
          </a:solidFill>
          <a:ln xmlns:a="http://schemas.openxmlformats.org/drawingml/2006/main" w="0">
            <a:solidFill>
              <a:srgbClr val="EAF0FF"/>
            </a:solidFill>
            <a:prstDash val="solid"/>
          </a:ln>
        </p:spPr>
      </p:sp>
      <p:sp>
        <p:nvSpPr>
          <p:cNvPr id="10" name="">
            <a:extLst xmlns:a="http://schemas.openxmlformats.org/drawingml/2006/main">
              <a:ext uri="{FF2B5EF4-FFF2-40B4-BE49-F238E27FC236}">
                <a16:creationId xmlns:a16="http://schemas.microsoft.com/office/drawing/2014/main" id="{DBB14C5F-364B-4A1F-9F0A-16F27B170CFD}"/>
              </a:ext>
            </a:extLst>
          </p:cNvPr>
          <p:cNvSpPr>
            <a:spLocks xmlns:a="http://schemas.openxmlformats.org/drawingml/2006/main" noGrp="1"/>
          </p:cNvSpPr>
          <p:nvPr/>
        </p:nvSpPr>
        <p:spPr>
          <a:xfrm xmlns:a="http://schemas.openxmlformats.org/drawingml/2006/main">
            <a:off x="685800" y="27336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3E6AE1"/>
                </a:solidFill>
                <a:latin typeface="Avenir Next"/>
                <a:ea typeface="Avenir Next"/>
                <a:cs typeface="Avenir Next"/>
              </a:defRPr>
            </a:defPPr>
          </a:lstStyle>
          <a:p xmlns:a="http://schemas.openxmlformats.org/drawingml/2006/main">
            <a:pPr algn="ctr">
              <a:defRPr sz="975" b="1">
                <a:solidFill>
                  <a:srgbClr val="3E6AE1"/>
                </a:solidFill>
                <a:latin typeface="Avenir Next"/>
                <a:ea typeface="Avenir Next"/>
                <a:cs typeface="Avenir Next"/>
              </a:defRPr>
            </a:pPr>
            <a:r>
              <a:rPr sz="975" b="1">
                <a:solidFill>
                  <a:srgbClr val="3E6AE1"/>
                </a:solidFill>
                <a:latin typeface="Avenir Next"/>
                <a:ea typeface="Avenir Next"/>
                <a:cs typeface="Avenir Next"/>
              </a:rPr>
              <a:t>0:40</a:t>
            </a:r>
          </a:p>
        </p:txBody>
      </p:sp>
      <p:sp>
        <p:nvSpPr>
          <p:cNvPr id="11" name="">
            <a:extLst xmlns:a="http://schemas.openxmlformats.org/drawingml/2006/main">
              <a:ext uri="{FF2B5EF4-FFF2-40B4-BE49-F238E27FC236}">
                <a16:creationId xmlns:a16="http://schemas.microsoft.com/office/drawing/2014/main" id="{BDB968F4-423F-4AEA-A8DB-2C915AE25EDF}"/>
              </a:ext>
            </a:extLst>
          </p:cNvPr>
          <p:cNvSpPr>
            <a:spLocks xmlns:a="http://schemas.openxmlformats.org/drawingml/2006/main" noGrp="1"/>
          </p:cNvSpPr>
          <p:nvPr/>
        </p:nvSpPr>
        <p:spPr>
          <a:xfrm xmlns:a="http://schemas.openxmlformats.org/drawingml/2006/main">
            <a:off x="1905000" y="25908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Inspect the contract</a:t>
            </a:r>
          </a:p>
        </p:txBody>
      </p:sp>
      <p:sp>
        <p:nvSpPr>
          <p:cNvPr id="12" name="">
            <a:extLst xmlns:a="http://schemas.openxmlformats.org/drawingml/2006/main">
              <a:ext uri="{FF2B5EF4-FFF2-40B4-BE49-F238E27FC236}">
                <a16:creationId xmlns:a16="http://schemas.microsoft.com/office/drawing/2014/main" id="{5A2BAFCE-7956-4749-8C6D-854FDFEC444A}"/>
              </a:ext>
            </a:extLst>
          </p:cNvPr>
          <p:cNvSpPr>
            <a:spLocks xmlns:a="http://schemas.openxmlformats.org/drawingml/2006/main" noGrp="1"/>
          </p:cNvSpPr>
          <p:nvPr/>
        </p:nvSpPr>
        <p:spPr>
          <a:xfrm xmlns:a="http://schemas.openxmlformats.org/drawingml/2006/main">
            <a:off x="4572000" y="26098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Open build_expectation_suite()</a:t>
            </a:r>
          </a:p>
        </p:txBody>
      </p:sp>
      <p:cxnSp>
        <p:nvCxnSpPr>
          <p:cNvPr id="13" name="">
            <a:extLst xmlns:a="http://schemas.openxmlformats.org/drawingml/2006/main">
              <a:ext uri="{FF2B5EF4-FFF2-40B4-BE49-F238E27FC236}">
                <a16:creationId xmlns:a16="http://schemas.microsoft.com/office/drawing/2014/main" id="{2A8AD006-082A-446B-B735-9D78CB6E0395}"/>
              </a:ext>
            </a:extLst>
          </p:cNvPr>
          <p:cNvCxnSpPr/>
          <p:nvPr/>
        </p:nvCxnSpPr>
        <p:spPr>
          <a:xfrm xmlns:a="http://schemas.openxmlformats.org/drawingml/2006/main">
            <a:off x="1123950" y="3048000"/>
            <a:ext cx="0" cy="323850"/>
          </a:xfrm>
          <a:prstGeom xmlns:a="http://schemas.openxmlformats.org/drawingml/2006/main" prst="bentConnector4">
            <a:avLst/>
          </a:prstGeom>
          <a:ln xmlns:a="http://schemas.openxmlformats.org/drawingml/2006/main" w="19050">
            <a:solidFill>
              <a:srgbClr val="D9DEE8"/>
            </a:solidFill>
            <a:prstDash val="solid"/>
          </a:ln>
        </p:spPr>
      </p:cxnSp>
      <p:sp>
        <p:nvSpPr>
          <p:cNvPr id="14" name="">
            <a:extLst xmlns:a="http://schemas.openxmlformats.org/drawingml/2006/main">
              <a:ext uri="{FF2B5EF4-FFF2-40B4-BE49-F238E27FC236}">
                <a16:creationId xmlns:a16="http://schemas.microsoft.com/office/drawing/2014/main" id="{D5BFC48F-FCD4-44D0-B33C-C90E9A6E870E}"/>
              </a:ext>
            </a:extLst>
          </p:cNvPr>
          <p:cNvSpPr>
            <a:spLocks xmlns:a="http://schemas.openxmlformats.org/drawingml/2006/main" noGrp="1"/>
          </p:cNvSpPr>
          <p:nvPr/>
        </p:nvSpPr>
        <p:spPr>
          <a:xfrm xmlns:a="http://schemas.openxmlformats.org/drawingml/2006/main">
            <a:off x="685800" y="3409950"/>
            <a:ext cx="876300" cy="419100"/>
          </a:xfrm>
          <a:prstGeom xmlns:a="http://schemas.openxmlformats.org/drawingml/2006/main" prst="roundRect">
            <a:avLst>
              <a:gd name="adj" fmla="val 27273"/>
            </a:avLst>
          </a:prstGeom>
          <a:solidFill xmlns:a="http://schemas.openxmlformats.org/drawingml/2006/main">
            <a:srgbClr val="FDECEC"/>
          </a:solidFill>
          <a:ln xmlns:a="http://schemas.openxmlformats.org/drawingml/2006/main" w="0">
            <a:solidFill>
              <a:srgbClr val="FDECEC"/>
            </a:solidFill>
            <a:prstDash val="solid"/>
          </a:ln>
        </p:spPr>
      </p:sp>
      <p:sp>
        <p:nvSpPr>
          <p:cNvPr id="15" name="">
            <a:extLst xmlns:a="http://schemas.openxmlformats.org/drawingml/2006/main">
              <a:ext uri="{FF2B5EF4-FFF2-40B4-BE49-F238E27FC236}">
                <a16:creationId xmlns:a16="http://schemas.microsoft.com/office/drawing/2014/main" id="{7BFCA116-29E3-4FE7-B36E-50256223A7D3}"/>
              </a:ext>
            </a:extLst>
          </p:cNvPr>
          <p:cNvSpPr>
            <a:spLocks xmlns:a="http://schemas.openxmlformats.org/drawingml/2006/main" noGrp="1"/>
          </p:cNvSpPr>
          <p:nvPr/>
        </p:nvSpPr>
        <p:spPr>
          <a:xfrm xmlns:a="http://schemas.openxmlformats.org/drawingml/2006/main">
            <a:off x="685800" y="351472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D64545"/>
                </a:solidFill>
                <a:latin typeface="Avenir Next"/>
                <a:ea typeface="Avenir Next"/>
                <a:cs typeface="Avenir Next"/>
              </a:defRPr>
            </a:defPPr>
          </a:lstStyle>
          <a:p xmlns:a="http://schemas.openxmlformats.org/drawingml/2006/main">
            <a:pPr algn="ctr">
              <a:defRPr sz="975" b="1">
                <a:solidFill>
                  <a:srgbClr val="D64545"/>
                </a:solidFill>
                <a:latin typeface="Avenir Next"/>
                <a:ea typeface="Avenir Next"/>
                <a:cs typeface="Avenir Next"/>
              </a:defRPr>
            </a:pPr>
            <a:r>
              <a:rPr sz="975" b="1">
                <a:solidFill>
                  <a:srgbClr val="D64545"/>
                </a:solidFill>
                <a:latin typeface="Avenir Next"/>
                <a:ea typeface="Avenir Next"/>
                <a:cs typeface="Avenir Next"/>
              </a:rPr>
              <a:t>1:25</a:t>
            </a:r>
          </a:p>
        </p:txBody>
      </p:sp>
      <p:sp>
        <p:nvSpPr>
          <p:cNvPr id="16" name="">
            <a:extLst xmlns:a="http://schemas.openxmlformats.org/drawingml/2006/main">
              <a:ext uri="{FF2B5EF4-FFF2-40B4-BE49-F238E27FC236}">
                <a16:creationId xmlns:a16="http://schemas.microsoft.com/office/drawing/2014/main" id="{C54E2142-882B-4E7C-9418-1E98F074960E}"/>
              </a:ext>
            </a:extLst>
          </p:cNvPr>
          <p:cNvSpPr>
            <a:spLocks xmlns:a="http://schemas.openxmlformats.org/drawingml/2006/main" noGrp="1"/>
          </p:cNvSpPr>
          <p:nvPr/>
        </p:nvSpPr>
        <p:spPr>
          <a:xfrm xmlns:a="http://schemas.openxmlformats.org/drawingml/2006/main">
            <a:off x="1905000" y="337185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Run bad data</a:t>
            </a:r>
          </a:p>
        </p:txBody>
      </p:sp>
      <p:sp>
        <p:nvSpPr>
          <p:cNvPr id="17" name="">
            <a:extLst xmlns:a="http://schemas.openxmlformats.org/drawingml/2006/main">
              <a:ext uri="{FF2B5EF4-FFF2-40B4-BE49-F238E27FC236}">
                <a16:creationId xmlns:a16="http://schemas.microsoft.com/office/drawing/2014/main" id="{92DA95B6-027C-4538-8711-30B839DBA4B7}"/>
              </a:ext>
            </a:extLst>
          </p:cNvPr>
          <p:cNvSpPr>
            <a:spLocks xmlns:a="http://schemas.openxmlformats.org/drawingml/2006/main" noGrp="1"/>
          </p:cNvSpPr>
          <p:nvPr/>
        </p:nvSpPr>
        <p:spPr>
          <a:xfrm xmlns:a="http://schemas.openxmlformats.org/drawingml/2006/main">
            <a:off x="4572000" y="33909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GX reports six failures and blocks training</a:t>
            </a:r>
          </a:p>
        </p:txBody>
      </p:sp>
      <p:cxnSp>
        <p:nvCxnSpPr>
          <p:cNvPr id="18" name="">
            <a:extLst xmlns:a="http://schemas.openxmlformats.org/drawingml/2006/main">
              <a:ext uri="{FF2B5EF4-FFF2-40B4-BE49-F238E27FC236}">
                <a16:creationId xmlns:a16="http://schemas.microsoft.com/office/drawing/2014/main" id="{26E1FE38-8626-4884-95CA-9D0FDE75BE64}"/>
              </a:ext>
            </a:extLst>
          </p:cNvPr>
          <p:cNvCxnSpPr/>
          <p:nvPr/>
        </p:nvCxnSpPr>
        <p:spPr>
          <a:xfrm xmlns:a="http://schemas.openxmlformats.org/drawingml/2006/main">
            <a:off x="1123950" y="3829050"/>
            <a:ext cx="0" cy="323850"/>
          </a:xfrm>
          <a:prstGeom xmlns:a="http://schemas.openxmlformats.org/drawingml/2006/main" prst="bentConnector4">
            <a:avLst/>
          </a:prstGeom>
          <a:ln xmlns:a="http://schemas.openxmlformats.org/drawingml/2006/main" w="19050">
            <a:solidFill>
              <a:srgbClr val="D9DEE8"/>
            </a:solidFill>
            <a:prstDash val="solid"/>
          </a:ln>
        </p:spPr>
      </p:cxnSp>
      <p:sp>
        <p:nvSpPr>
          <p:cNvPr id="19" name="">
            <a:extLst xmlns:a="http://schemas.openxmlformats.org/drawingml/2006/main">
              <a:ext uri="{FF2B5EF4-FFF2-40B4-BE49-F238E27FC236}">
                <a16:creationId xmlns:a16="http://schemas.microsoft.com/office/drawing/2014/main" id="{8D8377EF-8BCA-4771-BA89-9622531C4B30}"/>
              </a:ext>
            </a:extLst>
          </p:cNvPr>
          <p:cNvSpPr>
            <a:spLocks xmlns:a="http://schemas.openxmlformats.org/drawingml/2006/main" noGrp="1"/>
          </p:cNvSpPr>
          <p:nvPr/>
        </p:nvSpPr>
        <p:spPr>
          <a:xfrm xmlns:a="http://schemas.openxmlformats.org/drawingml/2006/main">
            <a:off x="685800" y="4191000"/>
            <a:ext cx="876300" cy="419100"/>
          </a:xfrm>
          <a:prstGeom xmlns:a="http://schemas.openxmlformats.org/drawingml/2006/main" prst="roundRect">
            <a:avLst>
              <a:gd name="adj" fmla="val 27273"/>
            </a:avLst>
          </a:prstGeom>
          <a:solidFill xmlns:a="http://schemas.openxmlformats.org/drawingml/2006/main">
            <a:srgbClr val="E9F7F1"/>
          </a:solidFill>
          <a:ln xmlns:a="http://schemas.openxmlformats.org/drawingml/2006/main" w="0">
            <a:solidFill>
              <a:srgbClr val="E9F7F1"/>
            </a:solidFill>
            <a:prstDash val="solid"/>
          </a:ln>
        </p:spPr>
      </p:sp>
      <p:sp>
        <p:nvSpPr>
          <p:cNvPr id="20" name="">
            <a:extLst xmlns:a="http://schemas.openxmlformats.org/drawingml/2006/main">
              <a:ext uri="{FF2B5EF4-FFF2-40B4-BE49-F238E27FC236}">
                <a16:creationId xmlns:a16="http://schemas.microsoft.com/office/drawing/2014/main" id="{4C66EEE9-39BF-4EAC-BD19-B7A0883ED9F5}"/>
              </a:ext>
            </a:extLst>
          </p:cNvPr>
          <p:cNvSpPr>
            <a:spLocks xmlns:a="http://schemas.openxmlformats.org/drawingml/2006/main" noGrp="1"/>
          </p:cNvSpPr>
          <p:nvPr/>
        </p:nvSpPr>
        <p:spPr>
          <a:xfrm xmlns:a="http://schemas.openxmlformats.org/drawingml/2006/main">
            <a:off x="685800" y="42957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1F9D68"/>
                </a:solidFill>
                <a:latin typeface="Avenir Next"/>
                <a:ea typeface="Avenir Next"/>
                <a:cs typeface="Avenir Next"/>
              </a:defRPr>
            </a:defPPr>
          </a:lstStyle>
          <a:p xmlns:a="http://schemas.openxmlformats.org/drawingml/2006/main">
            <a:pPr algn="ctr">
              <a:defRPr sz="975" b="1">
                <a:solidFill>
                  <a:srgbClr val="1F9D68"/>
                </a:solidFill>
                <a:latin typeface="Avenir Next"/>
                <a:ea typeface="Avenir Next"/>
                <a:cs typeface="Avenir Next"/>
              </a:defRPr>
            </a:pPr>
            <a:r>
              <a:rPr sz="975" b="1">
                <a:solidFill>
                  <a:srgbClr val="1F9D68"/>
                </a:solidFill>
                <a:latin typeface="Avenir Next"/>
                <a:ea typeface="Avenir Next"/>
                <a:cs typeface="Avenir Next"/>
              </a:rPr>
              <a:t>2:35</a:t>
            </a:r>
          </a:p>
        </p:txBody>
      </p:sp>
      <p:sp>
        <p:nvSpPr>
          <p:cNvPr id="21" name="">
            <a:extLst xmlns:a="http://schemas.openxmlformats.org/drawingml/2006/main">
              <a:ext uri="{FF2B5EF4-FFF2-40B4-BE49-F238E27FC236}">
                <a16:creationId xmlns:a16="http://schemas.microsoft.com/office/drawing/2014/main" id="{4A3B3395-76F5-47EF-9527-F75AAA2B5793}"/>
              </a:ext>
            </a:extLst>
          </p:cNvPr>
          <p:cNvSpPr>
            <a:spLocks xmlns:a="http://schemas.openxmlformats.org/drawingml/2006/main" noGrp="1"/>
          </p:cNvSpPr>
          <p:nvPr/>
        </p:nvSpPr>
        <p:spPr>
          <a:xfrm xmlns:a="http://schemas.openxmlformats.org/drawingml/2006/main">
            <a:off x="1905000" y="4152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Run clean data</a:t>
            </a:r>
          </a:p>
        </p:txBody>
      </p:sp>
      <p:sp>
        <p:nvSpPr>
          <p:cNvPr id="22" name="">
            <a:extLst xmlns:a="http://schemas.openxmlformats.org/drawingml/2006/main">
              <a:ext uri="{FF2B5EF4-FFF2-40B4-BE49-F238E27FC236}">
                <a16:creationId xmlns:a16="http://schemas.microsoft.com/office/drawing/2014/main" id="{5E7B4311-C28A-49D9-B63E-B7D21CE85C6F}"/>
              </a:ext>
            </a:extLst>
          </p:cNvPr>
          <p:cNvSpPr>
            <a:spLocks xmlns:a="http://schemas.openxmlformats.org/drawingml/2006/main" noGrp="1"/>
          </p:cNvSpPr>
          <p:nvPr/>
        </p:nvSpPr>
        <p:spPr>
          <a:xfrm xmlns:a="http://schemas.openxmlformats.org/drawingml/2006/main">
            <a:off x="4572000" y="41719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13/13 pass and the model trains</a:t>
            </a:r>
          </a:p>
        </p:txBody>
      </p:sp>
      <p:cxnSp>
        <p:nvCxnSpPr>
          <p:cNvPr id="23" name="">
            <a:extLst xmlns:a="http://schemas.openxmlformats.org/drawingml/2006/main">
              <a:ext uri="{FF2B5EF4-FFF2-40B4-BE49-F238E27FC236}">
                <a16:creationId xmlns:a16="http://schemas.microsoft.com/office/drawing/2014/main" id="{641755D9-BE48-4A6F-A403-79467CE37E46}"/>
              </a:ext>
            </a:extLst>
          </p:cNvPr>
          <p:cNvCxnSpPr/>
          <p:nvPr/>
        </p:nvCxnSpPr>
        <p:spPr>
          <a:xfrm xmlns:a="http://schemas.openxmlformats.org/drawingml/2006/main">
            <a:off x="1123950" y="4610100"/>
            <a:ext cx="0" cy="323850"/>
          </a:xfrm>
          <a:prstGeom xmlns:a="http://schemas.openxmlformats.org/drawingml/2006/main" prst="bentConnector4">
            <a:avLst/>
          </a:prstGeom>
          <a:ln xmlns:a="http://schemas.openxmlformats.org/drawingml/2006/main" w="19050">
            <a:solidFill>
              <a:srgbClr val="D9DEE8"/>
            </a:solidFill>
            <a:prstDash val="solid"/>
          </a:ln>
        </p:spPr>
      </p:cxnSp>
      <p:sp>
        <p:nvSpPr>
          <p:cNvPr id="24" name="">
            <a:extLst xmlns:a="http://schemas.openxmlformats.org/drawingml/2006/main">
              <a:ext uri="{FF2B5EF4-FFF2-40B4-BE49-F238E27FC236}">
                <a16:creationId xmlns:a16="http://schemas.microsoft.com/office/drawing/2014/main" id="{2EE42F11-90C4-4BD6-AFAB-8A774BC663D2}"/>
              </a:ext>
            </a:extLst>
          </p:cNvPr>
          <p:cNvSpPr>
            <a:spLocks xmlns:a="http://schemas.openxmlformats.org/drawingml/2006/main" noGrp="1"/>
          </p:cNvSpPr>
          <p:nvPr/>
        </p:nvSpPr>
        <p:spPr>
          <a:xfrm xmlns:a="http://schemas.openxmlformats.org/drawingml/2006/main">
            <a:off x="685800" y="4972050"/>
            <a:ext cx="876300" cy="419100"/>
          </a:xfrm>
          <a:prstGeom xmlns:a="http://schemas.openxmlformats.org/drawingml/2006/main" prst="roundRect">
            <a:avLst>
              <a:gd name="adj" fmla="val 27273"/>
            </a:avLst>
          </a:prstGeom>
          <a:solidFill xmlns:a="http://schemas.openxmlformats.org/drawingml/2006/main">
            <a:srgbClr val="EAF0FF"/>
          </a:solidFill>
          <a:ln xmlns:a="http://schemas.openxmlformats.org/drawingml/2006/main" w="0">
            <a:solidFill>
              <a:srgbClr val="EAF0FF"/>
            </a:solidFill>
            <a:prstDash val="solid"/>
          </a:ln>
        </p:spPr>
      </p:sp>
      <p:sp>
        <p:nvSpPr>
          <p:cNvPr id="25" name="">
            <a:extLst xmlns:a="http://schemas.openxmlformats.org/drawingml/2006/main">
              <a:ext uri="{FF2B5EF4-FFF2-40B4-BE49-F238E27FC236}">
                <a16:creationId xmlns:a16="http://schemas.microsoft.com/office/drawing/2014/main" id="{DB6C1C5D-0AE4-4656-A690-68ECDBFDB92D}"/>
              </a:ext>
            </a:extLst>
          </p:cNvPr>
          <p:cNvSpPr>
            <a:spLocks xmlns:a="http://schemas.openxmlformats.org/drawingml/2006/main" noGrp="1"/>
          </p:cNvSpPr>
          <p:nvPr/>
        </p:nvSpPr>
        <p:spPr>
          <a:xfrm xmlns:a="http://schemas.openxmlformats.org/drawingml/2006/main">
            <a:off x="685800" y="507682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3E6AE1"/>
                </a:solidFill>
                <a:latin typeface="Avenir Next"/>
                <a:ea typeface="Avenir Next"/>
                <a:cs typeface="Avenir Next"/>
              </a:defRPr>
            </a:defPPr>
          </a:lstStyle>
          <a:p xmlns:a="http://schemas.openxmlformats.org/drawingml/2006/main">
            <a:pPr algn="ctr">
              <a:defRPr sz="975" b="1">
                <a:solidFill>
                  <a:srgbClr val="3E6AE1"/>
                </a:solidFill>
                <a:latin typeface="Avenir Next"/>
                <a:ea typeface="Avenir Next"/>
                <a:cs typeface="Avenir Next"/>
              </a:defRPr>
            </a:pPr>
            <a:r>
              <a:rPr sz="975" b="1">
                <a:solidFill>
                  <a:srgbClr val="3E6AE1"/>
                </a:solidFill>
                <a:latin typeface="Avenir Next"/>
                <a:ea typeface="Avenir Next"/>
                <a:cs typeface="Avenir Next"/>
              </a:rPr>
              <a:t>3:30</a:t>
            </a:r>
          </a:p>
        </p:txBody>
      </p:sp>
      <p:sp>
        <p:nvSpPr>
          <p:cNvPr id="26" name="">
            <a:extLst xmlns:a="http://schemas.openxmlformats.org/drawingml/2006/main">
              <a:ext uri="{FF2B5EF4-FFF2-40B4-BE49-F238E27FC236}">
                <a16:creationId xmlns:a16="http://schemas.microsoft.com/office/drawing/2014/main" id="{26868340-0E9C-4D68-9966-C4D0263C8F9A}"/>
              </a:ext>
            </a:extLst>
          </p:cNvPr>
          <p:cNvSpPr>
            <a:spLocks xmlns:a="http://schemas.openxmlformats.org/drawingml/2006/main" noGrp="1"/>
          </p:cNvSpPr>
          <p:nvPr/>
        </p:nvSpPr>
        <p:spPr>
          <a:xfrm xmlns:a="http://schemas.openxmlformats.org/drawingml/2006/main">
            <a:off x="1905000" y="493395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Show evidence</a:t>
            </a:r>
          </a:p>
        </p:txBody>
      </p:sp>
      <p:sp>
        <p:nvSpPr>
          <p:cNvPr id="27" name="">
            <a:extLst xmlns:a="http://schemas.openxmlformats.org/drawingml/2006/main">
              <a:ext uri="{FF2B5EF4-FFF2-40B4-BE49-F238E27FC236}">
                <a16:creationId xmlns:a16="http://schemas.microsoft.com/office/drawing/2014/main" id="{35422BEC-B934-4FB7-8C67-AD8F4017E902}"/>
              </a:ext>
            </a:extLst>
          </p:cNvPr>
          <p:cNvSpPr>
            <a:spLocks xmlns:a="http://schemas.openxmlformats.org/drawingml/2006/main" noGrp="1"/>
          </p:cNvSpPr>
          <p:nvPr/>
        </p:nvSpPr>
        <p:spPr>
          <a:xfrm xmlns:a="http://schemas.openxmlformats.org/drawingml/2006/main">
            <a:off x="4572000" y="49530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Open validation_result.json and model_metrics.json</a:t>
            </a:r>
          </a:p>
        </p:txBody>
      </p:sp>
      <p:sp>
        <p:nvSpPr>
          <p:cNvPr id="28" name="">
            <a:extLst xmlns:a="http://schemas.openxmlformats.org/drawingml/2006/main">
              <a:ext uri="{FF2B5EF4-FFF2-40B4-BE49-F238E27FC236}">
                <a16:creationId xmlns:a16="http://schemas.microsoft.com/office/drawing/2014/main" id="{FC33AE0B-4D3A-48EF-929F-B296E601D025}"/>
              </a:ext>
            </a:extLst>
          </p:cNvPr>
          <p:cNvSpPr>
            <a:spLocks xmlns:a="http://schemas.openxmlformats.org/drawingml/2006/main" noGrp="1"/>
          </p:cNvSpPr>
          <p:nvPr/>
        </p:nvSpPr>
        <p:spPr>
          <a:xfrm xmlns:a="http://schemas.openxmlformats.org/drawingml/2006/main">
            <a:off x="685800" y="5819775"/>
            <a:ext cx="10820400" cy="419100"/>
          </a:xfrm>
          <a:prstGeom xmlns:a="http://schemas.openxmlformats.org/drawingml/2006/main" prst="roundRect">
            <a:avLst>
              <a:gd name="adj" fmla="val 27273"/>
            </a:avLst>
          </a:prstGeom>
          <a:solidFill xmlns:a="http://schemas.openxmlformats.org/drawingml/2006/main">
            <a:srgbClr val="FFF0EA"/>
          </a:solidFill>
          <a:ln xmlns:a="http://schemas.openxmlformats.org/drawingml/2006/main" w="0">
            <a:solidFill>
              <a:srgbClr val="FFF0EA"/>
            </a:solidFill>
            <a:prstDash val="solid"/>
          </a:ln>
        </p:spPr>
      </p:sp>
      <p:sp>
        <p:nvSpPr>
          <p:cNvPr id="29" name="">
            <a:extLst xmlns:a="http://schemas.openxmlformats.org/drawingml/2006/main">
              <a:ext uri="{FF2B5EF4-FFF2-40B4-BE49-F238E27FC236}">
                <a16:creationId xmlns:a16="http://schemas.microsoft.com/office/drawing/2014/main" id="{852E213F-0F7B-4175-BD4B-7D46F55AEE97}"/>
              </a:ext>
            </a:extLst>
          </p:cNvPr>
          <p:cNvSpPr>
            <a:spLocks xmlns:a="http://schemas.openxmlformats.org/drawingml/2006/main" noGrp="1"/>
          </p:cNvSpPr>
          <p:nvPr/>
        </p:nvSpPr>
        <p:spPr>
          <a:xfrm xmlns:a="http://schemas.openxmlformats.org/drawingml/2006/main">
            <a:off x="914400" y="5924550"/>
            <a:ext cx="1036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F05A28"/>
                </a:solidFill>
                <a:latin typeface="Avenir Next"/>
                <a:ea typeface="Avenir Next"/>
                <a:cs typeface="Avenir Next"/>
              </a:defRPr>
            </a:defPPr>
          </a:lstStyle>
          <a:p xmlns:a="http://schemas.openxmlformats.org/drawingml/2006/main">
            <a:pPr>
              <a:defRPr sz="1125" b="1">
                <a:solidFill>
                  <a:srgbClr val="F05A28"/>
                </a:solidFill>
                <a:latin typeface="Avenir Next"/>
                <a:ea typeface="Avenir Next"/>
                <a:cs typeface="Avenir Next"/>
              </a:defRPr>
            </a:pPr>
            <a:r>
              <a:rPr sz="1125" b="1">
                <a:solidFill>
                  <a:srgbClr val="F05A28"/>
                </a:solidFill>
                <a:latin typeface="Avenir Next"/>
                <a:ea typeface="Avenir Next"/>
                <a:cs typeface="Avenir Next"/>
              </a:rPr>
              <a:t>Backup: slides 7 and 8 contain captured outputs from the verified local runs.</a:t>
            </a:r>
          </a:p>
        </p:txBody>
      </p:sp>
      <p:sp>
        <p:nvSpPr>
          <p:cNvPr id="30" name="">
            <a:extLst xmlns:a="http://schemas.openxmlformats.org/drawingml/2006/main">
              <a:ext uri="{FF2B5EF4-FFF2-40B4-BE49-F238E27FC236}">
                <a16:creationId xmlns:a16="http://schemas.microsoft.com/office/drawing/2014/main" id="{10980715-AFE1-4FB3-851B-EB01DA5A1D53}"/>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750281442"/>
      </p:ext>
    </p:extLst>
  </p:cSld>
</p:sld>
</file>

<file path=ppt/slides/slide10.xml><?xml version="1.0" encoding="utf-8"?>
<p:sld xmlns:p="http://schemas.openxmlformats.org/presentationml/2006/main">
  <p:cSld>
    <p:bg>
      <p:bgPr>
        <a:solidFill xmlns:a="http://schemas.openxmlformats.org/drawingml/2006/main">
          <a:srgbClr val="0B13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AC67268-5533-45EF-AA66-5A911A761BDF}"/>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FFFFFF"/>
                </a:solidFill>
                <a:latin typeface="Avenir Next"/>
                <a:ea typeface="Avenir Next"/>
                <a:cs typeface="Avenir Next"/>
              </a:defRPr>
            </a:defPPr>
          </a:lstStyle>
          <a:p xmlns:a="http://schemas.openxmlformats.org/drawingml/2006/main">
            <a:pPr>
              <a:defRPr sz="2325" b="1">
                <a:solidFill>
                  <a:srgbClr val="FFFFFF"/>
                </a:solidFill>
                <a:latin typeface="Avenir Next"/>
                <a:ea typeface="Avenir Next"/>
                <a:cs typeface="Avenir Next"/>
              </a:defRPr>
            </a:pPr>
            <a:r>
              <a:rPr sz="2325" b="1">
                <a:solidFill>
                  <a:srgbClr val="FFFFFF"/>
                </a:solidFill>
                <a:latin typeface="Avenir Next"/>
                <a:ea typeface="Avenir Next"/>
                <a:cs typeface="Avenir Next"/>
              </a:rPr>
              <a:t>What Great Expectations adds</a:t>
            </a:r>
          </a:p>
        </p:txBody>
      </p:sp>
      <p:sp>
        <p:nvSpPr>
          <p:cNvPr id="2" name="">
            <a:extLst xmlns:a="http://schemas.openxmlformats.org/drawingml/2006/main">
              <a:ext uri="{FF2B5EF4-FFF2-40B4-BE49-F238E27FC236}">
                <a16:creationId xmlns:a16="http://schemas.microsoft.com/office/drawing/2014/main" id="{C1BBDC05-8554-48F4-830E-7216714CBA1E}"/>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9DA9BF"/>
                </a:solidFill>
                <a:latin typeface="Avenir Next"/>
                <a:ea typeface="Avenir Next"/>
                <a:cs typeface="Avenir Next"/>
              </a:defRPr>
            </a:defPPr>
          </a:lstStyle>
          <a:p xmlns:a="http://schemas.openxmlformats.org/drawingml/2006/main">
            <a:pPr algn="r">
              <a:defRPr sz="1125" b="1">
                <a:solidFill>
                  <a:srgbClr val="9DA9BF"/>
                </a:solidFill>
                <a:latin typeface="Avenir Next"/>
                <a:ea typeface="Avenir Next"/>
                <a:cs typeface="Avenir Next"/>
              </a:defRPr>
            </a:pPr>
            <a:r>
              <a:rPr sz="1125" b="1">
                <a:solidFill>
                  <a:srgbClr val="9DA9BF"/>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393C1CBB-469A-4A12-A558-4B550AA67ED0}"/>
              </a:ext>
            </a:extLst>
          </p:cNvPr>
          <p:cNvSpPr>
            <a:spLocks xmlns:a="http://schemas.openxmlformats.org/drawingml/2006/main" noGrp="1"/>
          </p:cNvSpPr>
          <p:nvPr/>
        </p:nvSpPr>
        <p:spPr>
          <a:xfrm xmlns:a="http://schemas.openxmlformats.org/drawingml/2006/main">
            <a:off x="685800" y="1504950"/>
            <a:ext cx="10820400" cy="704850"/>
          </a:xfrm>
          <a:prstGeom xmlns:a="http://schemas.openxmlformats.org/drawingml/2006/main" prst="roundRect">
            <a:avLst>
              <a:gd name="adj" fmla="val 16216"/>
            </a:avLst>
          </a:prstGeom>
          <a:solidFill xmlns:a="http://schemas.openxmlformats.org/drawingml/2006/main">
            <a:srgbClr val="111D34"/>
          </a:solidFill>
          <a:ln xmlns:a="http://schemas.openxmlformats.org/drawingml/2006/main" w="9525">
            <a:solidFill>
              <a:srgbClr val="283650"/>
            </a:solidFill>
            <a:prstDash val="solid"/>
          </a:ln>
        </p:spPr>
      </p:sp>
      <p:sp>
        <p:nvSpPr>
          <p:cNvPr id="4" name="">
            <a:extLst xmlns:a="http://schemas.openxmlformats.org/drawingml/2006/main">
              <a:ext uri="{FF2B5EF4-FFF2-40B4-BE49-F238E27FC236}">
                <a16:creationId xmlns:a16="http://schemas.microsoft.com/office/drawing/2014/main" id="{7FF59264-71B4-413D-9453-0FD4754525F0}"/>
              </a:ext>
            </a:extLst>
          </p:cNvPr>
          <p:cNvSpPr>
            <a:spLocks xmlns:a="http://schemas.openxmlformats.org/drawingml/2006/main" noGrp="1"/>
          </p:cNvSpPr>
          <p:nvPr/>
        </p:nvSpPr>
        <p:spPr>
          <a:xfrm xmlns:a="http://schemas.openxmlformats.org/drawingml/2006/main">
            <a:off x="685800" y="1504950"/>
            <a:ext cx="95250" cy="704850"/>
          </a:xfrm>
          <a:prstGeom xmlns:a="http://schemas.openxmlformats.org/drawingml/2006/main" prst="rect">
            <a:avLst/>
          </a:prstGeom>
          <a:solidFill xmlns:a="http://schemas.openxmlformats.org/drawingml/2006/main">
            <a:srgbClr val="1F9D68"/>
          </a:solidFill>
          <a:ln xmlns:a="http://schemas.openxmlformats.org/drawingml/2006/main" w="0">
            <a:solidFill>
              <a:srgbClr val="1F9D68"/>
            </a:solidFill>
            <a:prstDash val="solid"/>
          </a:ln>
        </p:spPr>
      </p:sp>
      <p:sp>
        <p:nvSpPr>
          <p:cNvPr id="5" name="">
            <a:extLst xmlns:a="http://schemas.openxmlformats.org/drawingml/2006/main">
              <a:ext uri="{FF2B5EF4-FFF2-40B4-BE49-F238E27FC236}">
                <a16:creationId xmlns:a16="http://schemas.microsoft.com/office/drawing/2014/main" id="{7ECB6B9A-1222-47A1-8E46-297E5F33042E}"/>
              </a:ext>
            </a:extLst>
          </p:cNvPr>
          <p:cNvSpPr>
            <a:spLocks xmlns:a="http://schemas.openxmlformats.org/drawingml/2006/main" noGrp="1"/>
          </p:cNvSpPr>
          <p:nvPr/>
        </p:nvSpPr>
        <p:spPr>
          <a:xfrm xmlns:a="http://schemas.openxmlformats.org/drawingml/2006/main">
            <a:off x="1047750" y="1695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F9D68"/>
                </a:solidFill>
                <a:latin typeface="Avenir Next"/>
                <a:ea typeface="Avenir Next"/>
                <a:cs typeface="Avenir Next"/>
              </a:defRPr>
            </a:defPPr>
          </a:lstStyle>
          <a:p xmlns:a="http://schemas.openxmlformats.org/drawingml/2006/main">
            <a:pPr>
              <a:defRPr sz="1350" b="1">
                <a:solidFill>
                  <a:srgbClr val="1F9D68"/>
                </a:solidFill>
                <a:latin typeface="Avenir Next"/>
                <a:ea typeface="Avenir Next"/>
                <a:cs typeface="Avenir Next"/>
              </a:defRPr>
            </a:pPr>
            <a:r>
              <a:rPr sz="1350" b="1">
                <a:solidFill>
                  <a:srgbClr val="1F9D68"/>
                </a:solidFill>
                <a:latin typeface="Avenir Next"/>
                <a:ea typeface="Avenir Next"/>
                <a:cs typeface="Avenir Next"/>
              </a:rPr>
              <a:t>Strength</a:t>
            </a:r>
          </a:p>
        </p:txBody>
      </p:sp>
      <p:sp>
        <p:nvSpPr>
          <p:cNvPr id="6" name="">
            <a:extLst xmlns:a="http://schemas.openxmlformats.org/drawingml/2006/main">
              <a:ext uri="{FF2B5EF4-FFF2-40B4-BE49-F238E27FC236}">
                <a16:creationId xmlns:a16="http://schemas.microsoft.com/office/drawing/2014/main" id="{A013F553-90C6-4491-88B2-966CBE8957E8}"/>
              </a:ext>
            </a:extLst>
          </p:cNvPr>
          <p:cNvSpPr>
            <a:spLocks xmlns:a="http://schemas.openxmlformats.org/drawingml/2006/main" noGrp="1"/>
          </p:cNvSpPr>
          <p:nvPr/>
        </p:nvSpPr>
        <p:spPr>
          <a:xfrm xmlns:a="http://schemas.openxmlformats.org/drawingml/2006/main">
            <a:off x="3028950" y="167640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FFFFFF"/>
                </a:solidFill>
                <a:latin typeface="Avenir Next"/>
                <a:ea typeface="Avenir Next"/>
                <a:cs typeface="Avenir Next"/>
              </a:defRPr>
            </a:defPPr>
          </a:lstStyle>
          <a:p xmlns:a="http://schemas.openxmlformats.org/drawingml/2006/main">
            <a:pPr>
              <a:defRPr sz="1425" b="0">
                <a:solidFill>
                  <a:srgbClr val="FFFFFF"/>
                </a:solidFill>
                <a:latin typeface="Avenir Next"/>
                <a:ea typeface="Avenir Next"/>
                <a:cs typeface="Avenir Next"/>
              </a:defRPr>
            </a:pPr>
            <a:r>
              <a:rPr sz="1425" b="0">
                <a:solidFill>
                  <a:srgbClr val="FFFFFF"/>
                </a:solidFill>
                <a:latin typeface="Avenir Next"/>
                <a:ea typeface="Avenir Next"/>
                <a:cs typeface="Avenir Next"/>
              </a:rPr>
              <a:t>Readable, executable rules with structured validation evidence</a:t>
            </a:r>
          </a:p>
        </p:txBody>
      </p:sp>
      <p:sp>
        <p:nvSpPr>
          <p:cNvPr id="7" name="">
            <a:extLst xmlns:a="http://schemas.openxmlformats.org/drawingml/2006/main">
              <a:ext uri="{FF2B5EF4-FFF2-40B4-BE49-F238E27FC236}">
                <a16:creationId xmlns:a16="http://schemas.microsoft.com/office/drawing/2014/main" id="{186690CA-33B6-4CEB-9584-918099945658}"/>
              </a:ext>
            </a:extLst>
          </p:cNvPr>
          <p:cNvSpPr>
            <a:spLocks xmlns:a="http://schemas.openxmlformats.org/drawingml/2006/main" noGrp="1"/>
          </p:cNvSpPr>
          <p:nvPr/>
        </p:nvSpPr>
        <p:spPr>
          <a:xfrm xmlns:a="http://schemas.openxmlformats.org/drawingml/2006/main">
            <a:off x="685800" y="2476500"/>
            <a:ext cx="10820400" cy="704850"/>
          </a:xfrm>
          <a:prstGeom xmlns:a="http://schemas.openxmlformats.org/drawingml/2006/main" prst="roundRect">
            <a:avLst>
              <a:gd name="adj" fmla="val 16216"/>
            </a:avLst>
          </a:prstGeom>
          <a:solidFill xmlns:a="http://schemas.openxmlformats.org/drawingml/2006/main">
            <a:srgbClr val="111D34"/>
          </a:solidFill>
          <a:ln xmlns:a="http://schemas.openxmlformats.org/drawingml/2006/main" w="9525">
            <a:solidFill>
              <a:srgbClr val="283650"/>
            </a:solidFill>
            <a:prstDash val="solid"/>
          </a:ln>
        </p:spPr>
      </p:sp>
      <p:sp>
        <p:nvSpPr>
          <p:cNvPr id="8" name="">
            <a:extLst xmlns:a="http://schemas.openxmlformats.org/drawingml/2006/main">
              <a:ext uri="{FF2B5EF4-FFF2-40B4-BE49-F238E27FC236}">
                <a16:creationId xmlns:a16="http://schemas.microsoft.com/office/drawing/2014/main" id="{5A6ED34B-A37E-4423-A8D0-8357AAE067E3}"/>
              </a:ext>
            </a:extLst>
          </p:cNvPr>
          <p:cNvSpPr>
            <a:spLocks xmlns:a="http://schemas.openxmlformats.org/drawingml/2006/main" noGrp="1"/>
          </p:cNvSpPr>
          <p:nvPr/>
        </p:nvSpPr>
        <p:spPr>
          <a:xfrm xmlns:a="http://schemas.openxmlformats.org/drawingml/2006/main">
            <a:off x="685800" y="2476500"/>
            <a:ext cx="95250" cy="704850"/>
          </a:xfrm>
          <a:prstGeom xmlns:a="http://schemas.openxmlformats.org/drawingml/2006/main" prst="rect">
            <a:avLst/>
          </a:prstGeom>
          <a:solidFill xmlns:a="http://schemas.openxmlformats.org/drawingml/2006/main">
            <a:srgbClr val="3E6AE1"/>
          </a:solidFill>
          <a:ln xmlns:a="http://schemas.openxmlformats.org/drawingml/2006/main" w="0">
            <a:solidFill>
              <a:srgbClr val="3E6AE1"/>
            </a:solidFill>
            <a:prstDash val="solid"/>
          </a:ln>
        </p:spPr>
      </p:sp>
      <p:sp>
        <p:nvSpPr>
          <p:cNvPr id="9" name="">
            <a:extLst xmlns:a="http://schemas.openxmlformats.org/drawingml/2006/main">
              <a:ext uri="{FF2B5EF4-FFF2-40B4-BE49-F238E27FC236}">
                <a16:creationId xmlns:a16="http://schemas.microsoft.com/office/drawing/2014/main" id="{9A846718-67BC-42A7-B9BF-FF3769E23CA6}"/>
              </a:ext>
            </a:extLst>
          </p:cNvPr>
          <p:cNvSpPr>
            <a:spLocks xmlns:a="http://schemas.openxmlformats.org/drawingml/2006/main" noGrp="1"/>
          </p:cNvSpPr>
          <p:nvPr/>
        </p:nvSpPr>
        <p:spPr>
          <a:xfrm xmlns:a="http://schemas.openxmlformats.org/drawingml/2006/main">
            <a:off x="1047750" y="26670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3E6AE1"/>
                </a:solidFill>
                <a:latin typeface="Avenir Next"/>
                <a:ea typeface="Avenir Next"/>
                <a:cs typeface="Avenir Next"/>
              </a:defRPr>
            </a:defPPr>
          </a:lstStyle>
          <a:p xmlns:a="http://schemas.openxmlformats.org/drawingml/2006/main">
            <a:pPr>
              <a:defRPr sz="1350" b="1">
                <a:solidFill>
                  <a:srgbClr val="3E6AE1"/>
                </a:solidFill>
                <a:latin typeface="Avenir Next"/>
                <a:ea typeface="Avenir Next"/>
                <a:cs typeface="Avenir Next"/>
              </a:defRPr>
            </a:pPr>
            <a:r>
              <a:rPr sz="1350" b="1">
                <a:solidFill>
                  <a:srgbClr val="3E6AE1"/>
                </a:solidFill>
                <a:latin typeface="Avenir Next"/>
                <a:ea typeface="Avenir Next"/>
                <a:cs typeface="Avenir Next"/>
              </a:rPr>
              <a:t>Integration</a:t>
            </a:r>
          </a:p>
        </p:txBody>
      </p:sp>
      <p:sp>
        <p:nvSpPr>
          <p:cNvPr id="10" name="">
            <a:extLst xmlns:a="http://schemas.openxmlformats.org/drawingml/2006/main">
              <a:ext uri="{FF2B5EF4-FFF2-40B4-BE49-F238E27FC236}">
                <a16:creationId xmlns:a16="http://schemas.microsoft.com/office/drawing/2014/main" id="{6F265B00-012E-43BD-811C-5409105A94FA}"/>
              </a:ext>
            </a:extLst>
          </p:cNvPr>
          <p:cNvSpPr>
            <a:spLocks xmlns:a="http://schemas.openxmlformats.org/drawingml/2006/main" noGrp="1"/>
          </p:cNvSpPr>
          <p:nvPr/>
        </p:nvSpPr>
        <p:spPr>
          <a:xfrm xmlns:a="http://schemas.openxmlformats.org/drawingml/2006/main">
            <a:off x="3028950" y="264795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FFFFFF"/>
                </a:solidFill>
                <a:latin typeface="Avenir Next"/>
                <a:ea typeface="Avenir Next"/>
                <a:cs typeface="Avenir Next"/>
              </a:defRPr>
            </a:defPPr>
          </a:lstStyle>
          <a:p xmlns:a="http://schemas.openxmlformats.org/drawingml/2006/main">
            <a:pPr>
              <a:defRPr sz="1425" b="0">
                <a:solidFill>
                  <a:srgbClr val="FFFFFF"/>
                </a:solidFill>
                <a:latin typeface="Avenir Next"/>
                <a:ea typeface="Avenir Next"/>
                <a:cs typeface="Avenir Next"/>
              </a:defRPr>
            </a:pPr>
            <a:r>
              <a:rPr sz="1425" b="0">
                <a:solidFill>
                  <a:srgbClr val="FFFFFF"/>
                </a:solidFill>
                <a:latin typeface="Avenir Next"/>
                <a:ea typeface="Avenir Next"/>
                <a:cs typeface="Avenir Next"/>
              </a:rPr>
              <a:t>Pandas, Spark, files, and SQL data sources</a:t>
            </a:r>
          </a:p>
        </p:txBody>
      </p:sp>
      <p:sp>
        <p:nvSpPr>
          <p:cNvPr id="11" name="">
            <a:extLst xmlns:a="http://schemas.openxmlformats.org/drawingml/2006/main">
              <a:ext uri="{FF2B5EF4-FFF2-40B4-BE49-F238E27FC236}">
                <a16:creationId xmlns:a16="http://schemas.microsoft.com/office/drawing/2014/main" id="{3E8AE716-5914-40D6-954E-6BF666C76281}"/>
              </a:ext>
            </a:extLst>
          </p:cNvPr>
          <p:cNvSpPr>
            <a:spLocks xmlns:a="http://schemas.openxmlformats.org/drawingml/2006/main" noGrp="1"/>
          </p:cNvSpPr>
          <p:nvPr/>
        </p:nvSpPr>
        <p:spPr>
          <a:xfrm xmlns:a="http://schemas.openxmlformats.org/drawingml/2006/main">
            <a:off x="685800" y="3448050"/>
            <a:ext cx="10820400" cy="704850"/>
          </a:xfrm>
          <a:prstGeom xmlns:a="http://schemas.openxmlformats.org/drawingml/2006/main" prst="roundRect">
            <a:avLst>
              <a:gd name="adj" fmla="val 16216"/>
            </a:avLst>
          </a:prstGeom>
          <a:solidFill xmlns:a="http://schemas.openxmlformats.org/drawingml/2006/main">
            <a:srgbClr val="111D34"/>
          </a:solidFill>
          <a:ln xmlns:a="http://schemas.openxmlformats.org/drawingml/2006/main" w="9525">
            <a:solidFill>
              <a:srgbClr val="283650"/>
            </a:solidFill>
            <a:prstDash val="solid"/>
          </a:ln>
        </p:spPr>
      </p:sp>
      <p:sp>
        <p:nvSpPr>
          <p:cNvPr id="12" name="">
            <a:extLst xmlns:a="http://schemas.openxmlformats.org/drawingml/2006/main">
              <a:ext uri="{FF2B5EF4-FFF2-40B4-BE49-F238E27FC236}">
                <a16:creationId xmlns:a16="http://schemas.microsoft.com/office/drawing/2014/main" id="{3AA9687C-594D-4033-B932-46C1354D1EDA}"/>
              </a:ext>
            </a:extLst>
          </p:cNvPr>
          <p:cNvSpPr>
            <a:spLocks xmlns:a="http://schemas.openxmlformats.org/drawingml/2006/main" noGrp="1"/>
          </p:cNvSpPr>
          <p:nvPr/>
        </p:nvSpPr>
        <p:spPr>
          <a:xfrm xmlns:a="http://schemas.openxmlformats.org/drawingml/2006/main">
            <a:off x="685800" y="3448050"/>
            <a:ext cx="95250" cy="704850"/>
          </a:xfrm>
          <a:prstGeom xmlns:a="http://schemas.openxmlformats.org/drawingml/2006/main" prst="rect">
            <a:avLst/>
          </a:prstGeom>
          <a:solidFill xmlns:a="http://schemas.openxmlformats.org/drawingml/2006/main">
            <a:srgbClr val="F05A28"/>
          </a:solidFill>
          <a:ln xmlns:a="http://schemas.openxmlformats.org/drawingml/2006/main" w="0">
            <a:solidFill>
              <a:srgbClr val="F05A28"/>
            </a:solidFill>
            <a:prstDash val="solid"/>
          </a:ln>
        </p:spPr>
      </p:sp>
      <p:sp>
        <p:nvSpPr>
          <p:cNvPr id="13" name="">
            <a:extLst xmlns:a="http://schemas.openxmlformats.org/drawingml/2006/main">
              <a:ext uri="{FF2B5EF4-FFF2-40B4-BE49-F238E27FC236}">
                <a16:creationId xmlns:a16="http://schemas.microsoft.com/office/drawing/2014/main" id="{BA68FED6-1A2A-4BF6-A759-8CB5240999F5}"/>
              </a:ext>
            </a:extLst>
          </p:cNvPr>
          <p:cNvSpPr>
            <a:spLocks xmlns:a="http://schemas.openxmlformats.org/drawingml/2006/main" noGrp="1"/>
          </p:cNvSpPr>
          <p:nvPr/>
        </p:nvSpPr>
        <p:spPr>
          <a:xfrm xmlns:a="http://schemas.openxmlformats.org/drawingml/2006/main">
            <a:off x="1047750" y="3638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05A28"/>
                </a:solidFill>
                <a:latin typeface="Avenir Next"/>
                <a:ea typeface="Avenir Next"/>
                <a:cs typeface="Avenir Next"/>
              </a:defRPr>
            </a:defPPr>
          </a:lstStyle>
          <a:p xmlns:a="http://schemas.openxmlformats.org/drawingml/2006/main">
            <a:pPr>
              <a:defRPr sz="1350" b="1">
                <a:solidFill>
                  <a:srgbClr val="F05A28"/>
                </a:solidFill>
                <a:latin typeface="Avenir Next"/>
                <a:ea typeface="Avenir Next"/>
                <a:cs typeface="Avenir Next"/>
              </a:defRPr>
            </a:pPr>
            <a:r>
              <a:rPr sz="1350" b="1">
                <a:solidFill>
                  <a:srgbClr val="F05A28"/>
                </a:solidFill>
                <a:latin typeface="Avenir Next"/>
                <a:ea typeface="Avenir Next"/>
                <a:cs typeface="Avenir Next"/>
              </a:rPr>
              <a:t>Trade-off</a:t>
            </a:r>
          </a:p>
        </p:txBody>
      </p:sp>
      <p:sp>
        <p:nvSpPr>
          <p:cNvPr id="14" name="">
            <a:extLst xmlns:a="http://schemas.openxmlformats.org/drawingml/2006/main">
              <a:ext uri="{FF2B5EF4-FFF2-40B4-BE49-F238E27FC236}">
                <a16:creationId xmlns:a16="http://schemas.microsoft.com/office/drawing/2014/main" id="{7795D000-84C3-4AA5-BB4A-A1C2F1D5CEE2}"/>
              </a:ext>
            </a:extLst>
          </p:cNvPr>
          <p:cNvSpPr>
            <a:spLocks xmlns:a="http://schemas.openxmlformats.org/drawingml/2006/main" noGrp="1"/>
          </p:cNvSpPr>
          <p:nvPr/>
        </p:nvSpPr>
        <p:spPr>
          <a:xfrm xmlns:a="http://schemas.openxmlformats.org/drawingml/2006/main">
            <a:off x="3028950" y="361950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FFFFFF"/>
                </a:solidFill>
                <a:latin typeface="Avenir Next"/>
                <a:ea typeface="Avenir Next"/>
                <a:cs typeface="Avenir Next"/>
              </a:defRPr>
            </a:defPPr>
          </a:lstStyle>
          <a:p xmlns:a="http://schemas.openxmlformats.org/drawingml/2006/main">
            <a:pPr>
              <a:defRPr sz="1425" b="0">
                <a:solidFill>
                  <a:srgbClr val="FFFFFF"/>
                </a:solidFill>
                <a:latin typeface="Avenir Next"/>
                <a:ea typeface="Avenir Next"/>
                <a:cs typeface="Avenir Next"/>
              </a:defRPr>
            </a:pPr>
            <a:r>
              <a:rPr sz="1425" b="0">
                <a:solidFill>
                  <a:srgbClr val="FFFFFF"/>
                </a:solidFill>
                <a:latin typeface="Avenir Next"/>
                <a:ea typeface="Avenir Next"/>
                <a:cs typeface="Avenir Next"/>
              </a:rPr>
              <a:t>Teams must maintain thresholds and handle legitimate change</a:t>
            </a:r>
          </a:p>
        </p:txBody>
      </p:sp>
      <p:sp>
        <p:nvSpPr>
          <p:cNvPr id="15" name="">
            <a:extLst xmlns:a="http://schemas.openxmlformats.org/drawingml/2006/main">
              <a:ext uri="{FF2B5EF4-FFF2-40B4-BE49-F238E27FC236}">
                <a16:creationId xmlns:a16="http://schemas.microsoft.com/office/drawing/2014/main" id="{E285CB2F-402F-4DB0-9E2B-B99C37440452}"/>
              </a:ext>
            </a:extLst>
          </p:cNvPr>
          <p:cNvSpPr>
            <a:spLocks xmlns:a="http://schemas.openxmlformats.org/drawingml/2006/main" noGrp="1"/>
          </p:cNvSpPr>
          <p:nvPr/>
        </p:nvSpPr>
        <p:spPr>
          <a:xfrm xmlns:a="http://schemas.openxmlformats.org/drawingml/2006/main">
            <a:off x="685800" y="48006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05A28"/>
                </a:solidFill>
                <a:latin typeface="Avenir Next"/>
                <a:ea typeface="Avenir Next"/>
                <a:cs typeface="Avenir Next"/>
              </a:defRPr>
            </a:defPPr>
          </a:lstStyle>
          <a:p xmlns:a="http://schemas.openxmlformats.org/drawingml/2006/main">
            <a:pPr>
              <a:defRPr sz="1275" b="1">
                <a:solidFill>
                  <a:srgbClr val="F05A28"/>
                </a:solidFill>
                <a:latin typeface="Avenir Next"/>
                <a:ea typeface="Avenir Next"/>
                <a:cs typeface="Avenir Next"/>
              </a:defRPr>
            </a:pPr>
            <a:r>
              <a:rPr sz="1275" b="1">
                <a:solidFill>
                  <a:srgbClr val="F05A28"/>
                </a:solidFill>
                <a:latin typeface="Avenir Next"/>
                <a:ea typeface="Avenir Next"/>
                <a:cs typeface="Avenir Next"/>
              </a:rPr>
              <a:t>Takeaway</a:t>
            </a:r>
          </a:p>
        </p:txBody>
      </p:sp>
      <p:sp>
        <p:nvSpPr>
          <p:cNvPr id="16" name="">
            <a:extLst xmlns:a="http://schemas.openxmlformats.org/drawingml/2006/main">
              <a:ext uri="{FF2B5EF4-FFF2-40B4-BE49-F238E27FC236}">
                <a16:creationId xmlns:a16="http://schemas.microsoft.com/office/drawing/2014/main" id="{B2CFB29F-CF97-4EF9-9D09-9E6461D9C2D0}"/>
              </a:ext>
            </a:extLst>
          </p:cNvPr>
          <p:cNvSpPr>
            <a:spLocks xmlns:a="http://schemas.openxmlformats.org/drawingml/2006/main" noGrp="1"/>
          </p:cNvSpPr>
          <p:nvPr/>
        </p:nvSpPr>
        <p:spPr>
          <a:xfrm xmlns:a="http://schemas.openxmlformats.org/drawingml/2006/main">
            <a:off x="685800" y="518160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FFFFF"/>
                </a:solidFill>
                <a:latin typeface="Avenir Next"/>
                <a:ea typeface="Avenir Next"/>
                <a:cs typeface="Avenir Next"/>
              </a:defRPr>
            </a:defPPr>
          </a:lstStyle>
          <a:p xmlns:a="http://schemas.openxmlformats.org/drawingml/2006/main">
            <a:pPr>
              <a:defRPr sz="2250" b="1">
                <a:solidFill>
                  <a:srgbClr val="FFFFFF"/>
                </a:solidFill>
                <a:latin typeface="Avenir Next"/>
                <a:ea typeface="Avenir Next"/>
                <a:cs typeface="Avenir Next"/>
              </a:defRPr>
            </a:pPr>
            <a:r>
              <a:rPr sz="2250" b="1">
                <a:solidFill>
                  <a:srgbClr val="FFFFFF"/>
                </a:solidFill>
                <a:latin typeface="Avenir Next"/>
                <a:ea typeface="Avenir Next"/>
                <a:cs typeface="Avenir Next"/>
              </a:rPr>
              <a:t>Great Expectations turns assumptions about training data into tests that control the ML pipeline.</a:t>
            </a:r>
          </a:p>
        </p:txBody>
      </p:sp>
      <p:sp>
        <p:nvSpPr>
          <p:cNvPr id="17" name="">
            <a:extLst xmlns:a="http://schemas.openxmlformats.org/drawingml/2006/main">
              <a:ext uri="{FF2B5EF4-FFF2-40B4-BE49-F238E27FC236}">
                <a16:creationId xmlns:a16="http://schemas.microsoft.com/office/drawing/2014/main" id="{EA5D31E9-65A1-42C8-A950-0A274FB18D97}"/>
              </a:ext>
            </a:extLst>
          </p:cNvPr>
          <p:cNvSpPr>
            <a:spLocks xmlns:a="http://schemas.openxmlformats.org/drawingml/2006/main" noGrp="1"/>
          </p:cNvSpPr>
          <p:nvPr/>
        </p:nvSpPr>
        <p:spPr>
          <a:xfrm xmlns:a="http://schemas.openxmlformats.org/drawingml/2006/main">
            <a:off x="10191750" y="590550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800" b="1">
                <a:solidFill>
                  <a:srgbClr val="9DA9BF"/>
                </a:solidFill>
                <a:latin typeface="Avenir Next"/>
                <a:ea typeface="Avenir Next"/>
                <a:cs typeface="Avenir Next"/>
              </a:defRPr>
            </a:defPPr>
          </a:lstStyle>
          <a:p xmlns:a="http://schemas.openxmlformats.org/drawingml/2006/main">
            <a:pPr algn="r">
              <a:defRPr sz="1800" b="1">
                <a:solidFill>
                  <a:srgbClr val="9DA9BF"/>
                </a:solidFill>
                <a:latin typeface="Avenir Next"/>
                <a:ea typeface="Avenir Next"/>
                <a:cs typeface="Avenir Next"/>
              </a:defRPr>
            </a:pPr>
            <a:r>
              <a:rPr sz="1800" b="1">
                <a:solidFill>
                  <a:srgbClr val="9DA9BF"/>
                </a:solidFill>
                <a:latin typeface="Avenir Next"/>
                <a:ea typeface="Avenir Next"/>
                <a:cs typeface="Avenir Next"/>
              </a:rPr>
              <a:t>Q&amp;A</a:t>
            </a:r>
          </a:p>
        </p:txBody>
      </p:sp>
      <p:sp>
        <p:nvSpPr>
          <p:cNvPr id="18" name="">
            <a:extLst xmlns:a="http://schemas.openxmlformats.org/drawingml/2006/main">
              <a:ext uri="{FF2B5EF4-FFF2-40B4-BE49-F238E27FC236}">
                <a16:creationId xmlns:a16="http://schemas.microsoft.com/office/drawing/2014/main" id="{D3ABDEC1-0264-43EE-AE72-6C6412E2B76A}"/>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8793A9"/>
                </a:solidFill>
                <a:latin typeface="Avenir Next"/>
                <a:ea typeface="Avenir Next"/>
                <a:cs typeface="Avenir Next"/>
              </a:defRPr>
            </a:defPPr>
          </a:lstStyle>
          <a:p xmlns:a="http://schemas.openxmlformats.org/drawingml/2006/main">
            <a:pPr>
              <a:defRPr sz="750" b="0">
                <a:solidFill>
                  <a:srgbClr val="8793A9"/>
                </a:solidFill>
                <a:latin typeface="Avenir Next"/>
                <a:ea typeface="Avenir Next"/>
                <a:cs typeface="Avenir Next"/>
              </a:defRPr>
            </a:pPr>
            <a:r>
              <a:rPr sz="750" b="0">
                <a:solidFill>
                  <a:srgbClr val="8793A9"/>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609163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2026-10-15T17:39:54.8820000Z</dcterms:created>
  <dcterms:modified xsi:type="dcterms:W3CDTF">2026-10-15T17:39:54.8820000Z</dcterms:modified>
</coreProperties>
</file>