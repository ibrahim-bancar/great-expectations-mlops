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932f2c4187430f" /><Relationship Type="http://schemas.openxmlformats.org/officeDocument/2006/relationships/extended-properties" Target="/docProps/app.xml" Id="R61b585b82fbe4179" /><Relationship Type="http://schemas.openxmlformats.org/officeDocument/2006/relationships/officeDocument" Target="/ppt/presentation.xml" Id="R31a761e37303457c" /></Relationships>
</file>

<file path=ppt/presentation.xml><?xml version="1.0" encoding="utf-8"?>
<p:presentation xmlns:p="http://schemas.openxmlformats.org/presentationml/2006/main">
  <p:sldMasterIdLst>
    <p:sldMasterId xmlns:r="http://schemas.openxmlformats.org/officeDocument/2006/relationships" id="2147483648" r:id="Rb5b2dc6e1a54449e"/>
  </p:sldMasterIdLst>
  <p:notesMasterIdLst>
    <p:notesMasterId xmlns:r="http://schemas.openxmlformats.org/officeDocument/2006/relationships" r:id="Rd1fde8847dbe46e6"/>
  </p:notesMasterIdLst>
  <p:sldIdLst>
    <p:sldId xmlns:r="http://schemas.openxmlformats.org/officeDocument/2006/relationships" id="256" r:id="R2d4b8c3f55124075"/>
    <p:sldId xmlns:r="http://schemas.openxmlformats.org/officeDocument/2006/relationships" id="257" r:id="R87739456e9614aec"/>
    <p:sldId xmlns:r="http://schemas.openxmlformats.org/officeDocument/2006/relationships" id="258" r:id="R8174f4f6f1a24f1f"/>
    <p:sldId xmlns:r="http://schemas.openxmlformats.org/officeDocument/2006/relationships" id="259" r:id="Rbd138ba85627497c"/>
    <p:sldId xmlns:r="http://schemas.openxmlformats.org/officeDocument/2006/relationships" id="260" r:id="R138dcb4fd8d549da"/>
    <p:sldId xmlns:r="http://schemas.openxmlformats.org/officeDocument/2006/relationships" id="261" r:id="Re40a48489dcc414e"/>
    <p:sldId xmlns:r="http://schemas.openxmlformats.org/officeDocument/2006/relationships" id="262" r:id="R595915ff1e51421a"/>
    <p:sldId xmlns:r="http://schemas.openxmlformats.org/officeDocument/2006/relationships" id="263" r:id="Rf6cca22a7fd64acf"/>
    <p:sldId xmlns:r="http://schemas.openxmlformats.org/officeDocument/2006/relationships" id="264" r:id="Re88e49845d7148d6"/>
    <p:sldId xmlns:r="http://schemas.openxmlformats.org/officeDocument/2006/relationships" id="265" r:id="R8d0e5e31c83243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f8e3f204974f10" /><Relationship Type="http://schemas.openxmlformats.org/officeDocument/2006/relationships/slideMaster" Target="/ppt/slideMasters/slideMaster1.xml" Id="Rb5b2dc6e1a54449e" /><Relationship Type="http://schemas.openxmlformats.org/officeDocument/2006/relationships/notesMaster" Target="/ppt/notesMasters/notesMaster1.xml" Id="Rd1fde8847dbe46e6" /><Relationship Type="http://schemas.openxmlformats.org/officeDocument/2006/relationships/presProps" Target="/ppt/presProps.xml" Id="Re60f6df25e504991" /><Relationship Type="http://schemas.openxmlformats.org/officeDocument/2006/relationships/tableStyles" Target="/ppt/tableStyles.xml" Id="Rf2969c4cace84cf7" /><Relationship Type="http://schemas.openxmlformats.org/officeDocument/2006/relationships/slide" Target="/ppt/slides/slide1.xml" Id="R2d4b8c3f55124075" /><Relationship Type="http://schemas.openxmlformats.org/officeDocument/2006/relationships/slide" Target="/ppt/slides/slide2.xml" Id="R87739456e9614aec" /><Relationship Type="http://schemas.openxmlformats.org/officeDocument/2006/relationships/slide" Target="/ppt/slides/slide3.xml" Id="R8174f4f6f1a24f1f" /><Relationship Type="http://schemas.openxmlformats.org/officeDocument/2006/relationships/slide" Target="/ppt/slides/slide4.xml" Id="Rbd138ba85627497c" /><Relationship Type="http://schemas.openxmlformats.org/officeDocument/2006/relationships/slide" Target="/ppt/slides/slide5.xml" Id="R138dcb4fd8d549da" /><Relationship Type="http://schemas.openxmlformats.org/officeDocument/2006/relationships/slide" Target="/ppt/slides/slide6.xml" Id="Re40a48489dcc414e" /><Relationship Type="http://schemas.openxmlformats.org/officeDocument/2006/relationships/slide" Target="/ppt/slides/slide7.xml" Id="R595915ff1e51421a" /><Relationship Type="http://schemas.openxmlformats.org/officeDocument/2006/relationships/slide" Target="/ppt/slides/slide8.xml" Id="Rf6cca22a7fd64acf" /><Relationship Type="http://schemas.openxmlformats.org/officeDocument/2006/relationships/slide" Target="/ppt/slides/slide9.xml" Id="Re88e49845d7148d6" /><Relationship Type="http://schemas.openxmlformats.org/officeDocument/2006/relationships/slide" Target="/ppt/slides/slide10.xml" Id="R8d0e5e31c83243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16d4a990b34c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d4a067452242f7" /><Relationship Type="http://schemas.openxmlformats.org/officeDocument/2006/relationships/notesMaster" Target="/ppt/notesMasters/notesMaster1.xml" Id="R91b08d058fe24c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879e0e99294ecd" /><Relationship Type="http://schemas.openxmlformats.org/officeDocument/2006/relationships/notesMaster" Target="/ppt/notesMasters/notesMaster1.xml" Id="R1be69c3df0c24d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1912eb525c4c64" /><Relationship Type="http://schemas.openxmlformats.org/officeDocument/2006/relationships/notesMaster" Target="/ppt/notesMasters/notesMaster1.xml" Id="R2c5474684e9a40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025e9a5ecb4724" /><Relationship Type="http://schemas.openxmlformats.org/officeDocument/2006/relationships/notesMaster" Target="/ppt/notesMasters/notesMaster1.xml" Id="Rd823ce4772324d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3878c9fe164205" /><Relationship Type="http://schemas.openxmlformats.org/officeDocument/2006/relationships/notesMaster" Target="/ppt/notesMasters/notesMaster1.xml" Id="R3dcdd1dd5b3a49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c7d3083f7d451d" /><Relationship Type="http://schemas.openxmlformats.org/officeDocument/2006/relationships/notesMaster" Target="/ppt/notesMasters/notesMaster1.xml" Id="R1e6a538768de4a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b432f17cbb4abd" /><Relationship Type="http://schemas.openxmlformats.org/officeDocument/2006/relationships/notesMaster" Target="/ppt/notesMasters/notesMaster1.xml" Id="Rc9de882b4e5f4a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9a024c81f945bb" /><Relationship Type="http://schemas.openxmlformats.org/officeDocument/2006/relationships/notesMaster" Target="/ppt/notesMasters/notesMaster1.xml" Id="R9d060b2b98a340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916222dcde4a24" /><Relationship Type="http://schemas.openxmlformats.org/officeDocument/2006/relationships/notesMaster" Target="/ppt/notesMasters/notesMaster1.xml" Id="R69ce46b92d3b46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4ffb7775ac42cf" /><Relationship Type="http://schemas.openxmlformats.org/officeDocument/2006/relationships/notesMaster" Target="/ppt/notesMasters/notesMaster1.xml" Id="R1b20d52686e64b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topic is Great Expectations. I will present it not only as a data-checking library, but as a reliability component inside an ML system. The demo turns assumptions about training data into an executable gate.</a:t>
            </a:r>
          </a:p>
          <a:p xmlns:a="http://schemas.openxmlformats.org/drawingml/2006/main">
            <a:r>
              <a:t/>
            </a:r>
          </a:p>
          <a:p xmlns:a="http://schemas.openxmlformats.org/drawingml/2006/main">
            <a:r>
              <a:t>Sources:</a:t>
            </a:r>
          </a:p>
          <a:p xmlns:a="http://schemas.openxmlformats.org/drawingml/2006/main">
            <a:r>
              <a:t>- Course: W01 slides 10–12, 65, 68</a:t>
            </a:r>
          </a:p>
          <a:p xmlns:a="http://schemas.openxmlformats.org/drawingml/2006/main">
            <a:r>
              <a:t>- https://docs.greatexpectations.io/docs/core/introduction/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pipeline can complete successfully while the data is wrong. Missing values, impossible ranges, duplicates, or schema changes may not raise a Python error, but they can change features and model behavior. This is a systems problem, not only a modeling problem.</a:t>
            </a:r>
          </a:p>
          <a:p xmlns:a="http://schemas.openxmlformats.org/drawingml/2006/main">
            <a:r>
              <a:t/>
            </a:r>
          </a:p>
          <a:p xmlns:a="http://schemas.openxmlformats.org/drawingml/2006/main">
            <a:r>
              <a:t>Sources:</a:t>
            </a:r>
          </a:p>
          <a:p xmlns:a="http://schemas.openxmlformats.org/drawingml/2006/main">
            <a:r>
              <a:t>- Course: W01 slides 32, 65, 68; W02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objective is to prevent invalid batches from influencing development decisions. The ML objective is a small binary classifier. The system objective is to fail visibly and preserve evidence. Starting from these objectives keeps the demo focused on operational reliability rather than the accuracy number.</a:t>
            </a:r>
          </a:p>
          <a:p xmlns:a="http://schemas.openxmlformats.org/drawingml/2006/main">
            <a:r>
              <a:t/>
            </a:r>
          </a:p>
          <a:p xmlns:a="http://schemas.openxmlformats.org/drawingml/2006/main">
            <a:r>
              <a:t>Sources:</a:t>
            </a:r>
          </a:p>
          <a:p xmlns:a="http://schemas.openxmlformats.org/drawingml/2006/main">
            <a:r>
              <a:t>- Course: W02 slides 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lifecycle is iterative: business analysis informs data work; validated data reaches model development; deployment creates monitoring signals; those signals feed the next iteration. GX sits between data engineering and model development. It validates known rules before training, but it does not replace post-deployment drift or model monitoring.</a:t>
            </a:r>
          </a:p>
          <a:p xmlns:a="http://schemas.openxmlformats.org/drawingml/2006/main">
            <a:r>
              <a:t/>
            </a:r>
          </a:p>
          <a:p xmlns:a="http://schemas.openxmlformats.org/drawingml/2006/main">
            <a:r>
              <a:t>Sources:</a:t>
            </a:r>
          </a:p>
          <a:p xmlns:a="http://schemas.openxmlformats.org/drawingml/2006/main">
            <a:r>
              <a:t>- Course: W02 slides 26, 29, 31,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Context manages GX objects. The Data Source and Data Asset identify the logical data. A Batch Definition selects the current batch. An Expectation Suite contains the contract. A Validation Definition binds data to the suite, and a Checkpoint runs that validation as a reusable workflow boundary.</a:t>
            </a:r>
          </a:p>
          <a:p xmlns:a="http://schemas.openxmlformats.org/drawingml/2006/main">
            <a:r>
              <a:t/>
            </a:r>
          </a:p>
          <a:p xmlns:a="http://schemas.openxmlformats.org/drawingml/2006/main">
            <a:r>
              <a:t>Sources:</a:t>
            </a:r>
          </a:p>
          <a:p xmlns:a="http://schemas.openxmlformats.org/drawingml/2006/main">
            <a:r>
              <a:t>- https://docs.greatexpectations.io/docs/core/run_validations/create_a_checkpoint/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suite contains thirteen checks for schema, identifiers, completeness, ranges, and labels. The Checkpoint produces a structured result. Our code branches on that result: a failed batch returns a nonzero exit code before model training.</a:t>
            </a:r>
          </a:p>
          <a:p xmlns:a="http://schemas.openxmlformats.org/drawingml/2006/main">
            <a:r>
              <a:t/>
            </a:r>
          </a:p>
          <a:p xmlns:a="http://schemas.openxmlformats.org/drawingml/2006/main">
            <a:r>
              <a:t>Sources:</a:t>
            </a:r>
          </a:p>
          <a:p xmlns:a="http://schemas.openxmlformats.org/drawingml/2006/main">
            <a:r>
              <a:t>- https://docs.greatexpectations.io/docs/core/run_validations/create_a_checkpoint/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bad file contains six deliberate violations. GX reports the affected rule, column, count, and examples. The pipeline saves the detailed result and run metadata, including an input hash, then stops. No model metric is produced.</a:t>
            </a:r>
          </a:p>
          <a:p xmlns:a="http://schemas.openxmlformats.org/drawingml/2006/main">
            <a:r>
              <a:t/>
            </a:r>
          </a:p>
          <a:p xmlns:a="http://schemas.openxmlformats.org/drawingml/2006/main">
            <a:r>
              <a:t>Sources:</a:t>
            </a:r>
          </a:p>
          <a:p xmlns:a="http://schemas.openxmlformats.org/drawingml/2006/main">
            <a:r>
              <a:t>- Course: W02 slides 16, 20,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clean file passes all thirteen checks. Only then does the classifier train. The accuracy only demonstrates that the next pipeline stage ran. The useful evidence is the validated result plus the dataset fingerprint and tool version.</a:t>
            </a:r>
          </a:p>
          <a:p xmlns:a="http://schemas.openxmlformats.org/drawingml/2006/main">
            <a:r>
              <a:t/>
            </a:r>
          </a:p>
          <a:p xmlns:a="http://schemas.openxmlformats.org/drawingml/2006/main">
            <a:r>
              <a:t>Sources:</a:t>
            </a:r>
          </a:p>
          <a:p xmlns:a="http://schemas.openxmlformats.org/drawingml/2006/main">
            <a:r>
              <a:t>- Course: W02 slides 20,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gate improves reliability by failing loudly, maintainability by keeping rules readable and version-controlled, and adaptability by making legitimate contract changes explicit. The same concept can scale to other GX backends, although this small demo intentionally uses pandas.</a:t>
            </a:r>
          </a:p>
          <a:p xmlns:a="http://schemas.openxmlformats.org/drawingml/2006/main">
            <a:r>
              <a:t/>
            </a:r>
          </a:p>
          <a:p xmlns:a="http://schemas.openxmlformats.org/drawingml/2006/main">
            <a:r>
              <a:t>Sources:</a:t>
            </a:r>
          </a:p>
          <a:p xmlns:a="http://schemas.openxmlformats.org/drawingml/2006/main">
            <a:r>
              <a:t>- Course: W02 slides 15–16, 22–23, 53</a:t>
            </a:r>
          </a:p>
          <a:p xmlns:a="http://schemas.openxmlformats.org/drawingml/2006/main">
            <a:r>
              <a:t>- https://docs.greatexpectations.io/docs/core/connect_to_data/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checks whether a batch meets known expectations. Monitoring detects changes over time in data, model behavior, and business outcomes. Great Expectations solves the first problem here. The takeaway is that data assumptions become executable controls in the ML lifecycle.</a:t>
            </a:r>
          </a:p>
          <a:p xmlns:a="http://schemas.openxmlformats.org/drawingml/2006/main">
            <a:r>
              <a:t/>
            </a:r>
          </a:p>
          <a:p xmlns:a="http://schemas.openxmlformats.org/drawingml/2006/main">
            <a:r>
              <a:t>Sources:</a:t>
            </a:r>
          </a:p>
          <a:p xmlns:a="http://schemas.openxmlformats.org/drawingml/2006/main">
            <a:r>
              <a:t>- Course: W01 slide 32; W02 slides 31,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d81b86c0a248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8b22ad62a74d0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2cae09fad724ce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836d5769634c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378db097ee945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7beb2c1878546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7EF02B-CB6E-47FD-99D9-B27B78336B9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FE05E4A-F8C5-4641-944E-D3CD500D86E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5E46942-0184-4E30-A528-20C1BD6ABDD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2E1261-95DA-4A76-8F59-289566362E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8CDC40-C12C-4249-9B0C-6D66A2B447E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4D331AE-DB4D-4DA4-9BDC-49D7CA969A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4045E9-5D29-4AA5-95B6-4688067B41B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BE377C-9544-4BCA-9DB0-1AD137F934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7E9E05-DE6A-4174-87AC-F336433ACF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114A97-A383-456C-802E-1BCEB0E6D83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337d46baa648b0" /><Relationship Type="http://schemas.openxmlformats.org/officeDocument/2006/relationships/slideLayout" Target="/ppt/slideLayouts/slideLayout1.xml" Id="R882332ea11c84ded" /><Relationship Type="http://schemas.openxmlformats.org/officeDocument/2006/relationships/slideLayout" Target="/ppt/slideLayouts/slideLayout2.xml" Id="R7a29dd9fe5354c03" /><Relationship Type="http://schemas.openxmlformats.org/officeDocument/2006/relationships/slideLayout" Target="/ppt/slideLayouts/slideLayout3.xml" Id="R9beaa9b284df405a" /><Relationship Type="http://schemas.openxmlformats.org/officeDocument/2006/relationships/slideLayout" Target="/ppt/slideLayouts/slideLayout4.xml" Id="Rae907d6b84b64848" /><Relationship Type="http://schemas.openxmlformats.org/officeDocument/2006/relationships/slideLayout" Target="/ppt/slideLayouts/slideLayout5.xml" Id="R43da293c51b6476d" /><Relationship Type="http://schemas.openxmlformats.org/officeDocument/2006/relationships/slideLayout" Target="/ppt/slideLayouts/slideLayout6.xml" Id="R18b647dfff554e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2332ea11c84ded"/>
    <p:sldLayoutId xmlns:r="http://schemas.openxmlformats.org/officeDocument/2006/relationships" id="2147483650" r:id="R7a29dd9fe5354c03"/>
    <p:sldLayoutId xmlns:r="http://schemas.openxmlformats.org/officeDocument/2006/relationships" id="2147483651" r:id="R9beaa9b284df405a"/>
    <p:sldLayoutId xmlns:r="http://schemas.openxmlformats.org/officeDocument/2006/relationships" id="2147483652" r:id="Rae907d6b84b64848"/>
    <p:sldLayoutId xmlns:r="http://schemas.openxmlformats.org/officeDocument/2006/relationships" id="2147483653" r:id="R43da293c51b6476d"/>
    <p:sldLayoutId xmlns:r="http://schemas.openxmlformats.org/officeDocument/2006/relationships" id="2147483654" r:id="R18b647dfff554e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ede43d16be34e66" /><Relationship Type="http://schemas.openxmlformats.org/officeDocument/2006/relationships/image" Target="/ppt/media/image.png" Id="R167241142625478a" /><Relationship Type="http://schemas.openxmlformats.org/officeDocument/2006/relationships/notesSlide" Target="/ppt/notesSlides/notesSlide1.xml" Id="R3cc09382e82c43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1b446778dd4e69" /><Relationship Type="http://schemas.openxmlformats.org/officeDocument/2006/relationships/notesSlide" Target="/ppt/notesSlides/notesSlide2.xml" Id="R534c296998a941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844719f37184233" /><Relationship Type="http://schemas.openxmlformats.org/officeDocument/2006/relationships/notesSlide" Target="/ppt/notesSlides/notesSlide3.xml" Id="Rdca853ec604c41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c3a93d06edd44ff" /><Relationship Type="http://schemas.openxmlformats.org/officeDocument/2006/relationships/notesSlide" Target="/ppt/notesSlides/notesSlide4.xml" Id="Rf5e053728a6c42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8df2972d9f4422f" /><Relationship Type="http://schemas.openxmlformats.org/officeDocument/2006/relationships/notesSlide" Target="/ppt/notesSlides/notesSlide5.xml" Id="R7056ccba39714c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df5c826329f4bc2" /><Relationship Type="http://schemas.openxmlformats.org/officeDocument/2006/relationships/notesSlide" Target="/ppt/notesSlides/notesSlide6.xml" Id="Rc408f0ea63ce44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f73403e4954412a" /><Relationship Type="http://schemas.openxmlformats.org/officeDocument/2006/relationships/notesSlide" Target="/ppt/notesSlides/notesSlide7.xml" Id="R3ddb1255750342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fd555bef95b4433" /><Relationship Type="http://schemas.openxmlformats.org/officeDocument/2006/relationships/notesSlide" Target="/ppt/notesSlides/notesSlide8.xml" Id="R06f735e2a39945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c6c51a1b40b443c" /><Relationship Type="http://schemas.openxmlformats.org/officeDocument/2006/relationships/notesSlide" Target="/ppt/notesSlides/notesSlide9.xml" Id="R8ff4a2d3abdc4b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8f22491564c473e" /><Relationship Type="http://schemas.openxmlformats.org/officeDocument/2006/relationships/notesSlide" Target="/ppt/notesSlides/notesSlide10.xml" Id="R7af8fa6da8c24867" /></Relationships>
</file>

<file path=ppt/slides/slide1.xml><?xml version="1.0" encoding="utf-8"?>
<p:sld xmlns:p="http://schemas.openxmlformats.org/presentationml/2006/main">
  <p:cSld>
    <p:bg>
      <p:bgPr>
        <a:solidFill xmlns:a="http://schemas.openxmlformats.org/drawingml/2006/main">
          <a:srgbClr val="0B132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090BCB2-F3C7-4038-B0F0-AC3D32787CD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05A28"/>
          </a:solidFill>
          <a:ln xmlns:a="http://schemas.openxmlformats.org/drawingml/2006/main" w="0">
            <a:solidFill>
              <a:srgbClr val="F05A28"/>
            </a:solidFill>
            <a:prstDash val="solid"/>
          </a:ln>
        </p:spPr>
      </p:sp>
      <p:pic>
        <p:nvPicPr>
          <p:cNvPr id="2" name="">
            <a:extLst xmlns:a="http://schemas.openxmlformats.org/drawingml/2006/main">
              <a:ext uri="{FF2B5EF4-FFF2-40B4-BE49-F238E27FC236}">
                <a16:creationId xmlns:a16="http://schemas.microsoft.com/office/drawing/2014/main" id="{781AF62A-6209-4080-BDA0-7F1AA4D57D93}"/>
              </a:ext>
            </a:extLst>
          </p:cNvPr>
          <p:cNvPicPr>
            <a:picLocks xmlns:a="http://schemas.openxmlformats.org/drawingml/2006/main" noChangeAspect="1"/>
          </p:cNvPicPr>
          <p:nvPr/>
        </p:nvPicPr>
        <p:blipFill>
          <a:blip xmlns:r="http://schemas.openxmlformats.org/officeDocument/2006/relationships" xmlns:a="http://schemas.openxmlformats.org/drawingml/2006/main" r:embed="R167241142625478a"/>
          <a:srcRect xmlns:a="http://schemas.openxmlformats.org/drawingml/2006/main" l="0" t="0" r="51500" b="0"/>
          <a:stretch xmlns:a="http://schemas.openxmlformats.org/drawingml/2006/main"/>
        </p:blipFill>
        <p:spPr>
          <a:xfrm xmlns:a="http://schemas.openxmlformats.org/drawingml/2006/main">
            <a:off x="9791700" y="723900"/>
            <a:ext cx="990600" cy="9906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7F28868-2341-43D3-A2CF-B749002FD00D}"/>
              </a:ext>
            </a:extLst>
          </p:cNvPr>
          <p:cNvSpPr>
            <a:spLocks xmlns:a="http://schemas.openxmlformats.org/drawingml/2006/main" noGrp="1"/>
          </p:cNvSpPr>
          <p:nvPr/>
        </p:nvSpPr>
        <p:spPr>
          <a:xfrm xmlns:a="http://schemas.openxmlformats.org/drawingml/2006/main">
            <a:off x="7810500" y="10572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9DA9BF"/>
                </a:solidFill>
                <a:latin typeface="Avenir Next"/>
                <a:ea typeface="Avenir Next"/>
                <a:cs typeface="Avenir Next"/>
              </a:defRPr>
            </a:defPPr>
          </a:lstStyle>
          <a:p xmlns:a="http://schemas.openxmlformats.org/drawingml/2006/main">
            <a:pPr algn="r">
              <a:defRPr sz="1125" b="1">
                <a:solidFill>
                  <a:srgbClr val="9DA9BF"/>
                </a:solidFill>
                <a:latin typeface="Avenir Next"/>
                <a:ea typeface="Avenir Next"/>
                <a:cs typeface="Avenir Next"/>
              </a:defRPr>
            </a:pPr>
            <a:r>
              <a:rPr sz="1125" b="1">
                <a:solidFill>
                  <a:srgbClr val="9DA9BF"/>
                </a:solidFill>
                <a:latin typeface="Avenir Next"/>
                <a:ea typeface="Avenir Next"/>
                <a:cs typeface="Avenir Next"/>
              </a:rPr>
              <a:t>GX CORE 1.24</a:t>
            </a:r>
          </a:p>
        </p:txBody>
      </p:sp>
      <p:sp>
        <p:nvSpPr>
          <p:cNvPr id="4" name="">
            <a:extLst xmlns:a="http://schemas.openxmlformats.org/drawingml/2006/main">
              <a:ext uri="{FF2B5EF4-FFF2-40B4-BE49-F238E27FC236}">
                <a16:creationId xmlns:a16="http://schemas.microsoft.com/office/drawing/2014/main" id="{2A5AA6E5-1464-4E4C-B644-D000A4F3CF3B}"/>
              </a:ext>
            </a:extLst>
          </p:cNvPr>
          <p:cNvSpPr>
            <a:spLocks xmlns:a="http://schemas.openxmlformats.org/drawingml/2006/main" noGrp="1"/>
          </p:cNvSpPr>
          <p:nvPr/>
        </p:nvSpPr>
        <p:spPr>
          <a:xfrm xmlns:a="http://schemas.openxmlformats.org/drawingml/2006/main">
            <a:off x="723900" y="1428750"/>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F05A28"/>
                </a:solidFill>
                <a:latin typeface="Avenir Next"/>
                <a:ea typeface="Avenir Next"/>
                <a:cs typeface="Avenir Next"/>
              </a:defRPr>
            </a:defPPr>
          </a:lstStyle>
          <a:p xmlns:a="http://schemas.openxmlformats.org/drawingml/2006/main">
            <a:pPr>
              <a:defRPr sz="1200" b="1">
                <a:solidFill>
                  <a:srgbClr val="F05A28"/>
                </a:solidFill>
                <a:latin typeface="Avenir Next"/>
                <a:ea typeface="Avenir Next"/>
                <a:cs typeface="Avenir Next"/>
              </a:defRPr>
            </a:pPr>
            <a:r>
              <a:rPr sz="1200" b="1">
                <a:solidFill>
                  <a:srgbClr val="F05A28"/>
                </a:solidFill>
                <a:latin typeface="Avenir Next"/>
                <a:ea typeface="Avenir Next"/>
                <a:cs typeface="Avenir Next"/>
              </a:rPr>
              <a:t>GREAT EXPECTATIONS</a:t>
            </a:r>
          </a:p>
        </p:txBody>
      </p:sp>
      <p:sp>
        <p:nvSpPr>
          <p:cNvPr id="5" name="">
            <a:extLst xmlns:a="http://schemas.openxmlformats.org/drawingml/2006/main">
              <a:ext uri="{FF2B5EF4-FFF2-40B4-BE49-F238E27FC236}">
                <a16:creationId xmlns:a16="http://schemas.microsoft.com/office/drawing/2014/main" id="{BE16FB3C-A37C-4AAD-8FF9-1203B20938A4}"/>
              </a:ext>
            </a:extLst>
          </p:cNvPr>
          <p:cNvSpPr>
            <a:spLocks xmlns:a="http://schemas.openxmlformats.org/drawingml/2006/main" noGrp="1"/>
          </p:cNvSpPr>
          <p:nvPr/>
        </p:nvSpPr>
        <p:spPr>
          <a:xfrm xmlns:a="http://schemas.openxmlformats.org/drawingml/2006/main">
            <a:off x="685800" y="1952625"/>
            <a:ext cx="66675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FFFFFF"/>
                </a:solidFill>
                <a:latin typeface="Avenir Next"/>
                <a:ea typeface="Avenir Next"/>
                <a:cs typeface="Avenir Next"/>
              </a:defRPr>
            </a:defPPr>
          </a:lstStyle>
          <a:p xmlns:a="http://schemas.openxmlformats.org/drawingml/2006/main">
            <a:pPr>
              <a:defRPr sz="3750" b="1">
                <a:solidFill>
                  <a:srgbClr val="FFFFFF"/>
                </a:solidFill>
                <a:latin typeface="Avenir Next"/>
                <a:ea typeface="Avenir Next"/>
                <a:cs typeface="Avenir Next"/>
              </a:defRPr>
            </a:pPr>
            <a:r>
              <a:rPr sz="3750" b="1">
                <a:solidFill>
                  <a:srgbClr val="FFFFFF"/>
                </a:solidFill>
                <a:latin typeface="Avenir Next"/>
                <a:ea typeface="Avenir Next"/>
                <a:cs typeface="Avenir Next"/>
              </a:rPr>
              <a:t>Data reliability</a:t>
            </a:r>
          </a:p>
          <a:p xmlns:a="http://schemas.openxmlformats.org/drawingml/2006/main">
            <a:pPr>
              <a:defRPr sz="3750" b="1">
                <a:solidFill>
                  <a:srgbClr val="FFFFFF"/>
                </a:solidFill>
                <a:latin typeface="Avenir Next"/>
                <a:ea typeface="Avenir Next"/>
                <a:cs typeface="Avenir Next"/>
              </a:defRPr>
            </a:pPr>
            <a:r>
              <a:rPr sz="3750" b="1">
                <a:solidFill>
                  <a:srgbClr val="FFFFFF"/>
                </a:solidFill>
                <a:latin typeface="Avenir Next"/>
                <a:ea typeface="Avenir Next"/>
                <a:cs typeface="Avenir Next"/>
              </a:rPr>
              <a:t>in ML systems</a:t>
            </a:r>
          </a:p>
        </p:txBody>
      </p:sp>
      <p:sp>
        <p:nvSpPr>
          <p:cNvPr id="6" name="">
            <a:extLst xmlns:a="http://schemas.openxmlformats.org/drawingml/2006/main">
              <a:ext uri="{FF2B5EF4-FFF2-40B4-BE49-F238E27FC236}">
                <a16:creationId xmlns:a16="http://schemas.microsoft.com/office/drawing/2014/main" id="{CBD5AA35-3C53-4E16-8209-E87016769778}"/>
              </a:ext>
            </a:extLst>
          </p:cNvPr>
          <p:cNvSpPr>
            <a:spLocks xmlns:a="http://schemas.openxmlformats.org/drawingml/2006/main" noGrp="1"/>
          </p:cNvSpPr>
          <p:nvPr/>
        </p:nvSpPr>
        <p:spPr>
          <a:xfrm xmlns:a="http://schemas.openxmlformats.org/drawingml/2006/main">
            <a:off x="723900" y="3962400"/>
            <a:ext cx="666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B8C2D6"/>
                </a:solidFill>
                <a:latin typeface="Avenir Next"/>
                <a:ea typeface="Avenir Next"/>
                <a:cs typeface="Avenir Next"/>
              </a:defRPr>
            </a:defPPr>
          </a:lstStyle>
          <a:p xmlns:a="http://schemas.openxmlformats.org/drawingml/2006/main">
            <a:pPr>
              <a:defRPr sz="1725" b="0">
                <a:solidFill>
                  <a:srgbClr val="B8C2D6"/>
                </a:solidFill>
                <a:latin typeface="Avenir Next"/>
                <a:ea typeface="Avenir Next"/>
                <a:cs typeface="Avenir Next"/>
              </a:defRPr>
            </a:pPr>
            <a:r>
              <a:rPr sz="1725" b="0">
                <a:solidFill>
                  <a:srgbClr val="B8C2D6"/>
                </a:solidFill>
                <a:latin typeface="Avenir Next"/>
                <a:ea typeface="Avenir Next"/>
                <a:cs typeface="Avenir Next"/>
              </a:rPr>
              <a:t>An executable gate between production data and model behavior</a:t>
            </a:r>
          </a:p>
        </p:txBody>
      </p:sp>
      <p:sp>
        <p:nvSpPr>
          <p:cNvPr id="7" name="">
            <a:extLst xmlns:a="http://schemas.openxmlformats.org/drawingml/2006/main">
              <a:ext uri="{FF2B5EF4-FFF2-40B4-BE49-F238E27FC236}">
                <a16:creationId xmlns:a16="http://schemas.microsoft.com/office/drawing/2014/main" id="{E321C84B-BA6F-43A6-931C-5DD49F6D7CD1}"/>
              </a:ext>
            </a:extLst>
          </p:cNvPr>
          <p:cNvSpPr>
            <a:spLocks xmlns:a="http://schemas.openxmlformats.org/drawingml/2006/main" noGrp="1"/>
          </p:cNvSpPr>
          <p:nvPr/>
        </p:nvSpPr>
        <p:spPr>
          <a:xfrm xmlns:a="http://schemas.openxmlformats.org/drawingml/2006/main">
            <a:off x="7677150" y="2190750"/>
            <a:ext cx="3276600" cy="2324100"/>
          </a:xfrm>
          <a:prstGeom xmlns:a="http://schemas.openxmlformats.org/drawingml/2006/main" prst="roundRect">
            <a:avLst>
              <a:gd name="adj" fmla="val 6557"/>
            </a:avLst>
          </a:prstGeom>
          <a:solidFill xmlns:a="http://schemas.openxmlformats.org/drawingml/2006/main">
            <a:srgbClr val="111D34"/>
          </a:solidFill>
          <a:ln xmlns:a="http://schemas.openxmlformats.org/drawingml/2006/main" w="9525">
            <a:solidFill>
              <a:srgbClr val="283650"/>
            </a:solidFill>
            <a:prstDash val="solid"/>
          </a:ln>
        </p:spPr>
      </p:sp>
      <p:sp>
        <p:nvSpPr>
          <p:cNvPr id="8" name="">
            <a:extLst xmlns:a="http://schemas.openxmlformats.org/drawingml/2006/main">
              <a:ext uri="{FF2B5EF4-FFF2-40B4-BE49-F238E27FC236}">
                <a16:creationId xmlns:a16="http://schemas.microsoft.com/office/drawing/2014/main" id="{9801B40B-EDC5-41D5-AE72-321688D749DC}"/>
              </a:ext>
            </a:extLst>
          </p:cNvPr>
          <p:cNvSpPr>
            <a:spLocks xmlns:a="http://schemas.openxmlformats.org/drawingml/2006/main" noGrp="1"/>
          </p:cNvSpPr>
          <p:nvPr/>
        </p:nvSpPr>
        <p:spPr>
          <a:xfrm xmlns:a="http://schemas.openxmlformats.org/drawingml/2006/main">
            <a:off x="8096250" y="2571750"/>
            <a:ext cx="2428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A8B3C7"/>
                </a:solidFill>
                <a:latin typeface="Avenir Next"/>
                <a:ea typeface="Avenir Next"/>
                <a:cs typeface="Avenir Next"/>
              </a:defRPr>
            </a:defPPr>
          </a:lstStyle>
          <a:p xmlns:a="http://schemas.openxmlformats.org/drawingml/2006/main">
            <a:pPr algn="ctr">
              <a:defRPr sz="1050" b="1">
                <a:solidFill>
                  <a:srgbClr val="A8B3C7"/>
                </a:solidFill>
                <a:latin typeface="Avenir Next"/>
                <a:ea typeface="Avenir Next"/>
                <a:cs typeface="Avenir Next"/>
              </a:defRPr>
            </a:pPr>
            <a:r>
              <a:rPr sz="1050" b="1">
                <a:solidFill>
                  <a:srgbClr val="A8B3C7"/>
                </a:solidFill>
                <a:latin typeface="Avenir Next"/>
                <a:ea typeface="Avenir Next"/>
                <a:cs typeface="Avenir Next"/>
              </a:rPr>
              <a:t>RAW DATA</a:t>
            </a:r>
          </a:p>
        </p:txBody>
      </p:sp>
      <p:sp>
        <p:nvSpPr>
          <p:cNvPr id="9" name="">
            <a:extLst xmlns:a="http://schemas.openxmlformats.org/drawingml/2006/main">
              <a:ext uri="{FF2B5EF4-FFF2-40B4-BE49-F238E27FC236}">
                <a16:creationId xmlns:a16="http://schemas.microsoft.com/office/drawing/2014/main" id="{2461CC7A-E979-401F-BAA9-638E2BD4B899}"/>
              </a:ext>
            </a:extLst>
          </p:cNvPr>
          <p:cNvSpPr>
            <a:spLocks xmlns:a="http://schemas.openxmlformats.org/drawingml/2006/main" noGrp="1"/>
          </p:cNvSpPr>
          <p:nvPr/>
        </p:nvSpPr>
        <p:spPr>
          <a:xfrm xmlns:a="http://schemas.openxmlformats.org/drawingml/2006/main">
            <a:off x="8810625" y="2905125"/>
            <a:ext cx="10096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5700" b="1">
                <a:solidFill>
                  <a:srgbClr val="F05A28"/>
                </a:solidFill>
                <a:latin typeface="Avenir Next"/>
                <a:ea typeface="Avenir Next"/>
                <a:cs typeface="Avenir Next"/>
              </a:defRPr>
            </a:defPPr>
          </a:lstStyle>
          <a:p xmlns:a="http://schemas.openxmlformats.org/drawingml/2006/main">
            <a:pPr algn="ctr">
              <a:defRPr sz="5700" b="1">
                <a:solidFill>
                  <a:srgbClr val="F05A28"/>
                </a:solidFill>
                <a:latin typeface="Avenir Next"/>
                <a:ea typeface="Avenir Next"/>
                <a:cs typeface="Avenir Next"/>
              </a:defRPr>
            </a:pPr>
            <a:r>
              <a:rPr sz="5700" b="1">
                <a:solidFill>
                  <a:srgbClr val="F05A28"/>
                </a:solidFill>
                <a:latin typeface="Avenir Next"/>
                <a:ea typeface="Avenir Next"/>
                <a:cs typeface="Avenir Next"/>
              </a:rPr>
              <a:t>?</a:t>
            </a:r>
          </a:p>
        </p:txBody>
      </p:sp>
      <p:sp>
        <p:nvSpPr>
          <p:cNvPr id="10" name="">
            <a:extLst xmlns:a="http://schemas.openxmlformats.org/drawingml/2006/main">
              <a:ext uri="{FF2B5EF4-FFF2-40B4-BE49-F238E27FC236}">
                <a16:creationId xmlns:a16="http://schemas.microsoft.com/office/drawing/2014/main" id="{AE518FDD-7B8F-491A-B4BC-D68396083E1D}"/>
              </a:ext>
            </a:extLst>
          </p:cNvPr>
          <p:cNvSpPr>
            <a:spLocks xmlns:a="http://schemas.openxmlformats.org/drawingml/2006/main" noGrp="1"/>
          </p:cNvSpPr>
          <p:nvPr/>
        </p:nvSpPr>
        <p:spPr>
          <a:xfrm xmlns:a="http://schemas.openxmlformats.org/drawingml/2006/main">
            <a:off x="8020050" y="404812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a:solidFill>
                  <a:srgbClr val="FFFFFF"/>
                </a:solidFill>
                <a:latin typeface="Avenir Next"/>
                <a:ea typeface="Avenir Next"/>
                <a:cs typeface="Avenir Next"/>
              </a:defRPr>
            </a:defPPr>
          </a:lstStyle>
          <a:p xmlns:a="http://schemas.openxmlformats.org/drawingml/2006/main">
            <a:pPr algn="ctr">
              <a:defRPr sz="1200" b="0">
                <a:solidFill>
                  <a:srgbClr val="FFFFFF"/>
                </a:solidFill>
                <a:latin typeface="Avenir Next"/>
                <a:ea typeface="Avenir Next"/>
                <a:cs typeface="Avenir Next"/>
              </a:defRPr>
            </a:pPr>
            <a:r>
              <a:rPr sz="1200" b="0">
                <a:solidFill>
                  <a:srgbClr val="FFFFFF"/>
                </a:solidFill>
                <a:latin typeface="Avenir Next"/>
                <a:ea typeface="Avenir Next"/>
                <a:cs typeface="Avenir Next"/>
              </a:rPr>
              <a:t>Can this batch be trusted?</a:t>
            </a:r>
          </a:p>
        </p:txBody>
      </p:sp>
      <p:sp>
        <p:nvSpPr>
          <p:cNvPr id="11" name="">
            <a:extLst xmlns:a="http://schemas.openxmlformats.org/drawingml/2006/main">
              <a:ext uri="{FF2B5EF4-FFF2-40B4-BE49-F238E27FC236}">
                <a16:creationId xmlns:a16="http://schemas.microsoft.com/office/drawing/2014/main" id="{60BB391B-1385-48CB-8C45-00929947A136}"/>
              </a:ext>
            </a:extLst>
          </p:cNvPr>
          <p:cNvSpPr>
            <a:spLocks xmlns:a="http://schemas.openxmlformats.org/drawingml/2006/main" noGrp="1"/>
          </p:cNvSpPr>
          <p:nvPr/>
        </p:nvSpPr>
        <p:spPr>
          <a:xfrm xmlns:a="http://schemas.openxmlformats.org/drawingml/2006/main">
            <a:off x="723900" y="5981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793A9"/>
                </a:solidFill>
                <a:latin typeface="Avenir Next"/>
                <a:ea typeface="Avenir Next"/>
                <a:cs typeface="Avenir Next"/>
              </a:defRPr>
            </a:defPPr>
          </a:lstStyle>
          <a:p xmlns:a="http://schemas.openxmlformats.org/drawingml/2006/main">
            <a:pPr>
              <a:defRPr sz="1050" b="0">
                <a:solidFill>
                  <a:srgbClr val="8793A9"/>
                </a:solidFill>
                <a:latin typeface="Avenir Next"/>
                <a:ea typeface="Avenir Next"/>
                <a:cs typeface="Avenir Next"/>
              </a:defRPr>
            </a:pPr>
            <a:r>
              <a:rPr sz="1050" b="0">
                <a:solidFill>
                  <a:srgbClr val="8793A9"/>
                </a:solidFill>
                <a:latin typeface="Avenir Next"/>
                <a:ea typeface="Avenir Next"/>
                <a:cs typeface="Avenir Next"/>
              </a:rPr>
              <a:t>MLOps individual presentation</a:t>
            </a:r>
          </a:p>
        </p:txBody>
      </p:sp>
    </p:spTree>
    <p:extLst>
      <p:ext uri="{BB962C8B-B14F-4D97-AF65-F5344CB8AC3E}">
        <p14:creationId xmlns:p14="http://schemas.microsoft.com/office/powerpoint/2010/main" val="1189473641"/>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E7F0A63-C577-4D52-B2CA-9A84A1EBCA1F}"/>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Bad data can produce a valid-looking model</a:t>
            </a:r>
          </a:p>
        </p:txBody>
      </p:sp>
      <p:sp>
        <p:nvSpPr>
          <p:cNvPr id="2" name="">
            <a:extLst xmlns:a="http://schemas.openxmlformats.org/drawingml/2006/main">
              <a:ext uri="{FF2B5EF4-FFF2-40B4-BE49-F238E27FC236}">
                <a16:creationId xmlns:a16="http://schemas.microsoft.com/office/drawing/2014/main" id="{6B476405-50A2-4499-8448-619674C3F9D3}"/>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02</a:t>
            </a:r>
          </a:p>
        </p:txBody>
      </p:sp>
      <p:sp>
        <p:nvSpPr>
          <p:cNvPr id="3" name="">
            <a:extLst xmlns:a="http://schemas.openxmlformats.org/drawingml/2006/main">
              <a:ext uri="{FF2B5EF4-FFF2-40B4-BE49-F238E27FC236}">
                <a16:creationId xmlns:a16="http://schemas.microsoft.com/office/drawing/2014/main" id="{B6F50FAE-4779-4092-9866-D3BFE8D4A779}"/>
              </a:ext>
            </a:extLst>
          </p:cNvPr>
          <p:cNvSpPr>
            <a:spLocks xmlns:a="http://schemas.openxmlformats.org/drawingml/2006/main" noGrp="1"/>
          </p:cNvSpPr>
          <p:nvPr/>
        </p:nvSpPr>
        <p:spPr>
          <a:xfrm xmlns:a="http://schemas.openxmlformats.org/drawingml/2006/main">
            <a:off x="685800" y="1181100"/>
            <a:ext cx="819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67085"/>
                </a:solidFill>
                <a:latin typeface="Avenir Next"/>
                <a:ea typeface="Avenir Next"/>
                <a:cs typeface="Avenir Next"/>
              </a:defRPr>
            </a:defPPr>
          </a:lstStyle>
          <a:p xmlns:a="http://schemas.openxmlformats.org/drawingml/2006/main">
            <a:pPr>
              <a:defRPr sz="1500" b="0">
                <a:solidFill>
                  <a:srgbClr val="667085"/>
                </a:solidFill>
                <a:latin typeface="Avenir Next"/>
                <a:ea typeface="Avenir Next"/>
                <a:cs typeface="Avenir Next"/>
              </a:defRPr>
            </a:pPr>
            <a:r>
              <a:rPr sz="1500" b="0">
                <a:solidFill>
                  <a:srgbClr val="667085"/>
                </a:solidFill>
                <a:latin typeface="Avenir Next"/>
                <a:ea typeface="Avenir Next"/>
                <a:cs typeface="Avenir Next"/>
              </a:rPr>
              <a:t>Training code may finish without error while the input data violates domain rules.</a:t>
            </a:r>
          </a:p>
        </p:txBody>
      </p:sp>
      <p:sp>
        <p:nvSpPr>
          <p:cNvPr id="4" name="">
            <a:extLst xmlns:a="http://schemas.openxmlformats.org/drawingml/2006/main">
              <a:ext uri="{FF2B5EF4-FFF2-40B4-BE49-F238E27FC236}">
                <a16:creationId xmlns:a16="http://schemas.microsoft.com/office/drawing/2014/main" id="{E8EC6164-7C88-49B6-A9A2-EB8D1EF7C4FF}"/>
              </a:ext>
            </a:extLst>
          </p:cNvPr>
          <p:cNvSpPr>
            <a:spLocks xmlns:a="http://schemas.openxmlformats.org/drawingml/2006/main" noGrp="1"/>
          </p:cNvSpPr>
          <p:nvPr/>
        </p:nvSpPr>
        <p:spPr>
          <a:xfrm xmlns:a="http://schemas.openxmlformats.org/drawingml/2006/main">
            <a:off x="685800" y="1905000"/>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8"/>
            </a:solidFill>
            <a:prstDash val="solid"/>
          </a:ln>
        </p:spPr>
      </p:sp>
      <p:sp>
        <p:nvSpPr>
          <p:cNvPr id="5" name="">
            <a:extLst xmlns:a="http://schemas.openxmlformats.org/drawingml/2006/main">
              <a:ext uri="{FF2B5EF4-FFF2-40B4-BE49-F238E27FC236}">
                <a16:creationId xmlns:a16="http://schemas.microsoft.com/office/drawing/2014/main" id="{A5B35578-CEAF-4BD8-9246-7D1C1E6CFF97}"/>
              </a:ext>
            </a:extLst>
          </p:cNvPr>
          <p:cNvSpPr>
            <a:spLocks xmlns:a="http://schemas.openxmlformats.org/drawingml/2006/main" noGrp="1"/>
          </p:cNvSpPr>
          <p:nvPr/>
        </p:nvSpPr>
        <p:spPr>
          <a:xfrm xmlns:a="http://schemas.openxmlformats.org/drawingml/2006/main">
            <a:off x="685800" y="1905000"/>
            <a:ext cx="114300" cy="685800"/>
          </a:xfrm>
          <a:prstGeom xmlns:a="http://schemas.openxmlformats.org/drawingml/2006/main" prst="rect">
            <a:avLst/>
          </a:prstGeom>
          <a:solidFill xmlns:a="http://schemas.openxmlformats.org/drawingml/2006/main">
            <a:srgbClr val="D64545"/>
          </a:solidFill>
          <a:ln xmlns:a="http://schemas.openxmlformats.org/drawingml/2006/main" w="0">
            <a:solidFill>
              <a:srgbClr val="D64545"/>
            </a:solidFill>
            <a:prstDash val="solid"/>
          </a:ln>
        </p:spPr>
      </p:sp>
      <p:sp>
        <p:nvSpPr>
          <p:cNvPr id="6" name="">
            <a:extLst xmlns:a="http://schemas.openxmlformats.org/drawingml/2006/main">
              <a:ext uri="{FF2B5EF4-FFF2-40B4-BE49-F238E27FC236}">
                <a16:creationId xmlns:a16="http://schemas.microsoft.com/office/drawing/2014/main" id="{291203A9-6144-4783-BC68-B2331A931D2C}"/>
              </a:ext>
            </a:extLst>
          </p:cNvPr>
          <p:cNvSpPr>
            <a:spLocks xmlns:a="http://schemas.openxmlformats.org/drawingml/2006/main" noGrp="1"/>
          </p:cNvSpPr>
          <p:nvPr/>
        </p:nvSpPr>
        <p:spPr>
          <a:xfrm xmlns:a="http://schemas.openxmlformats.org/drawingml/2006/main">
            <a:off x="1047750" y="20574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Missing value</a:t>
            </a:r>
          </a:p>
        </p:txBody>
      </p:sp>
      <p:sp>
        <p:nvSpPr>
          <p:cNvPr id="7" name="">
            <a:extLst xmlns:a="http://schemas.openxmlformats.org/drawingml/2006/main">
              <a:ext uri="{FF2B5EF4-FFF2-40B4-BE49-F238E27FC236}">
                <a16:creationId xmlns:a16="http://schemas.microsoft.com/office/drawing/2014/main" id="{F43BC7A9-029B-4D87-90E3-E89C5D604EC1}"/>
              </a:ext>
            </a:extLst>
          </p:cNvPr>
          <p:cNvSpPr>
            <a:spLocks xmlns:a="http://schemas.openxmlformats.org/drawingml/2006/main" noGrp="1"/>
          </p:cNvSpPr>
          <p:nvPr/>
        </p:nvSpPr>
        <p:spPr>
          <a:xfrm xmlns:a="http://schemas.openxmlformats.org/drawingml/2006/main">
            <a:off x="3714750" y="2076450"/>
            <a:ext cx="695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667085"/>
                </a:solidFill>
                <a:latin typeface="Avenir Next"/>
                <a:ea typeface="Avenir Next"/>
                <a:cs typeface="Avenir Next"/>
              </a:defRPr>
            </a:defPPr>
          </a:lstStyle>
          <a:p xmlns:a="http://schemas.openxmlformats.org/drawingml/2006/main">
            <a:pPr>
              <a:defRPr sz="1350" b="0">
                <a:solidFill>
                  <a:srgbClr val="667085"/>
                </a:solidFill>
                <a:latin typeface="Avenir Next"/>
                <a:ea typeface="Avenir Next"/>
                <a:cs typeface="Avenir Next"/>
              </a:defRPr>
            </a:pPr>
            <a:r>
              <a:rPr sz="1350" b="0">
                <a:solidFill>
                  <a:srgbClr val="667085"/>
                </a:solidFill>
                <a:latin typeface="Avenir Next"/>
                <a:ea typeface="Avenir Next"/>
                <a:cs typeface="Avenir Next"/>
              </a:rPr>
              <a:t>A feature silently becomes incomplete</a:t>
            </a:r>
          </a:p>
        </p:txBody>
      </p:sp>
      <p:sp>
        <p:nvSpPr>
          <p:cNvPr id="8" name="">
            <a:extLst xmlns:a="http://schemas.openxmlformats.org/drawingml/2006/main">
              <a:ext uri="{FF2B5EF4-FFF2-40B4-BE49-F238E27FC236}">
                <a16:creationId xmlns:a16="http://schemas.microsoft.com/office/drawing/2014/main" id="{159614B1-BFB3-4610-B059-5F85909F9D56}"/>
              </a:ext>
            </a:extLst>
          </p:cNvPr>
          <p:cNvSpPr>
            <a:spLocks xmlns:a="http://schemas.openxmlformats.org/drawingml/2006/main" noGrp="1"/>
          </p:cNvSpPr>
          <p:nvPr/>
        </p:nvSpPr>
        <p:spPr>
          <a:xfrm xmlns:a="http://schemas.openxmlformats.org/drawingml/2006/main">
            <a:off x="685800" y="2819400"/>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8"/>
            </a:solidFill>
            <a:prstDash val="solid"/>
          </a:ln>
        </p:spPr>
      </p:sp>
      <p:sp>
        <p:nvSpPr>
          <p:cNvPr id="9" name="">
            <a:extLst xmlns:a="http://schemas.openxmlformats.org/drawingml/2006/main">
              <a:ext uri="{FF2B5EF4-FFF2-40B4-BE49-F238E27FC236}">
                <a16:creationId xmlns:a16="http://schemas.microsoft.com/office/drawing/2014/main" id="{7928EEE6-5A8D-4EBC-99CB-F0286D410F57}"/>
              </a:ext>
            </a:extLst>
          </p:cNvPr>
          <p:cNvSpPr>
            <a:spLocks xmlns:a="http://schemas.openxmlformats.org/drawingml/2006/main" noGrp="1"/>
          </p:cNvSpPr>
          <p:nvPr/>
        </p:nvSpPr>
        <p:spPr>
          <a:xfrm xmlns:a="http://schemas.openxmlformats.org/drawingml/2006/main">
            <a:off x="685800" y="2819400"/>
            <a:ext cx="114300" cy="685800"/>
          </a:xfrm>
          <a:prstGeom xmlns:a="http://schemas.openxmlformats.org/drawingml/2006/main" prst="rect">
            <a:avLst/>
          </a:prstGeom>
          <a:solidFill xmlns:a="http://schemas.openxmlformats.org/drawingml/2006/main">
            <a:srgbClr val="F05A28"/>
          </a:solidFill>
          <a:ln xmlns:a="http://schemas.openxmlformats.org/drawingml/2006/main" w="0">
            <a:solidFill>
              <a:srgbClr val="F05A28"/>
            </a:solidFill>
            <a:prstDash val="solid"/>
          </a:ln>
        </p:spPr>
      </p:sp>
      <p:sp>
        <p:nvSpPr>
          <p:cNvPr id="10" name="">
            <a:extLst xmlns:a="http://schemas.openxmlformats.org/drawingml/2006/main">
              <a:ext uri="{FF2B5EF4-FFF2-40B4-BE49-F238E27FC236}">
                <a16:creationId xmlns:a16="http://schemas.microsoft.com/office/drawing/2014/main" id="{3BE64152-ED9F-4B22-9139-615EDCD547E9}"/>
              </a:ext>
            </a:extLst>
          </p:cNvPr>
          <p:cNvSpPr>
            <a:spLocks xmlns:a="http://schemas.openxmlformats.org/drawingml/2006/main" noGrp="1"/>
          </p:cNvSpPr>
          <p:nvPr/>
        </p:nvSpPr>
        <p:spPr>
          <a:xfrm xmlns:a="http://schemas.openxmlformats.org/drawingml/2006/main">
            <a:off x="1047750" y="29718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Invalid range</a:t>
            </a:r>
          </a:p>
        </p:txBody>
      </p:sp>
      <p:sp>
        <p:nvSpPr>
          <p:cNvPr id="11" name="">
            <a:extLst xmlns:a="http://schemas.openxmlformats.org/drawingml/2006/main">
              <a:ext uri="{FF2B5EF4-FFF2-40B4-BE49-F238E27FC236}">
                <a16:creationId xmlns:a16="http://schemas.microsoft.com/office/drawing/2014/main" id="{D8306037-FD2F-46CF-9F78-4C31995D043B}"/>
              </a:ext>
            </a:extLst>
          </p:cNvPr>
          <p:cNvSpPr>
            <a:spLocks xmlns:a="http://schemas.openxmlformats.org/drawingml/2006/main" noGrp="1"/>
          </p:cNvSpPr>
          <p:nvPr/>
        </p:nvSpPr>
        <p:spPr>
          <a:xfrm xmlns:a="http://schemas.openxmlformats.org/drawingml/2006/main">
            <a:off x="3714750" y="2990850"/>
            <a:ext cx="695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667085"/>
                </a:solidFill>
                <a:latin typeface="Avenir Next"/>
                <a:ea typeface="Avenir Next"/>
                <a:cs typeface="Avenir Next"/>
              </a:defRPr>
            </a:defPPr>
          </a:lstStyle>
          <a:p xmlns:a="http://schemas.openxmlformats.org/drawingml/2006/main">
            <a:pPr>
              <a:defRPr sz="1350" b="0">
                <a:solidFill>
                  <a:srgbClr val="667085"/>
                </a:solidFill>
                <a:latin typeface="Avenir Next"/>
                <a:ea typeface="Avenir Next"/>
                <a:cs typeface="Avenir Next"/>
              </a:defRPr>
            </a:pPr>
            <a:r>
              <a:rPr sz="1350" b="0">
                <a:solidFill>
                  <a:srgbClr val="667085"/>
                </a:solidFill>
                <a:latin typeface="Avenir Next"/>
                <a:ea typeface="Avenir Next"/>
                <a:cs typeface="Avenir Next"/>
              </a:rPr>
              <a:t>A plausible number carries impossible meaning</a:t>
            </a:r>
          </a:p>
        </p:txBody>
      </p:sp>
      <p:sp>
        <p:nvSpPr>
          <p:cNvPr id="12" name="">
            <a:extLst xmlns:a="http://schemas.openxmlformats.org/drawingml/2006/main">
              <a:ext uri="{FF2B5EF4-FFF2-40B4-BE49-F238E27FC236}">
                <a16:creationId xmlns:a16="http://schemas.microsoft.com/office/drawing/2014/main" id="{7F7BDC1A-0C50-4705-9D62-38E396B2AA49}"/>
              </a:ext>
            </a:extLst>
          </p:cNvPr>
          <p:cNvSpPr>
            <a:spLocks xmlns:a="http://schemas.openxmlformats.org/drawingml/2006/main" noGrp="1"/>
          </p:cNvSpPr>
          <p:nvPr/>
        </p:nvSpPr>
        <p:spPr>
          <a:xfrm xmlns:a="http://schemas.openxmlformats.org/drawingml/2006/main">
            <a:off x="685800" y="3733800"/>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8"/>
            </a:solidFill>
            <a:prstDash val="solid"/>
          </a:ln>
        </p:spPr>
      </p:sp>
      <p:sp>
        <p:nvSpPr>
          <p:cNvPr id="13" name="">
            <a:extLst xmlns:a="http://schemas.openxmlformats.org/drawingml/2006/main">
              <a:ext uri="{FF2B5EF4-FFF2-40B4-BE49-F238E27FC236}">
                <a16:creationId xmlns:a16="http://schemas.microsoft.com/office/drawing/2014/main" id="{B8C91443-45D6-4CC4-B269-964B663CD80A}"/>
              </a:ext>
            </a:extLst>
          </p:cNvPr>
          <p:cNvSpPr>
            <a:spLocks xmlns:a="http://schemas.openxmlformats.org/drawingml/2006/main" noGrp="1"/>
          </p:cNvSpPr>
          <p:nvPr/>
        </p:nvSpPr>
        <p:spPr>
          <a:xfrm xmlns:a="http://schemas.openxmlformats.org/drawingml/2006/main">
            <a:off x="685800" y="3733800"/>
            <a:ext cx="114300" cy="685800"/>
          </a:xfrm>
          <a:prstGeom xmlns:a="http://schemas.openxmlformats.org/drawingml/2006/main" prst="rect">
            <a:avLst/>
          </a:prstGeom>
          <a:solidFill xmlns:a="http://schemas.openxmlformats.org/drawingml/2006/main">
            <a:srgbClr val="3E6AE1"/>
          </a:solidFill>
          <a:ln xmlns:a="http://schemas.openxmlformats.org/drawingml/2006/main" w="0">
            <a:solidFill>
              <a:srgbClr val="3E6AE1"/>
            </a:solidFill>
            <a:prstDash val="solid"/>
          </a:ln>
        </p:spPr>
      </p:sp>
      <p:sp>
        <p:nvSpPr>
          <p:cNvPr id="14" name="">
            <a:extLst xmlns:a="http://schemas.openxmlformats.org/drawingml/2006/main">
              <a:ext uri="{FF2B5EF4-FFF2-40B4-BE49-F238E27FC236}">
                <a16:creationId xmlns:a16="http://schemas.microsoft.com/office/drawing/2014/main" id="{EB916C37-E5A4-48B6-8951-5C806B11A2BF}"/>
              </a:ext>
            </a:extLst>
          </p:cNvPr>
          <p:cNvSpPr>
            <a:spLocks xmlns:a="http://schemas.openxmlformats.org/drawingml/2006/main" noGrp="1"/>
          </p:cNvSpPr>
          <p:nvPr/>
        </p:nvSpPr>
        <p:spPr>
          <a:xfrm xmlns:a="http://schemas.openxmlformats.org/drawingml/2006/main">
            <a:off x="1047750" y="38862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Schema drift</a:t>
            </a:r>
          </a:p>
        </p:txBody>
      </p:sp>
      <p:sp>
        <p:nvSpPr>
          <p:cNvPr id="15" name="">
            <a:extLst xmlns:a="http://schemas.openxmlformats.org/drawingml/2006/main">
              <a:ext uri="{FF2B5EF4-FFF2-40B4-BE49-F238E27FC236}">
                <a16:creationId xmlns:a16="http://schemas.microsoft.com/office/drawing/2014/main" id="{F78507F3-B817-4906-8D0D-B3B9CA8D6C78}"/>
              </a:ext>
            </a:extLst>
          </p:cNvPr>
          <p:cNvSpPr>
            <a:spLocks xmlns:a="http://schemas.openxmlformats.org/drawingml/2006/main" noGrp="1"/>
          </p:cNvSpPr>
          <p:nvPr/>
        </p:nvSpPr>
        <p:spPr>
          <a:xfrm xmlns:a="http://schemas.openxmlformats.org/drawingml/2006/main">
            <a:off x="3714750" y="3905250"/>
            <a:ext cx="695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667085"/>
                </a:solidFill>
                <a:latin typeface="Avenir Next"/>
                <a:ea typeface="Avenir Next"/>
                <a:cs typeface="Avenir Next"/>
              </a:defRPr>
            </a:defPPr>
          </a:lstStyle>
          <a:p xmlns:a="http://schemas.openxmlformats.org/drawingml/2006/main">
            <a:pPr>
              <a:defRPr sz="1350" b="0">
                <a:solidFill>
                  <a:srgbClr val="667085"/>
                </a:solidFill>
                <a:latin typeface="Avenir Next"/>
                <a:ea typeface="Avenir Next"/>
                <a:cs typeface="Avenir Next"/>
              </a:defRPr>
            </a:pPr>
            <a:r>
              <a:rPr sz="1350" b="0">
                <a:solidFill>
                  <a:srgbClr val="667085"/>
                </a:solidFill>
                <a:latin typeface="Avenir Next"/>
                <a:ea typeface="Avenir Next"/>
                <a:cs typeface="Avenir Next"/>
              </a:rPr>
              <a:t>A renamed or reordered column changes the input contract</a:t>
            </a:r>
          </a:p>
        </p:txBody>
      </p:sp>
      <p:sp>
        <p:nvSpPr>
          <p:cNvPr id="16" name="">
            <a:extLst xmlns:a="http://schemas.openxmlformats.org/drawingml/2006/main">
              <a:ext uri="{FF2B5EF4-FFF2-40B4-BE49-F238E27FC236}">
                <a16:creationId xmlns:a16="http://schemas.microsoft.com/office/drawing/2014/main" id="{178D386E-A2FB-453F-A794-A63B0D4889D3}"/>
              </a:ext>
            </a:extLst>
          </p:cNvPr>
          <p:cNvSpPr>
            <a:spLocks xmlns:a="http://schemas.openxmlformats.org/drawingml/2006/main" noGrp="1"/>
          </p:cNvSpPr>
          <p:nvPr/>
        </p:nvSpPr>
        <p:spPr>
          <a:xfrm xmlns:a="http://schemas.openxmlformats.org/drawingml/2006/main">
            <a:off x="685800" y="4648200"/>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EE8"/>
            </a:solidFill>
            <a:prstDash val="solid"/>
          </a:ln>
        </p:spPr>
      </p:sp>
      <p:sp>
        <p:nvSpPr>
          <p:cNvPr id="17" name="">
            <a:extLst xmlns:a="http://schemas.openxmlformats.org/drawingml/2006/main">
              <a:ext uri="{FF2B5EF4-FFF2-40B4-BE49-F238E27FC236}">
                <a16:creationId xmlns:a16="http://schemas.microsoft.com/office/drawing/2014/main" id="{2C1B5ACB-56CD-428A-A2B2-CEDFA063D9F6}"/>
              </a:ext>
            </a:extLst>
          </p:cNvPr>
          <p:cNvSpPr>
            <a:spLocks xmlns:a="http://schemas.openxmlformats.org/drawingml/2006/main" noGrp="1"/>
          </p:cNvSpPr>
          <p:nvPr/>
        </p:nvSpPr>
        <p:spPr>
          <a:xfrm xmlns:a="http://schemas.openxmlformats.org/drawingml/2006/main">
            <a:off x="685800" y="4648200"/>
            <a:ext cx="114300" cy="685800"/>
          </a:xfrm>
          <a:prstGeom xmlns:a="http://schemas.openxmlformats.org/drawingml/2006/main" prst="rect">
            <a:avLst/>
          </a:prstGeom>
          <a:solidFill xmlns:a="http://schemas.openxmlformats.org/drawingml/2006/main">
            <a:srgbClr val="1F9D68"/>
          </a:solidFill>
          <a:ln xmlns:a="http://schemas.openxmlformats.org/drawingml/2006/main" w="0">
            <a:solidFill>
              <a:srgbClr val="1F9D68"/>
            </a:solidFill>
            <a:prstDash val="solid"/>
          </a:ln>
        </p:spPr>
      </p:sp>
      <p:sp>
        <p:nvSpPr>
          <p:cNvPr id="18" name="">
            <a:extLst xmlns:a="http://schemas.openxmlformats.org/drawingml/2006/main">
              <a:ext uri="{FF2B5EF4-FFF2-40B4-BE49-F238E27FC236}">
                <a16:creationId xmlns:a16="http://schemas.microsoft.com/office/drawing/2014/main" id="{487D28C7-B5EB-4A3C-9C2F-40D139C525CC}"/>
              </a:ext>
            </a:extLst>
          </p:cNvPr>
          <p:cNvSpPr>
            <a:spLocks xmlns:a="http://schemas.openxmlformats.org/drawingml/2006/main" noGrp="1"/>
          </p:cNvSpPr>
          <p:nvPr/>
        </p:nvSpPr>
        <p:spPr>
          <a:xfrm xmlns:a="http://schemas.openxmlformats.org/drawingml/2006/main">
            <a:off x="1047750" y="48006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Duplicate ID</a:t>
            </a:r>
          </a:p>
        </p:txBody>
      </p:sp>
      <p:sp>
        <p:nvSpPr>
          <p:cNvPr id="19" name="">
            <a:extLst xmlns:a="http://schemas.openxmlformats.org/drawingml/2006/main">
              <a:ext uri="{FF2B5EF4-FFF2-40B4-BE49-F238E27FC236}">
                <a16:creationId xmlns:a16="http://schemas.microsoft.com/office/drawing/2014/main" id="{61C5F19A-5345-447E-A8CE-F9EB0A9BF95A}"/>
              </a:ext>
            </a:extLst>
          </p:cNvPr>
          <p:cNvSpPr>
            <a:spLocks xmlns:a="http://schemas.openxmlformats.org/drawingml/2006/main" noGrp="1"/>
          </p:cNvSpPr>
          <p:nvPr/>
        </p:nvSpPr>
        <p:spPr>
          <a:xfrm xmlns:a="http://schemas.openxmlformats.org/drawingml/2006/main">
            <a:off x="3714750" y="4819650"/>
            <a:ext cx="695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667085"/>
                </a:solidFill>
                <a:latin typeface="Avenir Next"/>
                <a:ea typeface="Avenir Next"/>
                <a:cs typeface="Avenir Next"/>
              </a:defRPr>
            </a:defPPr>
          </a:lstStyle>
          <a:p xmlns:a="http://schemas.openxmlformats.org/drawingml/2006/main">
            <a:pPr>
              <a:defRPr sz="1350" b="0">
                <a:solidFill>
                  <a:srgbClr val="667085"/>
                </a:solidFill>
                <a:latin typeface="Avenir Next"/>
                <a:ea typeface="Avenir Next"/>
                <a:cs typeface="Avenir Next"/>
              </a:defRPr>
            </a:pPr>
            <a:r>
              <a:rPr sz="1350" b="0">
                <a:solidFill>
                  <a:srgbClr val="667085"/>
                </a:solidFill>
                <a:latin typeface="Avenir Next"/>
                <a:ea typeface="Avenir Next"/>
                <a:cs typeface="Avenir Next"/>
              </a:rPr>
              <a:t>One applicant can influence training more than once</a:t>
            </a:r>
          </a:p>
        </p:txBody>
      </p:sp>
      <p:sp>
        <p:nvSpPr>
          <p:cNvPr id="20" name="">
            <a:extLst xmlns:a="http://schemas.openxmlformats.org/drawingml/2006/main">
              <a:ext uri="{FF2B5EF4-FFF2-40B4-BE49-F238E27FC236}">
                <a16:creationId xmlns:a16="http://schemas.microsoft.com/office/drawing/2014/main" id="{9B56B2D5-0C94-4B3B-AF24-DA8938D7EF03}"/>
              </a:ext>
            </a:extLst>
          </p:cNvPr>
          <p:cNvSpPr>
            <a:spLocks xmlns:a="http://schemas.openxmlformats.org/drawingml/2006/main" noGrp="1"/>
          </p:cNvSpPr>
          <p:nvPr/>
        </p:nvSpPr>
        <p:spPr>
          <a:xfrm xmlns:a="http://schemas.openxmlformats.org/drawingml/2006/main">
            <a:off x="8829675" y="1200150"/>
            <a:ext cx="2676525" cy="323850"/>
          </a:xfrm>
          <a:prstGeom xmlns:a="http://schemas.openxmlformats.org/drawingml/2006/main" prst="roundRect">
            <a:avLst>
              <a:gd name="adj" fmla="val 35294"/>
            </a:avLst>
          </a:prstGeom>
          <a:solidFill xmlns:a="http://schemas.openxmlformats.org/drawingml/2006/main">
            <a:srgbClr val="0B1324"/>
          </a:solidFill>
          <a:ln xmlns:a="http://schemas.openxmlformats.org/drawingml/2006/main" w="0">
            <a:solidFill>
              <a:srgbClr val="0B1324"/>
            </a:solidFill>
            <a:prstDash val="solid"/>
          </a:ln>
        </p:spPr>
      </p:sp>
      <p:sp>
        <p:nvSpPr>
          <p:cNvPr id="21" name="">
            <a:extLst xmlns:a="http://schemas.openxmlformats.org/drawingml/2006/main">
              <a:ext uri="{FF2B5EF4-FFF2-40B4-BE49-F238E27FC236}">
                <a16:creationId xmlns:a16="http://schemas.microsoft.com/office/drawing/2014/main" id="{FC975B7D-FBB3-48B1-B933-5B39C2D62544}"/>
              </a:ext>
            </a:extLst>
          </p:cNvPr>
          <p:cNvSpPr>
            <a:spLocks xmlns:a="http://schemas.openxmlformats.org/drawingml/2006/main" noGrp="1"/>
          </p:cNvSpPr>
          <p:nvPr/>
        </p:nvSpPr>
        <p:spPr>
          <a:xfrm xmlns:a="http://schemas.openxmlformats.org/drawingml/2006/main">
            <a:off x="8924925" y="1266825"/>
            <a:ext cx="24860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a:solidFill>
                  <a:srgbClr val="FFFFFF"/>
                </a:solidFill>
                <a:latin typeface="Avenir Next"/>
                <a:ea typeface="Avenir Next"/>
                <a:cs typeface="Avenir Next"/>
              </a:defRPr>
            </a:defPPr>
          </a:lstStyle>
          <a:p xmlns:a="http://schemas.openxmlformats.org/drawingml/2006/main">
            <a:pPr algn="ctr">
              <a:defRPr sz="900" b="1">
                <a:solidFill>
                  <a:srgbClr val="FFFFFF"/>
                </a:solidFill>
                <a:latin typeface="Avenir Next"/>
                <a:ea typeface="Avenir Next"/>
                <a:cs typeface="Avenir Next"/>
              </a:defRPr>
            </a:pPr>
            <a:r>
              <a:rPr sz="900" b="1">
                <a:solidFill>
                  <a:srgbClr val="FFFFFF"/>
                </a:solidFill>
                <a:latin typeface="Avenir Next"/>
                <a:ea typeface="Avenir Next"/>
                <a:cs typeface="Avenir Next"/>
              </a:rPr>
              <a:t>DATA CONTRACT NEEDED</a:t>
            </a:r>
          </a:p>
        </p:txBody>
      </p:sp>
      <p:sp>
        <p:nvSpPr>
          <p:cNvPr id="22" name="">
            <a:extLst xmlns:a="http://schemas.openxmlformats.org/drawingml/2006/main">
              <a:ext uri="{FF2B5EF4-FFF2-40B4-BE49-F238E27FC236}">
                <a16:creationId xmlns:a16="http://schemas.microsoft.com/office/drawing/2014/main" id="{6B335AE3-3831-491A-9561-5BFE20101EF6}"/>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10721096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C492EBE-6C94-4CCA-8576-75B565FCED7C}"/>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Start with the objective—not the metric</a:t>
            </a:r>
          </a:p>
        </p:txBody>
      </p:sp>
      <p:sp>
        <p:nvSpPr>
          <p:cNvPr id="2" name="">
            <a:extLst xmlns:a="http://schemas.openxmlformats.org/drawingml/2006/main">
              <a:ext uri="{FF2B5EF4-FFF2-40B4-BE49-F238E27FC236}">
                <a16:creationId xmlns:a16="http://schemas.microsoft.com/office/drawing/2014/main" id="{2628EBD8-3F5D-429A-A66C-CD4E00329A74}"/>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03</a:t>
            </a:r>
          </a:p>
        </p:txBody>
      </p:sp>
      <p:sp>
        <p:nvSpPr>
          <p:cNvPr id="3" name="">
            <a:extLst xmlns:a="http://schemas.openxmlformats.org/drawingml/2006/main">
              <a:ext uri="{FF2B5EF4-FFF2-40B4-BE49-F238E27FC236}">
                <a16:creationId xmlns:a16="http://schemas.microsoft.com/office/drawing/2014/main" id="{692AB45E-BC17-43A3-ADC3-D171C6FB757D}"/>
              </a:ext>
            </a:extLst>
          </p:cNvPr>
          <p:cNvSpPr>
            <a:spLocks xmlns:a="http://schemas.openxmlformats.org/drawingml/2006/main" noGrp="1"/>
          </p:cNvSpPr>
          <p:nvPr/>
        </p:nvSpPr>
        <p:spPr>
          <a:xfrm xmlns:a="http://schemas.openxmlformats.org/drawingml/2006/main">
            <a:off x="685800" y="11430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67085"/>
                </a:solidFill>
                <a:latin typeface="Avenir Next"/>
                <a:ea typeface="Avenir Next"/>
                <a:cs typeface="Avenir Next"/>
              </a:defRPr>
            </a:defPPr>
          </a:lstStyle>
          <a:p xmlns:a="http://schemas.openxmlformats.org/drawingml/2006/main">
            <a:pPr>
              <a:defRPr sz="1500" b="0">
                <a:solidFill>
                  <a:srgbClr val="667085"/>
                </a:solidFill>
                <a:latin typeface="Avenir Next"/>
                <a:ea typeface="Avenir Next"/>
                <a:cs typeface="Avenir Next"/>
              </a:defRPr>
            </a:pPr>
            <a:r>
              <a:rPr sz="1500" b="0">
                <a:solidFill>
                  <a:srgbClr val="667085"/>
                </a:solidFill>
                <a:latin typeface="Avenir Next"/>
                <a:ea typeface="Avenir Next"/>
                <a:cs typeface="Avenir Next"/>
              </a:rPr>
              <a:t>The demo connects one business need to one ML task and one system requirement.</a:t>
            </a:r>
          </a:p>
        </p:txBody>
      </p:sp>
      <p:sp>
        <p:nvSpPr>
          <p:cNvPr id="4" name="">
            <a:extLst xmlns:a="http://schemas.openxmlformats.org/drawingml/2006/main">
              <a:ext uri="{FF2B5EF4-FFF2-40B4-BE49-F238E27FC236}">
                <a16:creationId xmlns:a16="http://schemas.microsoft.com/office/drawing/2014/main" id="{2D7FF7A2-C160-4385-9F06-B2CAE9F4EF79}"/>
              </a:ext>
            </a:extLst>
          </p:cNvPr>
          <p:cNvSpPr>
            <a:spLocks xmlns:a="http://schemas.openxmlformats.org/drawingml/2006/main" noGrp="1"/>
          </p:cNvSpPr>
          <p:nvPr/>
        </p:nvSpPr>
        <p:spPr>
          <a:xfrm xmlns:a="http://schemas.openxmlformats.org/drawingml/2006/main">
            <a:off x="685800" y="1847850"/>
            <a:ext cx="108204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8"/>
            </a:solidFill>
            <a:prstDash val="solid"/>
          </a:ln>
        </p:spPr>
      </p:sp>
      <p:sp>
        <p:nvSpPr>
          <p:cNvPr id="5" name="">
            <a:extLst xmlns:a="http://schemas.openxmlformats.org/drawingml/2006/main">
              <a:ext uri="{FF2B5EF4-FFF2-40B4-BE49-F238E27FC236}">
                <a16:creationId xmlns:a16="http://schemas.microsoft.com/office/drawing/2014/main" id="{BDFE6A7C-7AEB-4B8E-AC54-4BC21192602D}"/>
              </a:ext>
            </a:extLst>
          </p:cNvPr>
          <p:cNvSpPr>
            <a:spLocks xmlns:a="http://schemas.openxmlformats.org/drawingml/2006/main" noGrp="1"/>
          </p:cNvSpPr>
          <p:nvPr/>
        </p:nvSpPr>
        <p:spPr>
          <a:xfrm xmlns:a="http://schemas.openxmlformats.org/drawingml/2006/main">
            <a:off x="685800" y="1847850"/>
            <a:ext cx="1866900" cy="914400"/>
          </a:xfrm>
          <a:prstGeom xmlns:a="http://schemas.openxmlformats.org/drawingml/2006/main" prst="roundRect">
            <a:avLst>
              <a:gd name="adj" fmla="val 12500"/>
            </a:avLst>
          </a:prstGeom>
          <a:solidFill xmlns:a="http://schemas.openxmlformats.org/drawingml/2006/main">
            <a:srgbClr val="FFF0EA"/>
          </a:solidFill>
          <a:ln xmlns:a="http://schemas.openxmlformats.org/drawingml/2006/main" w="0">
            <a:solidFill>
              <a:srgbClr val="FFF0EA"/>
            </a:solidFill>
            <a:prstDash val="solid"/>
          </a:ln>
        </p:spPr>
      </p:sp>
      <p:sp>
        <p:nvSpPr>
          <p:cNvPr id="6" name="">
            <a:extLst xmlns:a="http://schemas.openxmlformats.org/drawingml/2006/main">
              <a:ext uri="{FF2B5EF4-FFF2-40B4-BE49-F238E27FC236}">
                <a16:creationId xmlns:a16="http://schemas.microsoft.com/office/drawing/2014/main" id="{06564798-EC04-4E16-BE9A-9D9FF31F5659}"/>
              </a:ext>
            </a:extLst>
          </p:cNvPr>
          <p:cNvSpPr>
            <a:spLocks xmlns:a="http://schemas.openxmlformats.org/drawingml/2006/main" noGrp="1"/>
          </p:cNvSpPr>
          <p:nvPr/>
        </p:nvSpPr>
        <p:spPr>
          <a:xfrm xmlns:a="http://schemas.openxmlformats.org/drawingml/2006/main">
            <a:off x="876300" y="21717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a:solidFill>
                  <a:srgbClr val="F05A28"/>
                </a:solidFill>
                <a:latin typeface="Avenir Next"/>
                <a:ea typeface="Avenir Next"/>
                <a:cs typeface="Avenir Next"/>
              </a:defRPr>
            </a:defPPr>
          </a:lstStyle>
          <a:p xmlns:a="http://schemas.openxmlformats.org/drawingml/2006/main">
            <a:pPr algn="ctr">
              <a:defRPr sz="1200" b="1">
                <a:solidFill>
                  <a:srgbClr val="F05A28"/>
                </a:solidFill>
                <a:latin typeface="Avenir Next"/>
                <a:ea typeface="Avenir Next"/>
                <a:cs typeface="Avenir Next"/>
              </a:defRPr>
            </a:pPr>
            <a:r>
              <a:rPr sz="1200" b="1">
                <a:solidFill>
                  <a:srgbClr val="F05A28"/>
                </a:solidFill>
                <a:latin typeface="Avenir Next"/>
                <a:ea typeface="Avenir Next"/>
                <a:cs typeface="Avenir Next"/>
              </a:rPr>
              <a:t>BUSINESS</a:t>
            </a:r>
          </a:p>
        </p:txBody>
      </p:sp>
      <p:sp>
        <p:nvSpPr>
          <p:cNvPr id="7" name="">
            <a:extLst xmlns:a="http://schemas.openxmlformats.org/drawingml/2006/main">
              <a:ext uri="{FF2B5EF4-FFF2-40B4-BE49-F238E27FC236}">
                <a16:creationId xmlns:a16="http://schemas.microsoft.com/office/drawing/2014/main" id="{E3C732CF-ED14-4042-9819-8039C8395F60}"/>
              </a:ext>
            </a:extLst>
          </p:cNvPr>
          <p:cNvSpPr>
            <a:spLocks xmlns:a="http://schemas.openxmlformats.org/drawingml/2006/main" noGrp="1"/>
          </p:cNvSpPr>
          <p:nvPr/>
        </p:nvSpPr>
        <p:spPr>
          <a:xfrm xmlns:a="http://schemas.openxmlformats.org/drawingml/2006/main">
            <a:off x="2952750" y="2114550"/>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B1324"/>
                </a:solidFill>
                <a:latin typeface="Avenir Next"/>
                <a:ea typeface="Avenir Next"/>
                <a:cs typeface="Avenir Next"/>
              </a:defRPr>
            </a:defPPr>
          </a:lstStyle>
          <a:p xmlns:a="http://schemas.openxmlformats.org/drawingml/2006/main">
            <a:pPr>
              <a:defRPr sz="1725" b="1">
                <a:solidFill>
                  <a:srgbClr val="0B1324"/>
                </a:solidFill>
                <a:latin typeface="Avenir Next"/>
                <a:ea typeface="Avenir Next"/>
                <a:cs typeface="Avenir Next"/>
              </a:defRPr>
            </a:pPr>
            <a:r>
              <a:rPr sz="1725" b="1">
                <a:solidFill>
                  <a:srgbClr val="0B1324"/>
                </a:solidFill>
                <a:latin typeface="Avenir Next"/>
                <a:ea typeface="Avenir Next"/>
                <a:cs typeface="Avenir Next"/>
              </a:rPr>
              <a:t>Prevent invalid batches from influencing development decisions</a:t>
            </a:r>
          </a:p>
        </p:txBody>
      </p:sp>
      <p:sp>
        <p:nvSpPr>
          <p:cNvPr id="8" name="">
            <a:extLst xmlns:a="http://schemas.openxmlformats.org/drawingml/2006/main">
              <a:ext uri="{FF2B5EF4-FFF2-40B4-BE49-F238E27FC236}">
                <a16:creationId xmlns:a16="http://schemas.microsoft.com/office/drawing/2014/main" id="{D6800BD8-6D44-421A-AB10-5E89CC914664}"/>
              </a:ext>
            </a:extLst>
          </p:cNvPr>
          <p:cNvSpPr>
            <a:spLocks xmlns:a="http://schemas.openxmlformats.org/drawingml/2006/main" noGrp="1"/>
          </p:cNvSpPr>
          <p:nvPr/>
        </p:nvSpPr>
        <p:spPr>
          <a:xfrm xmlns:a="http://schemas.openxmlformats.org/drawingml/2006/main">
            <a:off x="685800" y="3048000"/>
            <a:ext cx="108204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8"/>
            </a:solidFill>
            <a:prstDash val="solid"/>
          </a:ln>
        </p:spPr>
      </p:sp>
      <p:sp>
        <p:nvSpPr>
          <p:cNvPr id="9" name="">
            <a:extLst xmlns:a="http://schemas.openxmlformats.org/drawingml/2006/main">
              <a:ext uri="{FF2B5EF4-FFF2-40B4-BE49-F238E27FC236}">
                <a16:creationId xmlns:a16="http://schemas.microsoft.com/office/drawing/2014/main" id="{83ED534C-3D16-46EA-BD5A-3B43427CF4EB}"/>
              </a:ext>
            </a:extLst>
          </p:cNvPr>
          <p:cNvSpPr>
            <a:spLocks xmlns:a="http://schemas.openxmlformats.org/drawingml/2006/main" noGrp="1"/>
          </p:cNvSpPr>
          <p:nvPr/>
        </p:nvSpPr>
        <p:spPr>
          <a:xfrm xmlns:a="http://schemas.openxmlformats.org/drawingml/2006/main">
            <a:off x="685800" y="3048000"/>
            <a:ext cx="1866900" cy="914400"/>
          </a:xfrm>
          <a:prstGeom xmlns:a="http://schemas.openxmlformats.org/drawingml/2006/main" prst="roundRect">
            <a:avLst>
              <a:gd name="adj" fmla="val 12500"/>
            </a:avLst>
          </a:prstGeom>
          <a:solidFill xmlns:a="http://schemas.openxmlformats.org/drawingml/2006/main">
            <a:srgbClr val="EAF0FF"/>
          </a:solidFill>
          <a:ln xmlns:a="http://schemas.openxmlformats.org/drawingml/2006/main" w="0">
            <a:solidFill>
              <a:srgbClr val="EAF0FF"/>
            </a:solidFill>
            <a:prstDash val="solid"/>
          </a:ln>
        </p:spPr>
      </p:sp>
      <p:sp>
        <p:nvSpPr>
          <p:cNvPr id="10" name="">
            <a:extLst xmlns:a="http://schemas.openxmlformats.org/drawingml/2006/main">
              <a:ext uri="{FF2B5EF4-FFF2-40B4-BE49-F238E27FC236}">
                <a16:creationId xmlns:a16="http://schemas.microsoft.com/office/drawing/2014/main" id="{7C273C84-B1E1-47A2-92F3-2B08CE9F4EEC}"/>
              </a:ext>
            </a:extLst>
          </p:cNvPr>
          <p:cNvSpPr>
            <a:spLocks xmlns:a="http://schemas.openxmlformats.org/drawingml/2006/main" noGrp="1"/>
          </p:cNvSpPr>
          <p:nvPr/>
        </p:nvSpPr>
        <p:spPr>
          <a:xfrm xmlns:a="http://schemas.openxmlformats.org/drawingml/2006/main">
            <a:off x="876300" y="33718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a:solidFill>
                  <a:srgbClr val="3E6AE1"/>
                </a:solidFill>
                <a:latin typeface="Avenir Next"/>
                <a:ea typeface="Avenir Next"/>
                <a:cs typeface="Avenir Next"/>
              </a:defRPr>
            </a:defPPr>
          </a:lstStyle>
          <a:p xmlns:a="http://schemas.openxmlformats.org/drawingml/2006/main">
            <a:pPr algn="ctr">
              <a:defRPr sz="1200" b="1">
                <a:solidFill>
                  <a:srgbClr val="3E6AE1"/>
                </a:solidFill>
                <a:latin typeface="Avenir Next"/>
                <a:ea typeface="Avenir Next"/>
                <a:cs typeface="Avenir Next"/>
              </a:defRPr>
            </a:pPr>
            <a:r>
              <a:rPr sz="1200" b="1">
                <a:solidFill>
                  <a:srgbClr val="3E6AE1"/>
                </a:solidFill>
                <a:latin typeface="Avenir Next"/>
                <a:ea typeface="Avenir Next"/>
                <a:cs typeface="Avenir Next"/>
              </a:rPr>
              <a:t>ML</a:t>
            </a:r>
          </a:p>
        </p:txBody>
      </p:sp>
      <p:sp>
        <p:nvSpPr>
          <p:cNvPr id="11" name="">
            <a:extLst xmlns:a="http://schemas.openxmlformats.org/drawingml/2006/main">
              <a:ext uri="{FF2B5EF4-FFF2-40B4-BE49-F238E27FC236}">
                <a16:creationId xmlns:a16="http://schemas.microsoft.com/office/drawing/2014/main" id="{0348E9E0-BC82-4D54-93DE-5C8520987D1D}"/>
              </a:ext>
            </a:extLst>
          </p:cNvPr>
          <p:cNvSpPr>
            <a:spLocks xmlns:a="http://schemas.openxmlformats.org/drawingml/2006/main" noGrp="1"/>
          </p:cNvSpPr>
          <p:nvPr/>
        </p:nvSpPr>
        <p:spPr>
          <a:xfrm xmlns:a="http://schemas.openxmlformats.org/drawingml/2006/main">
            <a:off x="2952750" y="3314700"/>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B1324"/>
                </a:solidFill>
                <a:latin typeface="Avenir Next"/>
                <a:ea typeface="Avenir Next"/>
                <a:cs typeface="Avenir Next"/>
              </a:defRPr>
            </a:defPPr>
          </a:lstStyle>
          <a:p xmlns:a="http://schemas.openxmlformats.org/drawingml/2006/main">
            <a:pPr>
              <a:defRPr sz="1725" b="1">
                <a:solidFill>
                  <a:srgbClr val="0B1324"/>
                </a:solidFill>
                <a:latin typeface="Avenir Next"/>
                <a:ea typeface="Avenir Next"/>
                <a:cs typeface="Avenir Next"/>
              </a:defRPr>
            </a:pPr>
            <a:r>
              <a:rPr sz="1725" b="1">
                <a:solidFill>
                  <a:srgbClr val="0B1324"/>
                </a:solidFill>
                <a:latin typeface="Avenir Next"/>
                <a:ea typeface="Avenir Next"/>
                <a:cs typeface="Avenir Next"/>
              </a:rPr>
              <a:t>Train a binary classifier on validated loan-application features</a:t>
            </a:r>
          </a:p>
        </p:txBody>
      </p:sp>
      <p:sp>
        <p:nvSpPr>
          <p:cNvPr id="12" name="">
            <a:extLst xmlns:a="http://schemas.openxmlformats.org/drawingml/2006/main">
              <a:ext uri="{FF2B5EF4-FFF2-40B4-BE49-F238E27FC236}">
                <a16:creationId xmlns:a16="http://schemas.microsoft.com/office/drawing/2014/main" id="{06EB8731-6703-412A-A105-5ACB025E76BB}"/>
              </a:ext>
            </a:extLst>
          </p:cNvPr>
          <p:cNvSpPr>
            <a:spLocks xmlns:a="http://schemas.openxmlformats.org/drawingml/2006/main" noGrp="1"/>
          </p:cNvSpPr>
          <p:nvPr/>
        </p:nvSpPr>
        <p:spPr>
          <a:xfrm xmlns:a="http://schemas.openxmlformats.org/drawingml/2006/main">
            <a:off x="685800" y="4248150"/>
            <a:ext cx="108204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8"/>
            </a:solidFill>
            <a:prstDash val="solid"/>
          </a:ln>
        </p:spPr>
      </p:sp>
      <p:sp>
        <p:nvSpPr>
          <p:cNvPr id="13" name="">
            <a:extLst xmlns:a="http://schemas.openxmlformats.org/drawingml/2006/main">
              <a:ext uri="{FF2B5EF4-FFF2-40B4-BE49-F238E27FC236}">
                <a16:creationId xmlns:a16="http://schemas.microsoft.com/office/drawing/2014/main" id="{0B415F61-739E-441E-959A-6ADDF95806B2}"/>
              </a:ext>
            </a:extLst>
          </p:cNvPr>
          <p:cNvSpPr>
            <a:spLocks xmlns:a="http://schemas.openxmlformats.org/drawingml/2006/main" noGrp="1"/>
          </p:cNvSpPr>
          <p:nvPr/>
        </p:nvSpPr>
        <p:spPr>
          <a:xfrm xmlns:a="http://schemas.openxmlformats.org/drawingml/2006/main">
            <a:off x="685800" y="4248150"/>
            <a:ext cx="1866900" cy="914400"/>
          </a:xfrm>
          <a:prstGeom xmlns:a="http://schemas.openxmlformats.org/drawingml/2006/main" prst="roundRect">
            <a:avLst>
              <a:gd name="adj" fmla="val 12500"/>
            </a:avLst>
          </a:prstGeom>
          <a:solidFill xmlns:a="http://schemas.openxmlformats.org/drawingml/2006/main">
            <a:srgbClr val="E9F7F1"/>
          </a:solidFill>
          <a:ln xmlns:a="http://schemas.openxmlformats.org/drawingml/2006/main" w="0">
            <a:solidFill>
              <a:srgbClr val="E9F7F1"/>
            </a:solidFill>
            <a:prstDash val="solid"/>
          </a:ln>
        </p:spPr>
      </p:sp>
      <p:sp>
        <p:nvSpPr>
          <p:cNvPr id="14" name="">
            <a:extLst xmlns:a="http://schemas.openxmlformats.org/drawingml/2006/main">
              <a:ext uri="{FF2B5EF4-FFF2-40B4-BE49-F238E27FC236}">
                <a16:creationId xmlns:a16="http://schemas.microsoft.com/office/drawing/2014/main" id="{232A3146-C301-491C-A4FE-CD0D394717AD}"/>
              </a:ext>
            </a:extLst>
          </p:cNvPr>
          <p:cNvSpPr>
            <a:spLocks xmlns:a="http://schemas.openxmlformats.org/drawingml/2006/main" noGrp="1"/>
          </p:cNvSpPr>
          <p:nvPr/>
        </p:nvSpPr>
        <p:spPr>
          <a:xfrm xmlns:a="http://schemas.openxmlformats.org/drawingml/2006/main">
            <a:off x="876300" y="45720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a:solidFill>
                  <a:srgbClr val="1F9D68"/>
                </a:solidFill>
                <a:latin typeface="Avenir Next"/>
                <a:ea typeface="Avenir Next"/>
                <a:cs typeface="Avenir Next"/>
              </a:defRPr>
            </a:defPPr>
          </a:lstStyle>
          <a:p xmlns:a="http://schemas.openxmlformats.org/drawingml/2006/main">
            <a:pPr algn="ctr">
              <a:defRPr sz="1200" b="1">
                <a:solidFill>
                  <a:srgbClr val="1F9D68"/>
                </a:solidFill>
                <a:latin typeface="Avenir Next"/>
                <a:ea typeface="Avenir Next"/>
                <a:cs typeface="Avenir Next"/>
              </a:defRPr>
            </a:pPr>
            <a:r>
              <a:rPr sz="1200" b="1">
                <a:solidFill>
                  <a:srgbClr val="1F9D68"/>
                </a:solidFill>
                <a:latin typeface="Avenir Next"/>
                <a:ea typeface="Avenir Next"/>
                <a:cs typeface="Avenir Next"/>
              </a:rPr>
              <a:t>SYSTEM</a:t>
            </a:r>
          </a:p>
        </p:txBody>
      </p:sp>
      <p:sp>
        <p:nvSpPr>
          <p:cNvPr id="15" name="">
            <a:extLst xmlns:a="http://schemas.openxmlformats.org/drawingml/2006/main">
              <a:ext uri="{FF2B5EF4-FFF2-40B4-BE49-F238E27FC236}">
                <a16:creationId xmlns:a16="http://schemas.microsoft.com/office/drawing/2014/main" id="{310E9E59-7B28-45AF-9FC0-A51CB9773324}"/>
              </a:ext>
            </a:extLst>
          </p:cNvPr>
          <p:cNvSpPr>
            <a:spLocks xmlns:a="http://schemas.openxmlformats.org/drawingml/2006/main" noGrp="1"/>
          </p:cNvSpPr>
          <p:nvPr/>
        </p:nvSpPr>
        <p:spPr>
          <a:xfrm xmlns:a="http://schemas.openxmlformats.org/drawingml/2006/main">
            <a:off x="2952750" y="4514850"/>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B1324"/>
                </a:solidFill>
                <a:latin typeface="Avenir Next"/>
                <a:ea typeface="Avenir Next"/>
                <a:cs typeface="Avenir Next"/>
              </a:defRPr>
            </a:defPPr>
          </a:lstStyle>
          <a:p xmlns:a="http://schemas.openxmlformats.org/drawingml/2006/main">
            <a:pPr>
              <a:defRPr sz="1725" b="1">
                <a:solidFill>
                  <a:srgbClr val="0B1324"/>
                </a:solidFill>
                <a:latin typeface="Avenir Next"/>
                <a:ea typeface="Avenir Next"/>
                <a:cs typeface="Avenir Next"/>
              </a:defRPr>
            </a:pPr>
            <a:r>
              <a:rPr sz="1725" b="1">
                <a:solidFill>
                  <a:srgbClr val="0B1324"/>
                </a:solidFill>
                <a:latin typeface="Avenir Next"/>
                <a:ea typeface="Avenir Next"/>
                <a:cs typeface="Avenir Next"/>
              </a:rPr>
              <a:t>Fail visibly, preserve evidence, and repeat the same contract</a:t>
            </a:r>
          </a:p>
        </p:txBody>
      </p:sp>
      <p:sp>
        <p:nvSpPr>
          <p:cNvPr id="16" name="">
            <a:extLst xmlns:a="http://schemas.openxmlformats.org/drawingml/2006/main">
              <a:ext uri="{FF2B5EF4-FFF2-40B4-BE49-F238E27FC236}">
                <a16:creationId xmlns:a16="http://schemas.microsoft.com/office/drawing/2014/main" id="{D38A704A-2EEB-4958-BF83-0AE0F32E6047}"/>
              </a:ext>
            </a:extLst>
          </p:cNvPr>
          <p:cNvSpPr>
            <a:spLocks xmlns:a="http://schemas.openxmlformats.org/drawingml/2006/main" noGrp="1"/>
          </p:cNvSpPr>
          <p:nvPr/>
        </p:nvSpPr>
        <p:spPr>
          <a:xfrm xmlns:a="http://schemas.openxmlformats.org/drawingml/2006/main">
            <a:off x="685800" y="5619750"/>
            <a:ext cx="10820400" cy="457200"/>
          </a:xfrm>
          <a:prstGeom xmlns:a="http://schemas.openxmlformats.org/drawingml/2006/main" prst="roundRect">
            <a:avLst>
              <a:gd name="adj" fmla="val 25000"/>
            </a:avLst>
          </a:prstGeom>
          <a:solidFill xmlns:a="http://schemas.openxmlformats.org/drawingml/2006/main">
            <a:srgbClr val="0B1324"/>
          </a:solidFill>
          <a:ln xmlns:a="http://schemas.openxmlformats.org/drawingml/2006/main" w="0">
            <a:solidFill>
              <a:srgbClr val="0B1324"/>
            </a:solidFill>
            <a:prstDash val="solid"/>
          </a:ln>
        </p:spPr>
      </p:sp>
      <p:sp>
        <p:nvSpPr>
          <p:cNvPr id="17" name="">
            <a:extLst xmlns:a="http://schemas.openxmlformats.org/drawingml/2006/main">
              <a:ext uri="{FF2B5EF4-FFF2-40B4-BE49-F238E27FC236}">
                <a16:creationId xmlns:a16="http://schemas.microsoft.com/office/drawing/2014/main" id="{202A734F-5684-4E37-93B0-13948AB6BFFF}"/>
              </a:ext>
            </a:extLst>
          </p:cNvPr>
          <p:cNvSpPr>
            <a:spLocks xmlns:a="http://schemas.openxmlformats.org/drawingml/2006/main" noGrp="1"/>
          </p:cNvSpPr>
          <p:nvPr/>
        </p:nvSpPr>
        <p:spPr>
          <a:xfrm xmlns:a="http://schemas.openxmlformats.org/drawingml/2006/main">
            <a:off x="914400" y="5753100"/>
            <a:ext cx="10363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Avenir Next"/>
                <a:ea typeface="Avenir Next"/>
                <a:cs typeface="Avenir Next"/>
              </a:defRPr>
            </a:defPPr>
          </a:lstStyle>
          <a:p xmlns:a="http://schemas.openxmlformats.org/drawingml/2006/main">
            <a:pPr algn="ctr">
              <a:defRPr sz="1125" b="1">
                <a:solidFill>
                  <a:srgbClr val="FFFFFF"/>
                </a:solidFill>
                <a:latin typeface="Avenir Next"/>
                <a:ea typeface="Avenir Next"/>
                <a:cs typeface="Avenir Next"/>
              </a:defRPr>
            </a:pPr>
            <a:r>
              <a:rPr sz="1125" b="1">
                <a:solidFill>
                  <a:srgbClr val="FFFFFF"/>
                </a:solidFill>
                <a:latin typeface="Avenir Next"/>
                <a:ea typeface="Avenir Next"/>
                <a:cs typeface="Avenir Next"/>
              </a:rPr>
              <a:t>Synthetic teaching example · accuracy is not a lending-model quality claim</a:t>
            </a:r>
          </a:p>
        </p:txBody>
      </p:sp>
      <p:sp>
        <p:nvSpPr>
          <p:cNvPr id="18" name="">
            <a:extLst xmlns:a="http://schemas.openxmlformats.org/drawingml/2006/main">
              <a:ext uri="{FF2B5EF4-FFF2-40B4-BE49-F238E27FC236}">
                <a16:creationId xmlns:a16="http://schemas.microsoft.com/office/drawing/2014/main" id="{48EE4A23-8812-42D3-A426-40C3EF14BC02}"/>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323193812"/>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77645C0-12DB-4EDC-BC15-8135A9B47D98}"/>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GX in an iterative ML lifecycle</a:t>
            </a:r>
          </a:p>
        </p:txBody>
      </p:sp>
      <p:sp>
        <p:nvSpPr>
          <p:cNvPr id="2" name="">
            <a:extLst xmlns:a="http://schemas.openxmlformats.org/drawingml/2006/main">
              <a:ext uri="{FF2B5EF4-FFF2-40B4-BE49-F238E27FC236}">
                <a16:creationId xmlns:a16="http://schemas.microsoft.com/office/drawing/2014/main" id="{A82308FE-47DE-40C2-AD79-64622D9DB480}"/>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04</a:t>
            </a:r>
          </a:p>
        </p:txBody>
      </p:sp>
      <p:sp>
        <p:nvSpPr>
          <p:cNvPr id="3" name="">
            <a:extLst xmlns:a="http://schemas.openxmlformats.org/drawingml/2006/main">
              <a:ext uri="{FF2B5EF4-FFF2-40B4-BE49-F238E27FC236}">
                <a16:creationId xmlns:a16="http://schemas.microsoft.com/office/drawing/2014/main" id="{83F36EA8-A99B-4185-A0CD-850D8C079A7F}"/>
              </a:ext>
            </a:extLst>
          </p:cNvPr>
          <p:cNvSpPr>
            <a:spLocks xmlns:a="http://schemas.openxmlformats.org/drawingml/2006/main" noGrp="1"/>
          </p:cNvSpPr>
          <p:nvPr/>
        </p:nvSpPr>
        <p:spPr>
          <a:xfrm xmlns:a="http://schemas.openxmlformats.org/drawingml/2006/main">
            <a:off x="685800" y="11430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67085"/>
                </a:solidFill>
                <a:latin typeface="Avenir Next"/>
                <a:ea typeface="Avenir Next"/>
                <a:cs typeface="Avenir Next"/>
              </a:defRPr>
            </a:defPPr>
          </a:lstStyle>
          <a:p xmlns:a="http://schemas.openxmlformats.org/drawingml/2006/main">
            <a:pPr>
              <a:defRPr sz="1500" b="0">
                <a:solidFill>
                  <a:srgbClr val="667085"/>
                </a:solidFill>
                <a:latin typeface="Avenir Next"/>
                <a:ea typeface="Avenir Next"/>
                <a:cs typeface="Avenir Next"/>
              </a:defRPr>
            </a:pPr>
            <a:r>
              <a:rPr sz="1500" b="0">
                <a:solidFill>
                  <a:srgbClr val="667085"/>
                </a:solidFill>
                <a:latin typeface="Avenir Next"/>
                <a:ea typeface="Avenir Next"/>
                <a:cs typeface="Avenir Next"/>
              </a:rPr>
              <a:t>Validation is a gate inside a feedback loop—not the whole monitoring system.</a:t>
            </a:r>
          </a:p>
        </p:txBody>
      </p:sp>
      <p:sp>
        <p:nvSpPr>
          <p:cNvPr id="4" name="">
            <a:extLst xmlns:a="http://schemas.openxmlformats.org/drawingml/2006/main">
              <a:ext uri="{FF2B5EF4-FFF2-40B4-BE49-F238E27FC236}">
                <a16:creationId xmlns:a16="http://schemas.microsoft.com/office/drawing/2014/main" id="{C237C781-CC91-4D3F-936C-C2EED075EBD5}"/>
              </a:ext>
            </a:extLst>
          </p:cNvPr>
          <p:cNvSpPr>
            <a:spLocks xmlns:a="http://schemas.openxmlformats.org/drawingml/2006/main" noGrp="1"/>
          </p:cNvSpPr>
          <p:nvPr/>
        </p:nvSpPr>
        <p:spPr>
          <a:xfrm xmlns:a="http://schemas.openxmlformats.org/drawingml/2006/main">
            <a:off x="685800" y="2266950"/>
            <a:ext cx="1581150" cy="1066800"/>
          </a:xfrm>
          <a:prstGeom xmlns:a="http://schemas.openxmlformats.org/drawingml/2006/main" prst="roundRect">
            <a:avLst>
              <a:gd name="adj" fmla="val 10714"/>
            </a:avLst>
          </a:prstGeom>
          <a:solidFill xmlns:a="http://schemas.openxmlformats.org/drawingml/2006/main">
            <a:srgbClr val="111D34"/>
          </a:solidFill>
          <a:ln xmlns:a="http://schemas.openxmlformats.org/drawingml/2006/main" w="9525">
            <a:solidFill>
              <a:srgbClr val="D9DEE8"/>
            </a:solidFill>
            <a:prstDash val="solid"/>
          </a:ln>
        </p:spPr>
      </p:sp>
      <p:sp>
        <p:nvSpPr>
          <p:cNvPr id="5" name="">
            <a:extLst xmlns:a="http://schemas.openxmlformats.org/drawingml/2006/main">
              <a:ext uri="{FF2B5EF4-FFF2-40B4-BE49-F238E27FC236}">
                <a16:creationId xmlns:a16="http://schemas.microsoft.com/office/drawing/2014/main" id="{91FD4A74-3F7A-4CE0-8C62-26CF45A67B02}"/>
              </a:ext>
            </a:extLst>
          </p:cNvPr>
          <p:cNvSpPr>
            <a:spLocks xmlns:a="http://schemas.openxmlformats.org/drawingml/2006/main" noGrp="1"/>
          </p:cNvSpPr>
          <p:nvPr/>
        </p:nvSpPr>
        <p:spPr>
          <a:xfrm xmlns:a="http://schemas.openxmlformats.org/drawingml/2006/main">
            <a:off x="819150" y="2552700"/>
            <a:ext cx="1314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a:solidFill>
                  <a:srgbClr val="FFFFFF"/>
                </a:solidFill>
                <a:latin typeface="Avenir Next"/>
                <a:ea typeface="Avenir Next"/>
                <a:cs typeface="Avenir Next"/>
              </a:defRPr>
            </a:defPPr>
          </a:lstStyle>
          <a:p xmlns:a="http://schemas.openxmlformats.org/drawingml/2006/main">
            <a:pPr algn="ctr">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Business</a:t>
            </a:r>
          </a:p>
          <a:p xmlns:a="http://schemas.openxmlformats.org/drawingml/2006/main">
            <a:pPr algn="ctr">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objective</a:t>
            </a:r>
          </a:p>
        </p:txBody>
      </p:sp>
      <p:cxnSp>
        <p:nvCxnSpPr>
          <p:cNvPr id="6" name="">
            <a:extLst xmlns:a="http://schemas.openxmlformats.org/drawingml/2006/main">
              <a:ext uri="{FF2B5EF4-FFF2-40B4-BE49-F238E27FC236}">
                <a16:creationId xmlns:a16="http://schemas.microsoft.com/office/drawing/2014/main" id="{A77B2AED-7DB8-4862-952D-1A3A425A3712}"/>
              </a:ext>
            </a:extLst>
          </p:cNvPr>
          <p:cNvCxnSpPr/>
          <p:nvPr/>
        </p:nvCxnSpPr>
        <p:spPr>
          <a:xfrm xmlns:a="http://schemas.openxmlformats.org/drawingml/2006/main">
            <a:off x="2266950" y="2800350"/>
            <a:ext cx="361950" cy="0"/>
          </a:xfrm>
          <a:prstGeom xmlns:a="http://schemas.openxmlformats.org/drawingml/2006/main" prst="bentConnector4">
            <a:avLst/>
          </a:prstGeom>
          <a:ln xmlns:a="http://schemas.openxmlformats.org/drawingml/2006/main" w="28575">
            <a:solidFill>
              <a:srgbClr val="D9DEE8"/>
            </a:solidFill>
            <a:prstDash val="solid"/>
          </a:ln>
        </p:spPr>
      </p:cxnSp>
      <p:sp>
        <p:nvSpPr>
          <p:cNvPr id="7" name="">
            <a:extLst xmlns:a="http://schemas.openxmlformats.org/drawingml/2006/main">
              <a:ext uri="{FF2B5EF4-FFF2-40B4-BE49-F238E27FC236}">
                <a16:creationId xmlns:a16="http://schemas.microsoft.com/office/drawing/2014/main" id="{A12B31CD-3684-401B-84C4-508679FDFC1A}"/>
              </a:ext>
            </a:extLst>
          </p:cNvPr>
          <p:cNvSpPr>
            <a:spLocks xmlns:a="http://schemas.openxmlformats.org/drawingml/2006/main" noGrp="1"/>
          </p:cNvSpPr>
          <p:nvPr/>
        </p:nvSpPr>
        <p:spPr>
          <a:xfrm xmlns:a="http://schemas.openxmlformats.org/drawingml/2006/main">
            <a:off x="2628900" y="2266950"/>
            <a:ext cx="1581150" cy="1066800"/>
          </a:xfrm>
          <a:prstGeom xmlns:a="http://schemas.openxmlformats.org/drawingml/2006/main" prst="roundRect">
            <a:avLst>
              <a:gd name="adj" fmla="val 10714"/>
            </a:avLst>
          </a:prstGeom>
          <a:solidFill xmlns:a="http://schemas.openxmlformats.org/drawingml/2006/main">
            <a:srgbClr val="EAF0FF"/>
          </a:solidFill>
          <a:ln xmlns:a="http://schemas.openxmlformats.org/drawingml/2006/main" w="9525">
            <a:solidFill>
              <a:srgbClr val="D9DEE8"/>
            </a:solidFill>
            <a:prstDash val="solid"/>
          </a:ln>
        </p:spPr>
      </p:sp>
      <p:sp>
        <p:nvSpPr>
          <p:cNvPr id="8" name="">
            <a:extLst xmlns:a="http://schemas.openxmlformats.org/drawingml/2006/main">
              <a:ext uri="{FF2B5EF4-FFF2-40B4-BE49-F238E27FC236}">
                <a16:creationId xmlns:a16="http://schemas.microsoft.com/office/drawing/2014/main" id="{A4101536-2B63-4699-B449-F391241ADA42}"/>
              </a:ext>
            </a:extLst>
          </p:cNvPr>
          <p:cNvSpPr>
            <a:spLocks xmlns:a="http://schemas.openxmlformats.org/drawingml/2006/main" noGrp="1"/>
          </p:cNvSpPr>
          <p:nvPr/>
        </p:nvSpPr>
        <p:spPr>
          <a:xfrm xmlns:a="http://schemas.openxmlformats.org/drawingml/2006/main">
            <a:off x="2762250" y="2552700"/>
            <a:ext cx="1314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a:solidFill>
                  <a:srgbClr val="0B1324"/>
                </a:solidFill>
                <a:latin typeface="Avenir Next"/>
                <a:ea typeface="Avenir Next"/>
                <a:cs typeface="Avenir Next"/>
              </a:defRPr>
            </a:defPPr>
          </a:lstStyle>
          <a:p xmlns:a="http://schemas.openxmlformats.org/drawingml/2006/main">
            <a:pPr algn="ctr">
              <a:defRPr sz="1275" b="1">
                <a:solidFill>
                  <a:srgbClr val="0B1324"/>
                </a:solidFill>
                <a:latin typeface="Avenir Next"/>
                <a:ea typeface="Avenir Next"/>
                <a:cs typeface="Avenir Next"/>
              </a:defRPr>
            </a:pPr>
            <a:r>
              <a:rPr sz="1275" b="1">
                <a:solidFill>
                  <a:srgbClr val="0B1324"/>
                </a:solidFill>
                <a:latin typeface="Avenir Next"/>
                <a:ea typeface="Avenir Next"/>
                <a:cs typeface="Avenir Next"/>
              </a:rPr>
              <a:t>Data</a:t>
            </a:r>
          </a:p>
          <a:p xmlns:a="http://schemas.openxmlformats.org/drawingml/2006/main">
            <a:pPr algn="ctr">
              <a:defRPr sz="1275" b="1">
                <a:solidFill>
                  <a:srgbClr val="0B1324"/>
                </a:solidFill>
                <a:latin typeface="Avenir Next"/>
                <a:ea typeface="Avenir Next"/>
                <a:cs typeface="Avenir Next"/>
              </a:defRPr>
            </a:pPr>
            <a:r>
              <a:rPr sz="1275" b="1">
                <a:solidFill>
                  <a:srgbClr val="0B1324"/>
                </a:solidFill>
                <a:latin typeface="Avenir Next"/>
                <a:ea typeface="Avenir Next"/>
                <a:cs typeface="Avenir Next"/>
              </a:rPr>
              <a:t>engineering</a:t>
            </a:r>
          </a:p>
        </p:txBody>
      </p:sp>
      <p:cxnSp>
        <p:nvCxnSpPr>
          <p:cNvPr id="9" name="">
            <a:extLst xmlns:a="http://schemas.openxmlformats.org/drawingml/2006/main">
              <a:ext uri="{FF2B5EF4-FFF2-40B4-BE49-F238E27FC236}">
                <a16:creationId xmlns:a16="http://schemas.microsoft.com/office/drawing/2014/main" id="{AD1BDBA8-7AD0-48FA-8361-78555524F302}"/>
              </a:ext>
            </a:extLst>
          </p:cNvPr>
          <p:cNvCxnSpPr/>
          <p:nvPr/>
        </p:nvCxnSpPr>
        <p:spPr>
          <a:xfrm xmlns:a="http://schemas.openxmlformats.org/drawingml/2006/main">
            <a:off x="4210050" y="2800350"/>
            <a:ext cx="361950" cy="0"/>
          </a:xfrm>
          <a:prstGeom xmlns:a="http://schemas.openxmlformats.org/drawingml/2006/main" prst="bentConnector4">
            <a:avLst/>
          </a:prstGeom>
          <a:ln xmlns:a="http://schemas.openxmlformats.org/drawingml/2006/main" w="28575">
            <a:solidFill>
              <a:srgbClr val="F05A28"/>
            </a:solidFill>
            <a:prstDash val="solid"/>
          </a:ln>
        </p:spPr>
      </p:cxnSp>
      <p:sp>
        <p:nvSpPr>
          <p:cNvPr id="10" name="">
            <a:extLst xmlns:a="http://schemas.openxmlformats.org/drawingml/2006/main">
              <a:ext uri="{FF2B5EF4-FFF2-40B4-BE49-F238E27FC236}">
                <a16:creationId xmlns:a16="http://schemas.microsoft.com/office/drawing/2014/main" id="{64496978-1C60-4711-A951-4808DCD821C9}"/>
              </a:ext>
            </a:extLst>
          </p:cNvPr>
          <p:cNvSpPr>
            <a:spLocks xmlns:a="http://schemas.openxmlformats.org/drawingml/2006/main" noGrp="1"/>
          </p:cNvSpPr>
          <p:nvPr/>
        </p:nvSpPr>
        <p:spPr>
          <a:xfrm xmlns:a="http://schemas.openxmlformats.org/drawingml/2006/main">
            <a:off x="4572000" y="2266950"/>
            <a:ext cx="1581150" cy="1066800"/>
          </a:xfrm>
          <a:prstGeom xmlns:a="http://schemas.openxmlformats.org/drawingml/2006/main" prst="roundRect">
            <a:avLst>
              <a:gd name="adj" fmla="val 10714"/>
            </a:avLst>
          </a:prstGeom>
          <a:solidFill xmlns:a="http://schemas.openxmlformats.org/drawingml/2006/main">
            <a:srgbClr val="F05A28"/>
          </a:solidFill>
          <a:ln xmlns:a="http://schemas.openxmlformats.org/drawingml/2006/main" w="0">
            <a:solidFill>
              <a:srgbClr val="F05A28"/>
            </a:solidFill>
            <a:prstDash val="solid"/>
          </a:ln>
        </p:spPr>
      </p:sp>
      <p:sp>
        <p:nvSpPr>
          <p:cNvPr id="11" name="">
            <a:extLst xmlns:a="http://schemas.openxmlformats.org/drawingml/2006/main">
              <a:ext uri="{FF2B5EF4-FFF2-40B4-BE49-F238E27FC236}">
                <a16:creationId xmlns:a16="http://schemas.microsoft.com/office/drawing/2014/main" id="{76C21B1B-6FB0-4EA6-9473-A3F212FF5084}"/>
              </a:ext>
            </a:extLst>
          </p:cNvPr>
          <p:cNvSpPr>
            <a:spLocks xmlns:a="http://schemas.openxmlformats.org/drawingml/2006/main" noGrp="1"/>
          </p:cNvSpPr>
          <p:nvPr/>
        </p:nvSpPr>
        <p:spPr>
          <a:xfrm xmlns:a="http://schemas.openxmlformats.org/drawingml/2006/main">
            <a:off x="4705350" y="2552700"/>
            <a:ext cx="1314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a:solidFill>
                  <a:srgbClr val="FFFFFF"/>
                </a:solidFill>
                <a:latin typeface="Avenir Next"/>
                <a:ea typeface="Avenir Next"/>
                <a:cs typeface="Avenir Next"/>
              </a:defRPr>
            </a:defPPr>
          </a:lstStyle>
          <a:p xmlns:a="http://schemas.openxmlformats.org/drawingml/2006/main">
            <a:pPr algn="ctr">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GX</a:t>
            </a:r>
          </a:p>
          <a:p xmlns:a="http://schemas.openxmlformats.org/drawingml/2006/main">
            <a:pPr algn="ctr">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validation</a:t>
            </a:r>
          </a:p>
        </p:txBody>
      </p:sp>
      <p:cxnSp>
        <p:nvCxnSpPr>
          <p:cNvPr id="12" name="">
            <a:extLst xmlns:a="http://schemas.openxmlformats.org/drawingml/2006/main">
              <a:ext uri="{FF2B5EF4-FFF2-40B4-BE49-F238E27FC236}">
                <a16:creationId xmlns:a16="http://schemas.microsoft.com/office/drawing/2014/main" id="{131E94DB-1F59-4894-BFC3-4CF80E8E0504}"/>
              </a:ext>
            </a:extLst>
          </p:cNvPr>
          <p:cNvCxnSpPr/>
          <p:nvPr/>
        </p:nvCxnSpPr>
        <p:spPr>
          <a:xfrm xmlns:a="http://schemas.openxmlformats.org/drawingml/2006/main">
            <a:off x="6153150" y="2800350"/>
            <a:ext cx="361950" cy="0"/>
          </a:xfrm>
          <a:prstGeom xmlns:a="http://schemas.openxmlformats.org/drawingml/2006/main" prst="bentConnector4">
            <a:avLst/>
          </a:prstGeom>
          <a:ln xmlns:a="http://schemas.openxmlformats.org/drawingml/2006/main" w="28575">
            <a:solidFill>
              <a:srgbClr val="D9DEE8"/>
            </a:solidFill>
            <a:prstDash val="solid"/>
          </a:ln>
        </p:spPr>
      </p:cxnSp>
      <p:sp>
        <p:nvSpPr>
          <p:cNvPr id="13" name="">
            <a:extLst xmlns:a="http://schemas.openxmlformats.org/drawingml/2006/main">
              <a:ext uri="{FF2B5EF4-FFF2-40B4-BE49-F238E27FC236}">
                <a16:creationId xmlns:a16="http://schemas.microsoft.com/office/drawing/2014/main" id="{FB9DD277-2BD3-4B98-AD72-0287726678D9}"/>
              </a:ext>
            </a:extLst>
          </p:cNvPr>
          <p:cNvSpPr>
            <a:spLocks xmlns:a="http://schemas.openxmlformats.org/drawingml/2006/main" noGrp="1"/>
          </p:cNvSpPr>
          <p:nvPr/>
        </p:nvSpPr>
        <p:spPr>
          <a:xfrm xmlns:a="http://schemas.openxmlformats.org/drawingml/2006/main">
            <a:off x="6515100" y="2266950"/>
            <a:ext cx="1581150" cy="1066800"/>
          </a:xfrm>
          <a:prstGeom xmlns:a="http://schemas.openxmlformats.org/drawingml/2006/main" prst="roundRect">
            <a:avLst>
              <a:gd name="adj" fmla="val 10714"/>
            </a:avLst>
          </a:prstGeom>
          <a:solidFill xmlns:a="http://schemas.openxmlformats.org/drawingml/2006/main">
            <a:srgbClr val="E9F7F1"/>
          </a:solidFill>
          <a:ln xmlns:a="http://schemas.openxmlformats.org/drawingml/2006/main" w="9525">
            <a:solidFill>
              <a:srgbClr val="D9DEE8"/>
            </a:solidFill>
            <a:prstDash val="solid"/>
          </a:ln>
        </p:spPr>
      </p:sp>
      <p:sp>
        <p:nvSpPr>
          <p:cNvPr id="14" name="">
            <a:extLst xmlns:a="http://schemas.openxmlformats.org/drawingml/2006/main">
              <a:ext uri="{FF2B5EF4-FFF2-40B4-BE49-F238E27FC236}">
                <a16:creationId xmlns:a16="http://schemas.microsoft.com/office/drawing/2014/main" id="{F1278374-2422-4939-B4B8-6122B6F2D80D}"/>
              </a:ext>
            </a:extLst>
          </p:cNvPr>
          <p:cNvSpPr>
            <a:spLocks xmlns:a="http://schemas.openxmlformats.org/drawingml/2006/main" noGrp="1"/>
          </p:cNvSpPr>
          <p:nvPr/>
        </p:nvSpPr>
        <p:spPr>
          <a:xfrm xmlns:a="http://schemas.openxmlformats.org/drawingml/2006/main">
            <a:off x="6648450" y="2552700"/>
            <a:ext cx="1314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a:solidFill>
                  <a:srgbClr val="0B1324"/>
                </a:solidFill>
                <a:latin typeface="Avenir Next"/>
                <a:ea typeface="Avenir Next"/>
                <a:cs typeface="Avenir Next"/>
              </a:defRPr>
            </a:defPPr>
          </a:lstStyle>
          <a:p xmlns:a="http://schemas.openxmlformats.org/drawingml/2006/main">
            <a:pPr algn="ctr">
              <a:defRPr sz="1275" b="1">
                <a:solidFill>
                  <a:srgbClr val="0B1324"/>
                </a:solidFill>
                <a:latin typeface="Avenir Next"/>
                <a:ea typeface="Avenir Next"/>
                <a:cs typeface="Avenir Next"/>
              </a:defRPr>
            </a:pPr>
            <a:r>
              <a:rPr sz="1275" b="1">
                <a:solidFill>
                  <a:srgbClr val="0B1324"/>
                </a:solidFill>
                <a:latin typeface="Avenir Next"/>
                <a:ea typeface="Avenir Next"/>
                <a:cs typeface="Avenir Next"/>
              </a:rPr>
              <a:t>Model</a:t>
            </a:r>
          </a:p>
          <a:p xmlns:a="http://schemas.openxmlformats.org/drawingml/2006/main">
            <a:pPr algn="ctr">
              <a:defRPr sz="1275" b="1">
                <a:solidFill>
                  <a:srgbClr val="0B1324"/>
                </a:solidFill>
                <a:latin typeface="Avenir Next"/>
                <a:ea typeface="Avenir Next"/>
                <a:cs typeface="Avenir Next"/>
              </a:defRPr>
            </a:pPr>
            <a:r>
              <a:rPr sz="1275" b="1">
                <a:solidFill>
                  <a:srgbClr val="0B1324"/>
                </a:solidFill>
                <a:latin typeface="Avenir Next"/>
                <a:ea typeface="Avenir Next"/>
                <a:cs typeface="Avenir Next"/>
              </a:rPr>
              <a:t>development</a:t>
            </a:r>
          </a:p>
        </p:txBody>
      </p:sp>
      <p:cxnSp>
        <p:nvCxnSpPr>
          <p:cNvPr id="15" name="">
            <a:extLst xmlns:a="http://schemas.openxmlformats.org/drawingml/2006/main">
              <a:ext uri="{FF2B5EF4-FFF2-40B4-BE49-F238E27FC236}">
                <a16:creationId xmlns:a16="http://schemas.microsoft.com/office/drawing/2014/main" id="{F850F98D-8892-4DCF-B62C-03A94139111A}"/>
              </a:ext>
            </a:extLst>
          </p:cNvPr>
          <p:cNvCxnSpPr/>
          <p:nvPr/>
        </p:nvCxnSpPr>
        <p:spPr>
          <a:xfrm xmlns:a="http://schemas.openxmlformats.org/drawingml/2006/main">
            <a:off x="8096250" y="2800350"/>
            <a:ext cx="361950" cy="0"/>
          </a:xfrm>
          <a:prstGeom xmlns:a="http://schemas.openxmlformats.org/drawingml/2006/main" prst="bentConnector4">
            <a:avLst/>
          </a:prstGeom>
          <a:ln xmlns:a="http://schemas.openxmlformats.org/drawingml/2006/main" w="28575">
            <a:solidFill>
              <a:srgbClr val="D9DEE8"/>
            </a:solidFill>
            <a:prstDash val="solid"/>
          </a:ln>
        </p:spPr>
      </p:cxnSp>
      <p:sp>
        <p:nvSpPr>
          <p:cNvPr id="16" name="">
            <a:extLst xmlns:a="http://schemas.openxmlformats.org/drawingml/2006/main">
              <a:ext uri="{FF2B5EF4-FFF2-40B4-BE49-F238E27FC236}">
                <a16:creationId xmlns:a16="http://schemas.microsoft.com/office/drawing/2014/main" id="{556C17F8-2418-4EB6-A23F-39D07AE0AC6F}"/>
              </a:ext>
            </a:extLst>
          </p:cNvPr>
          <p:cNvSpPr>
            <a:spLocks xmlns:a="http://schemas.openxmlformats.org/drawingml/2006/main" noGrp="1"/>
          </p:cNvSpPr>
          <p:nvPr/>
        </p:nvSpPr>
        <p:spPr>
          <a:xfrm xmlns:a="http://schemas.openxmlformats.org/drawingml/2006/main">
            <a:off x="8458200" y="2266950"/>
            <a:ext cx="1581150" cy="1066800"/>
          </a:xfrm>
          <a:prstGeom xmlns:a="http://schemas.openxmlformats.org/drawingml/2006/main" prst="roundRect">
            <a:avLst>
              <a:gd name="adj" fmla="val 10714"/>
            </a:avLst>
          </a:prstGeom>
          <a:solidFill xmlns:a="http://schemas.openxmlformats.org/drawingml/2006/main">
            <a:srgbClr val="3E6AE1"/>
          </a:solidFill>
          <a:ln xmlns:a="http://schemas.openxmlformats.org/drawingml/2006/main" w="9525">
            <a:solidFill>
              <a:srgbClr val="D9DEE8"/>
            </a:solidFill>
            <a:prstDash val="solid"/>
          </a:ln>
        </p:spPr>
      </p:sp>
      <p:sp>
        <p:nvSpPr>
          <p:cNvPr id="17" name="">
            <a:extLst xmlns:a="http://schemas.openxmlformats.org/drawingml/2006/main">
              <a:ext uri="{FF2B5EF4-FFF2-40B4-BE49-F238E27FC236}">
                <a16:creationId xmlns:a16="http://schemas.microsoft.com/office/drawing/2014/main" id="{A227928F-1C6E-4633-9FF3-8A4D59BE6E37}"/>
              </a:ext>
            </a:extLst>
          </p:cNvPr>
          <p:cNvSpPr>
            <a:spLocks xmlns:a="http://schemas.openxmlformats.org/drawingml/2006/main" noGrp="1"/>
          </p:cNvSpPr>
          <p:nvPr/>
        </p:nvSpPr>
        <p:spPr>
          <a:xfrm xmlns:a="http://schemas.openxmlformats.org/drawingml/2006/main">
            <a:off x="8591550" y="2552700"/>
            <a:ext cx="1314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a:solidFill>
                  <a:srgbClr val="FFFFFF"/>
                </a:solidFill>
                <a:latin typeface="Avenir Next"/>
                <a:ea typeface="Avenir Next"/>
                <a:cs typeface="Avenir Next"/>
              </a:defRPr>
            </a:defPPr>
          </a:lstStyle>
          <a:p xmlns:a="http://schemas.openxmlformats.org/drawingml/2006/main">
            <a:pPr algn="ctr">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Deploy +</a:t>
            </a:r>
          </a:p>
          <a:p xmlns:a="http://schemas.openxmlformats.org/drawingml/2006/main">
            <a:pPr algn="ctr">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monitor</a:t>
            </a:r>
          </a:p>
        </p:txBody>
      </p:sp>
      <p:cxnSp>
        <p:nvCxnSpPr>
          <p:cNvPr id="18" name="">
            <a:extLst xmlns:a="http://schemas.openxmlformats.org/drawingml/2006/main">
              <a:ext uri="{FF2B5EF4-FFF2-40B4-BE49-F238E27FC236}">
                <a16:creationId xmlns:a16="http://schemas.microsoft.com/office/drawing/2014/main" id="{2C78C79D-55FB-496B-8682-7C8DD6FCFA9E}"/>
              </a:ext>
            </a:extLst>
          </p:cNvPr>
          <p:cNvCxnSpPr/>
          <p:nvPr/>
        </p:nvCxnSpPr>
        <p:spPr>
          <a:xfrm xmlns:a="http://schemas.openxmlformats.org/drawingml/2006/main">
            <a:off x="9248775" y="3333750"/>
            <a:ext cx="0" cy="1362075"/>
          </a:xfrm>
          <a:prstGeom xmlns:a="http://schemas.openxmlformats.org/drawingml/2006/main" prst="bentConnector4">
            <a:avLst/>
          </a:prstGeom>
          <a:ln xmlns:a="http://schemas.openxmlformats.org/drawingml/2006/main" w="28575">
            <a:solidFill>
              <a:srgbClr val="3E6AE1"/>
            </a:solidFill>
            <a:prstDash val="solid"/>
          </a:ln>
        </p:spPr>
      </p:cxnSp>
      <p:cxnSp>
        <p:nvCxnSpPr>
          <p:cNvPr id="19" name="">
            <a:extLst xmlns:a="http://schemas.openxmlformats.org/drawingml/2006/main">
              <a:ext uri="{FF2B5EF4-FFF2-40B4-BE49-F238E27FC236}">
                <a16:creationId xmlns:a16="http://schemas.microsoft.com/office/drawing/2014/main" id="{D2BC5918-5626-494F-82F0-C763B26A87E9}"/>
              </a:ext>
            </a:extLst>
          </p:cNvPr>
          <p:cNvCxnSpPr/>
          <p:nvPr/>
        </p:nvCxnSpPr>
        <p:spPr>
          <a:xfrm xmlns:a="http://schemas.openxmlformats.org/drawingml/2006/main">
            <a:off x="1485900" y="4695825"/>
            <a:ext cx="7762875" cy="0"/>
          </a:xfrm>
          <a:prstGeom xmlns:a="http://schemas.openxmlformats.org/drawingml/2006/main" prst="bentConnector4">
            <a:avLst/>
          </a:prstGeom>
          <a:ln xmlns:a="http://schemas.openxmlformats.org/drawingml/2006/main" w="28575">
            <a:solidFill>
              <a:srgbClr val="3E6AE1"/>
            </a:solidFill>
            <a:prstDash val="solid"/>
          </a:ln>
        </p:spPr>
      </p:cxnSp>
      <p:cxnSp>
        <p:nvCxnSpPr>
          <p:cNvPr id="20" name="">
            <a:extLst xmlns:a="http://schemas.openxmlformats.org/drawingml/2006/main">
              <a:ext uri="{FF2B5EF4-FFF2-40B4-BE49-F238E27FC236}">
                <a16:creationId xmlns:a16="http://schemas.microsoft.com/office/drawing/2014/main" id="{561A957E-0444-4131-AC55-EA16BEBB9344}"/>
              </a:ext>
            </a:extLst>
          </p:cNvPr>
          <p:cNvCxnSpPr/>
          <p:nvPr/>
        </p:nvCxnSpPr>
        <p:spPr>
          <a:xfrm xmlns:a="http://schemas.openxmlformats.org/drawingml/2006/main">
            <a:off x="1485900" y="3333750"/>
            <a:ext cx="0" cy="1362075"/>
          </a:xfrm>
          <a:prstGeom xmlns:a="http://schemas.openxmlformats.org/drawingml/2006/main" prst="bentConnector4">
            <a:avLst/>
          </a:prstGeom>
          <a:ln xmlns:a="http://schemas.openxmlformats.org/drawingml/2006/main" w="28575">
            <a:solidFill>
              <a:srgbClr val="3E6AE1"/>
            </a:solidFill>
            <a:prstDash val="solid"/>
          </a:ln>
        </p:spPr>
      </p:cxnSp>
      <p:sp>
        <p:nvSpPr>
          <p:cNvPr id="21" name="">
            <a:extLst xmlns:a="http://schemas.openxmlformats.org/drawingml/2006/main">
              <a:ext uri="{FF2B5EF4-FFF2-40B4-BE49-F238E27FC236}">
                <a16:creationId xmlns:a16="http://schemas.microsoft.com/office/drawing/2014/main" id="{7FA0760D-AB19-4F7C-950B-D031D725DEFF}"/>
              </a:ext>
            </a:extLst>
          </p:cNvPr>
          <p:cNvSpPr>
            <a:spLocks xmlns:a="http://schemas.openxmlformats.org/drawingml/2006/main" noGrp="1"/>
          </p:cNvSpPr>
          <p:nvPr/>
        </p:nvSpPr>
        <p:spPr>
          <a:xfrm xmlns:a="http://schemas.openxmlformats.org/drawingml/2006/main">
            <a:off x="4762500" y="4533900"/>
            <a:ext cx="1219200" cy="323850"/>
          </a:xfrm>
          <a:prstGeom xmlns:a="http://schemas.openxmlformats.org/drawingml/2006/main" prst="roundRect">
            <a:avLst>
              <a:gd name="adj" fmla="val 35294"/>
            </a:avLst>
          </a:prstGeom>
          <a:solidFill xmlns:a="http://schemas.openxmlformats.org/drawingml/2006/main">
            <a:srgbClr val="EAF0FF"/>
          </a:solidFill>
          <a:ln xmlns:a="http://schemas.openxmlformats.org/drawingml/2006/main" w="0">
            <a:solidFill>
              <a:srgbClr val="EAF0FF"/>
            </a:solidFill>
            <a:prstDash val="solid"/>
          </a:ln>
        </p:spPr>
      </p:sp>
      <p:sp>
        <p:nvSpPr>
          <p:cNvPr id="22" name="">
            <a:extLst xmlns:a="http://schemas.openxmlformats.org/drawingml/2006/main">
              <a:ext uri="{FF2B5EF4-FFF2-40B4-BE49-F238E27FC236}">
                <a16:creationId xmlns:a16="http://schemas.microsoft.com/office/drawing/2014/main" id="{A43E9B6E-D887-4565-BEBA-230C77FB9119}"/>
              </a:ext>
            </a:extLst>
          </p:cNvPr>
          <p:cNvSpPr>
            <a:spLocks xmlns:a="http://schemas.openxmlformats.org/drawingml/2006/main" noGrp="1"/>
          </p:cNvSpPr>
          <p:nvPr/>
        </p:nvSpPr>
        <p:spPr>
          <a:xfrm xmlns:a="http://schemas.openxmlformats.org/drawingml/2006/main">
            <a:off x="4857750" y="4600575"/>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a:solidFill>
                  <a:srgbClr val="3E6AE1"/>
                </a:solidFill>
                <a:latin typeface="Avenir Next"/>
                <a:ea typeface="Avenir Next"/>
                <a:cs typeface="Avenir Next"/>
              </a:defRPr>
            </a:defPPr>
          </a:lstStyle>
          <a:p xmlns:a="http://schemas.openxmlformats.org/drawingml/2006/main">
            <a:pPr algn="ctr">
              <a:defRPr sz="900" b="1">
                <a:solidFill>
                  <a:srgbClr val="3E6AE1"/>
                </a:solidFill>
                <a:latin typeface="Avenir Next"/>
                <a:ea typeface="Avenir Next"/>
                <a:cs typeface="Avenir Next"/>
              </a:defRPr>
            </a:pPr>
            <a:r>
              <a:rPr sz="900" b="1">
                <a:solidFill>
                  <a:srgbClr val="3E6AE1"/>
                </a:solidFill>
                <a:latin typeface="Avenir Next"/>
                <a:ea typeface="Avenir Next"/>
                <a:cs typeface="Avenir Next"/>
              </a:rPr>
              <a:t>FEEDBACK</a:t>
            </a:r>
          </a:p>
        </p:txBody>
      </p:sp>
      <p:sp>
        <p:nvSpPr>
          <p:cNvPr id="23" name="">
            <a:extLst xmlns:a="http://schemas.openxmlformats.org/drawingml/2006/main">
              <a:ext uri="{FF2B5EF4-FFF2-40B4-BE49-F238E27FC236}">
                <a16:creationId xmlns:a16="http://schemas.microsoft.com/office/drawing/2014/main" id="{CE911667-BF30-42EE-9D0F-671AB0F9BC79}"/>
              </a:ext>
            </a:extLst>
          </p:cNvPr>
          <p:cNvSpPr>
            <a:spLocks xmlns:a="http://schemas.openxmlformats.org/drawingml/2006/main" noGrp="1"/>
          </p:cNvSpPr>
          <p:nvPr/>
        </p:nvSpPr>
        <p:spPr>
          <a:xfrm xmlns:a="http://schemas.openxmlformats.org/drawingml/2006/main">
            <a:off x="685800" y="5219700"/>
            <a:ext cx="5105400" cy="628650"/>
          </a:xfrm>
          <a:prstGeom xmlns:a="http://schemas.openxmlformats.org/drawingml/2006/main" prst="roundRect">
            <a:avLst>
              <a:gd name="adj" fmla="val 18182"/>
            </a:avLst>
          </a:prstGeom>
          <a:solidFill xmlns:a="http://schemas.openxmlformats.org/drawingml/2006/main">
            <a:srgbClr val="FFF0EA"/>
          </a:solidFill>
          <a:ln xmlns:a="http://schemas.openxmlformats.org/drawingml/2006/main" w="0">
            <a:solidFill>
              <a:srgbClr val="FFF0EA"/>
            </a:solidFill>
            <a:prstDash val="solid"/>
          </a:ln>
        </p:spPr>
      </p:sp>
      <p:sp>
        <p:nvSpPr>
          <p:cNvPr id="24" name="">
            <a:extLst xmlns:a="http://schemas.openxmlformats.org/drawingml/2006/main">
              <a:ext uri="{FF2B5EF4-FFF2-40B4-BE49-F238E27FC236}">
                <a16:creationId xmlns:a16="http://schemas.microsoft.com/office/drawing/2014/main" id="{209F7202-58B8-4ED1-AC3B-5E379FE29FD7}"/>
              </a:ext>
            </a:extLst>
          </p:cNvPr>
          <p:cNvSpPr>
            <a:spLocks xmlns:a="http://schemas.openxmlformats.org/drawingml/2006/main" noGrp="1"/>
          </p:cNvSpPr>
          <p:nvPr/>
        </p:nvSpPr>
        <p:spPr>
          <a:xfrm xmlns:a="http://schemas.openxmlformats.org/drawingml/2006/main">
            <a:off x="914400" y="5410200"/>
            <a:ext cx="464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a:solidFill>
                  <a:srgbClr val="F05A28"/>
                </a:solidFill>
                <a:latin typeface="Avenir Next"/>
                <a:ea typeface="Avenir Next"/>
                <a:cs typeface="Avenir Next"/>
              </a:defRPr>
            </a:defPPr>
          </a:lstStyle>
          <a:p xmlns:a="http://schemas.openxmlformats.org/drawingml/2006/main">
            <a:pPr algn="ctr">
              <a:defRPr sz="1425" b="1">
                <a:solidFill>
                  <a:srgbClr val="F05A28"/>
                </a:solidFill>
                <a:latin typeface="Avenir Next"/>
                <a:ea typeface="Avenir Next"/>
                <a:cs typeface="Avenir Next"/>
              </a:defRPr>
            </a:pPr>
            <a:r>
              <a:rPr sz="1425" b="1">
                <a:solidFill>
                  <a:srgbClr val="F05A28"/>
                </a:solidFill>
                <a:latin typeface="Avenir Next"/>
                <a:ea typeface="Avenir Next"/>
                <a:cs typeface="Avenir Next"/>
              </a:rPr>
              <a:t>GX: known rules before training</a:t>
            </a:r>
          </a:p>
        </p:txBody>
      </p:sp>
      <p:sp>
        <p:nvSpPr>
          <p:cNvPr id="25" name="">
            <a:extLst xmlns:a="http://schemas.openxmlformats.org/drawingml/2006/main">
              <a:ext uri="{FF2B5EF4-FFF2-40B4-BE49-F238E27FC236}">
                <a16:creationId xmlns:a16="http://schemas.microsoft.com/office/drawing/2014/main" id="{8C2FA18A-B58F-43D7-8639-24C8B111C265}"/>
              </a:ext>
            </a:extLst>
          </p:cNvPr>
          <p:cNvSpPr>
            <a:spLocks xmlns:a="http://schemas.openxmlformats.org/drawingml/2006/main" noGrp="1"/>
          </p:cNvSpPr>
          <p:nvPr/>
        </p:nvSpPr>
        <p:spPr>
          <a:xfrm xmlns:a="http://schemas.openxmlformats.org/drawingml/2006/main">
            <a:off x="6400800" y="5219700"/>
            <a:ext cx="5105400" cy="628650"/>
          </a:xfrm>
          <a:prstGeom xmlns:a="http://schemas.openxmlformats.org/drawingml/2006/main" prst="roundRect">
            <a:avLst>
              <a:gd name="adj" fmla="val 18182"/>
            </a:avLst>
          </a:prstGeom>
          <a:solidFill xmlns:a="http://schemas.openxmlformats.org/drawingml/2006/main">
            <a:srgbClr val="EAF0FF"/>
          </a:solidFill>
          <a:ln xmlns:a="http://schemas.openxmlformats.org/drawingml/2006/main" w="0">
            <a:solidFill>
              <a:srgbClr val="EAF0FF"/>
            </a:solidFill>
            <a:prstDash val="solid"/>
          </a:ln>
        </p:spPr>
      </p:sp>
      <p:sp>
        <p:nvSpPr>
          <p:cNvPr id="26" name="">
            <a:extLst xmlns:a="http://schemas.openxmlformats.org/drawingml/2006/main">
              <a:ext uri="{FF2B5EF4-FFF2-40B4-BE49-F238E27FC236}">
                <a16:creationId xmlns:a16="http://schemas.microsoft.com/office/drawing/2014/main" id="{A631F590-C2FF-4804-932E-3C7655893C2E}"/>
              </a:ext>
            </a:extLst>
          </p:cNvPr>
          <p:cNvSpPr>
            <a:spLocks xmlns:a="http://schemas.openxmlformats.org/drawingml/2006/main" noGrp="1"/>
          </p:cNvSpPr>
          <p:nvPr/>
        </p:nvSpPr>
        <p:spPr>
          <a:xfrm xmlns:a="http://schemas.openxmlformats.org/drawingml/2006/main">
            <a:off x="6629400" y="5410200"/>
            <a:ext cx="464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a:solidFill>
                  <a:srgbClr val="3E6AE1"/>
                </a:solidFill>
                <a:latin typeface="Avenir Next"/>
                <a:ea typeface="Avenir Next"/>
                <a:cs typeface="Avenir Next"/>
              </a:defRPr>
            </a:defPPr>
          </a:lstStyle>
          <a:p xmlns:a="http://schemas.openxmlformats.org/drawingml/2006/main">
            <a:pPr algn="ctr">
              <a:defRPr sz="1350" b="1">
                <a:solidFill>
                  <a:srgbClr val="3E6AE1"/>
                </a:solidFill>
                <a:latin typeface="Avenir Next"/>
                <a:ea typeface="Avenir Next"/>
                <a:cs typeface="Avenir Next"/>
              </a:defRPr>
            </a:pPr>
            <a:r>
              <a:rPr sz="1350" b="1">
                <a:solidFill>
                  <a:srgbClr val="3E6AE1"/>
                </a:solidFill>
                <a:latin typeface="Avenir Next"/>
                <a:ea typeface="Avenir Next"/>
                <a:cs typeface="Avenir Next"/>
              </a:rPr>
              <a:t>Monitoring: change over time after deployment</a:t>
            </a:r>
          </a:p>
        </p:txBody>
      </p:sp>
      <p:sp>
        <p:nvSpPr>
          <p:cNvPr id="27" name="">
            <a:extLst xmlns:a="http://schemas.openxmlformats.org/drawingml/2006/main">
              <a:ext uri="{FF2B5EF4-FFF2-40B4-BE49-F238E27FC236}">
                <a16:creationId xmlns:a16="http://schemas.microsoft.com/office/drawing/2014/main" id="{1E554C50-2C93-4760-86A9-1245006AB78A}"/>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16815182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EB63649-F41C-48FE-8472-8389F4A02BD6}"/>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Core concepts + Checkpoint architecture</a:t>
            </a:r>
          </a:p>
        </p:txBody>
      </p:sp>
      <p:sp>
        <p:nvSpPr>
          <p:cNvPr id="2" name="">
            <a:extLst xmlns:a="http://schemas.openxmlformats.org/drawingml/2006/main">
              <a:ext uri="{FF2B5EF4-FFF2-40B4-BE49-F238E27FC236}">
                <a16:creationId xmlns:a16="http://schemas.microsoft.com/office/drawing/2014/main" id="{58B5BC11-84A1-43B9-A8B5-C76C5C89AE3F}"/>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05</a:t>
            </a:r>
          </a:p>
        </p:txBody>
      </p:sp>
      <p:sp>
        <p:nvSpPr>
          <p:cNvPr id="3" name="">
            <a:extLst xmlns:a="http://schemas.openxmlformats.org/drawingml/2006/main">
              <a:ext uri="{FF2B5EF4-FFF2-40B4-BE49-F238E27FC236}">
                <a16:creationId xmlns:a16="http://schemas.microsoft.com/office/drawing/2014/main" id="{420373B7-B1F9-4DD8-BC5C-E98AB5395D38}"/>
              </a:ext>
            </a:extLst>
          </p:cNvPr>
          <p:cNvSpPr>
            <a:spLocks xmlns:a="http://schemas.openxmlformats.org/drawingml/2006/main" noGrp="1"/>
          </p:cNvSpPr>
          <p:nvPr/>
        </p:nvSpPr>
        <p:spPr>
          <a:xfrm xmlns:a="http://schemas.openxmlformats.org/drawingml/2006/main">
            <a:off x="685800" y="11430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67085"/>
                </a:solidFill>
                <a:latin typeface="Avenir Next"/>
                <a:ea typeface="Avenir Next"/>
                <a:cs typeface="Avenir Next"/>
              </a:defRPr>
            </a:defPPr>
          </a:lstStyle>
          <a:p xmlns:a="http://schemas.openxmlformats.org/drawingml/2006/main">
            <a:pPr>
              <a:defRPr sz="1500" b="0">
                <a:solidFill>
                  <a:srgbClr val="667085"/>
                </a:solidFill>
                <a:latin typeface="Avenir Next"/>
                <a:ea typeface="Avenir Next"/>
                <a:cs typeface="Avenir Next"/>
              </a:defRPr>
            </a:pPr>
            <a:r>
              <a:rPr sz="1500" b="0">
                <a:solidFill>
                  <a:srgbClr val="667085"/>
                </a:solidFill>
                <a:latin typeface="Avenir Next"/>
                <a:ea typeface="Avenir Next"/>
                <a:cs typeface="Avenir Next"/>
              </a:rPr>
              <a:t>A reusable workflow connects the current batch to the 13-rule contract.</a:t>
            </a:r>
          </a:p>
        </p:txBody>
      </p:sp>
      <p:sp>
        <p:nvSpPr>
          <p:cNvPr id="4" name="">
            <a:extLst xmlns:a="http://schemas.openxmlformats.org/drawingml/2006/main">
              <a:ext uri="{FF2B5EF4-FFF2-40B4-BE49-F238E27FC236}">
                <a16:creationId xmlns:a16="http://schemas.microsoft.com/office/drawing/2014/main" id="{66F36D84-1E45-43D4-B62F-5B6CF30C8347}"/>
              </a:ext>
            </a:extLst>
          </p:cNvPr>
          <p:cNvSpPr>
            <a:spLocks xmlns:a="http://schemas.openxmlformats.org/drawingml/2006/main" noGrp="1"/>
          </p:cNvSpPr>
          <p:nvPr/>
        </p:nvSpPr>
        <p:spPr>
          <a:xfrm xmlns:a="http://schemas.openxmlformats.org/drawingml/2006/main">
            <a:off x="685800" y="1790700"/>
            <a:ext cx="3143250" cy="3676650"/>
          </a:xfrm>
          <a:prstGeom xmlns:a="http://schemas.openxmlformats.org/drawingml/2006/main" prst="roundRect">
            <a:avLst>
              <a:gd name="adj" fmla="val 4848"/>
            </a:avLst>
          </a:prstGeom>
          <a:solidFill xmlns:a="http://schemas.openxmlformats.org/drawingml/2006/main">
            <a:srgbClr val="0B1324"/>
          </a:solidFill>
          <a:ln xmlns:a="http://schemas.openxmlformats.org/drawingml/2006/main" w="0">
            <a:solidFill>
              <a:srgbClr val="0B1324"/>
            </a:solidFill>
            <a:prstDash val="solid"/>
          </a:ln>
        </p:spPr>
      </p:sp>
      <p:sp>
        <p:nvSpPr>
          <p:cNvPr id="5" name="">
            <a:extLst xmlns:a="http://schemas.openxmlformats.org/drawingml/2006/main">
              <a:ext uri="{FF2B5EF4-FFF2-40B4-BE49-F238E27FC236}">
                <a16:creationId xmlns:a16="http://schemas.microsoft.com/office/drawing/2014/main" id="{8BD38D70-4016-4063-BDBD-DDC7E8C135D5}"/>
              </a:ext>
            </a:extLst>
          </p:cNvPr>
          <p:cNvSpPr>
            <a:spLocks xmlns:a="http://schemas.openxmlformats.org/drawingml/2006/main" noGrp="1"/>
          </p:cNvSpPr>
          <p:nvPr/>
        </p:nvSpPr>
        <p:spPr>
          <a:xfrm xmlns:a="http://schemas.openxmlformats.org/drawingml/2006/main">
            <a:off x="990600" y="2095500"/>
            <a:ext cx="2533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5850" b="1">
                <a:solidFill>
                  <a:srgbClr val="F05A28"/>
                </a:solidFill>
                <a:latin typeface="Avenir Next"/>
                <a:ea typeface="Avenir Next"/>
                <a:cs typeface="Avenir Next"/>
              </a:defRPr>
            </a:defPPr>
          </a:lstStyle>
          <a:p xmlns:a="http://schemas.openxmlformats.org/drawingml/2006/main">
            <a:pPr algn="ctr">
              <a:defRPr sz="5850" b="1">
                <a:solidFill>
                  <a:srgbClr val="F05A28"/>
                </a:solidFill>
                <a:latin typeface="Avenir Next"/>
                <a:ea typeface="Avenir Next"/>
                <a:cs typeface="Avenir Next"/>
              </a:defRPr>
            </a:pPr>
            <a:r>
              <a:rPr sz="5850" b="1">
                <a:solidFill>
                  <a:srgbClr val="F05A28"/>
                </a:solidFill>
                <a:latin typeface="Avenir Next"/>
                <a:ea typeface="Avenir Next"/>
                <a:cs typeface="Avenir Next"/>
              </a:rPr>
              <a:t>13</a:t>
            </a:r>
          </a:p>
        </p:txBody>
      </p:sp>
      <p:sp>
        <p:nvSpPr>
          <p:cNvPr id="6" name="">
            <a:extLst xmlns:a="http://schemas.openxmlformats.org/drawingml/2006/main">
              <a:ext uri="{FF2B5EF4-FFF2-40B4-BE49-F238E27FC236}">
                <a16:creationId xmlns:a16="http://schemas.microsoft.com/office/drawing/2014/main" id="{C9139680-D1FE-4413-89EF-3B4F94F98B81}"/>
              </a:ext>
            </a:extLst>
          </p:cNvPr>
          <p:cNvSpPr>
            <a:spLocks xmlns:a="http://schemas.openxmlformats.org/drawingml/2006/main" noGrp="1"/>
          </p:cNvSpPr>
          <p:nvPr/>
        </p:nvSpPr>
        <p:spPr>
          <a:xfrm xmlns:a="http://schemas.openxmlformats.org/drawingml/2006/main">
            <a:off x="990600" y="3143250"/>
            <a:ext cx="2533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a:solidFill>
                  <a:srgbClr val="FFFFFF"/>
                </a:solidFill>
                <a:latin typeface="Avenir Next"/>
                <a:ea typeface="Avenir Next"/>
                <a:cs typeface="Avenir Next"/>
              </a:defRPr>
            </a:defPPr>
          </a:lstStyle>
          <a:p xmlns:a="http://schemas.openxmlformats.org/drawingml/2006/main">
            <a:pPr algn="ctr">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expectations</a:t>
            </a:r>
          </a:p>
        </p:txBody>
      </p:sp>
      <p:sp>
        <p:nvSpPr>
          <p:cNvPr id="7" name="">
            <a:extLst xmlns:a="http://schemas.openxmlformats.org/drawingml/2006/main">
              <a:ext uri="{FF2B5EF4-FFF2-40B4-BE49-F238E27FC236}">
                <a16:creationId xmlns:a16="http://schemas.microsoft.com/office/drawing/2014/main" id="{F06CC78B-E096-446C-8C50-E2F355C093AA}"/>
              </a:ext>
            </a:extLst>
          </p:cNvPr>
          <p:cNvSpPr>
            <a:spLocks xmlns:a="http://schemas.openxmlformats.org/drawingml/2006/main" noGrp="1"/>
          </p:cNvSpPr>
          <p:nvPr/>
        </p:nvSpPr>
        <p:spPr>
          <a:xfrm xmlns:a="http://schemas.openxmlformats.org/drawingml/2006/main">
            <a:off x="1028700" y="3781425"/>
            <a:ext cx="24574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0">
                <a:solidFill>
                  <a:srgbClr val="BCC6D8"/>
                </a:solidFill>
                <a:latin typeface="Avenir Next"/>
                <a:ea typeface="Avenir Next"/>
                <a:cs typeface="Avenir Next"/>
              </a:defRPr>
            </a:defPPr>
          </a:lstStyle>
          <a:p xmlns:a="http://schemas.openxmlformats.org/drawingml/2006/main">
            <a:pPr algn="ctr">
              <a:defRPr sz="1425" b="0">
                <a:solidFill>
                  <a:srgbClr val="BCC6D8"/>
                </a:solidFill>
                <a:latin typeface="Avenir Next"/>
                <a:ea typeface="Avenir Next"/>
                <a:cs typeface="Avenir Next"/>
              </a:defRPr>
            </a:pPr>
            <a:r>
              <a:rPr sz="1425" b="0">
                <a:solidFill>
                  <a:srgbClr val="BCC6D8"/>
                </a:solidFill>
                <a:latin typeface="Avenir Next"/>
                <a:ea typeface="Avenir Next"/>
                <a:cs typeface="Avenir Next"/>
              </a:rPr>
              <a:t>Expectation Suite</a:t>
            </a:r>
          </a:p>
          <a:p xmlns:a="http://schemas.openxmlformats.org/drawingml/2006/main">
            <a:pPr algn="ctr">
              <a:defRPr sz="1425" b="0">
                <a:solidFill>
                  <a:srgbClr val="BCC6D8"/>
                </a:solidFill>
                <a:latin typeface="Avenir Next"/>
                <a:ea typeface="Avenir Next"/>
                <a:cs typeface="Avenir Next"/>
              </a:defRPr>
            </a:pPr>
            <a:r>
              <a:rPr sz="1425" b="0">
                <a:solidFill>
                  <a:srgbClr val="BCC6D8"/>
                </a:solidFill>
                <a:latin typeface="Avenir Next"/>
                <a:ea typeface="Avenir Next"/>
                <a:cs typeface="Avenir Next"/>
              </a:rPr>
              <a:t>= data contract</a:t>
            </a:r>
          </a:p>
        </p:txBody>
      </p:sp>
      <p:sp>
        <p:nvSpPr>
          <p:cNvPr id="8" name="">
            <a:extLst xmlns:a="http://schemas.openxmlformats.org/drawingml/2006/main">
              <a:ext uri="{FF2B5EF4-FFF2-40B4-BE49-F238E27FC236}">
                <a16:creationId xmlns:a16="http://schemas.microsoft.com/office/drawing/2014/main" id="{560ED9D7-0B81-4172-8C88-2736ED0AB567}"/>
              </a:ext>
            </a:extLst>
          </p:cNvPr>
          <p:cNvSpPr>
            <a:spLocks xmlns:a="http://schemas.openxmlformats.org/drawingml/2006/main" noGrp="1"/>
          </p:cNvSpPr>
          <p:nvPr/>
        </p:nvSpPr>
        <p:spPr>
          <a:xfrm xmlns:a="http://schemas.openxmlformats.org/drawingml/2006/main">
            <a:off x="971550" y="4810125"/>
            <a:ext cx="2571750" cy="323850"/>
          </a:xfrm>
          <a:prstGeom xmlns:a="http://schemas.openxmlformats.org/drawingml/2006/main" prst="roundRect">
            <a:avLst>
              <a:gd name="adj" fmla="val 35294"/>
            </a:avLst>
          </a:prstGeom>
          <a:solidFill xmlns:a="http://schemas.openxmlformats.org/drawingml/2006/main">
            <a:srgbClr val="23314A"/>
          </a:solidFill>
          <a:ln xmlns:a="http://schemas.openxmlformats.org/drawingml/2006/main" w="0">
            <a:solidFill>
              <a:srgbClr val="23314A"/>
            </a:solidFill>
            <a:prstDash val="solid"/>
          </a:ln>
        </p:spPr>
      </p:sp>
      <p:sp>
        <p:nvSpPr>
          <p:cNvPr id="9" name="">
            <a:extLst xmlns:a="http://schemas.openxmlformats.org/drawingml/2006/main">
              <a:ext uri="{FF2B5EF4-FFF2-40B4-BE49-F238E27FC236}">
                <a16:creationId xmlns:a16="http://schemas.microsoft.com/office/drawing/2014/main" id="{C2AFB721-4CA4-4CF3-8644-16A522C558D6}"/>
              </a:ext>
            </a:extLst>
          </p:cNvPr>
          <p:cNvSpPr>
            <a:spLocks xmlns:a="http://schemas.openxmlformats.org/drawingml/2006/main" noGrp="1"/>
          </p:cNvSpPr>
          <p:nvPr/>
        </p:nvSpPr>
        <p:spPr>
          <a:xfrm xmlns:a="http://schemas.openxmlformats.org/drawingml/2006/main">
            <a:off x="1066800" y="48768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a:solidFill>
                  <a:srgbClr val="FFFFFF"/>
                </a:solidFill>
                <a:latin typeface="Avenir Next"/>
                <a:ea typeface="Avenir Next"/>
                <a:cs typeface="Avenir Next"/>
              </a:defRPr>
            </a:defPPr>
          </a:lstStyle>
          <a:p xmlns:a="http://schemas.openxmlformats.org/drawingml/2006/main">
            <a:pPr algn="ctr">
              <a:defRPr sz="900" b="1">
                <a:solidFill>
                  <a:srgbClr val="FFFFFF"/>
                </a:solidFill>
                <a:latin typeface="Avenir Next"/>
                <a:ea typeface="Avenir Next"/>
                <a:cs typeface="Avenir Next"/>
              </a:defRPr>
            </a:pPr>
            <a:r>
              <a:rPr sz="900" b="1">
                <a:solidFill>
                  <a:srgbClr val="FFFFFF"/>
                </a:solidFill>
                <a:latin typeface="Avenir Next"/>
                <a:ea typeface="Avenir Next"/>
                <a:cs typeface="Avenir Next"/>
              </a:rPr>
              <a:t>200 ROWS · 6 COLUMNS</a:t>
            </a:r>
          </a:p>
        </p:txBody>
      </p:sp>
      <p:sp>
        <p:nvSpPr>
          <p:cNvPr id="10" name="">
            <a:extLst xmlns:a="http://schemas.openxmlformats.org/drawingml/2006/main">
              <a:ext uri="{FF2B5EF4-FFF2-40B4-BE49-F238E27FC236}">
                <a16:creationId xmlns:a16="http://schemas.microsoft.com/office/drawing/2014/main" id="{0A9095C7-EF8E-4B3F-844D-974227370CDA}"/>
              </a:ext>
            </a:extLst>
          </p:cNvPr>
          <p:cNvSpPr>
            <a:spLocks xmlns:a="http://schemas.openxmlformats.org/drawingml/2006/main" noGrp="1"/>
          </p:cNvSpPr>
          <p:nvPr/>
        </p:nvSpPr>
        <p:spPr>
          <a:xfrm xmlns:a="http://schemas.openxmlformats.org/drawingml/2006/main">
            <a:off x="4324350" y="1809750"/>
            <a:ext cx="419100" cy="419100"/>
          </a:xfrm>
          <a:prstGeom xmlns:a="http://schemas.openxmlformats.org/drawingml/2006/main" prst="ellipse">
            <a:avLst/>
          </a:prstGeom>
          <a:solidFill xmlns:a="http://schemas.openxmlformats.org/drawingml/2006/main">
            <a:srgbClr val="3E6AE1"/>
          </a:solidFill>
          <a:ln xmlns:a="http://schemas.openxmlformats.org/drawingml/2006/main" w="0">
            <a:solidFill>
              <a:srgbClr val="3E6AE1"/>
            </a:solidFill>
            <a:prstDash val="solid"/>
          </a:ln>
        </p:spPr>
      </p:sp>
      <p:sp>
        <p:nvSpPr>
          <p:cNvPr id="11" name="">
            <a:extLst xmlns:a="http://schemas.openxmlformats.org/drawingml/2006/main">
              <a:ext uri="{FF2B5EF4-FFF2-40B4-BE49-F238E27FC236}">
                <a16:creationId xmlns:a16="http://schemas.microsoft.com/office/drawing/2014/main" id="{7B827E65-96B8-4466-8EE2-2572EB5E6961}"/>
              </a:ext>
            </a:extLst>
          </p:cNvPr>
          <p:cNvSpPr>
            <a:spLocks xmlns:a="http://schemas.openxmlformats.org/drawingml/2006/main" noGrp="1"/>
          </p:cNvSpPr>
          <p:nvPr/>
        </p:nvSpPr>
        <p:spPr>
          <a:xfrm xmlns:a="http://schemas.openxmlformats.org/drawingml/2006/main">
            <a:off x="4324350" y="18954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1</a:t>
            </a:r>
          </a:p>
        </p:txBody>
      </p:sp>
      <p:sp>
        <p:nvSpPr>
          <p:cNvPr id="12" name="">
            <a:extLst xmlns:a="http://schemas.openxmlformats.org/drawingml/2006/main">
              <a:ext uri="{FF2B5EF4-FFF2-40B4-BE49-F238E27FC236}">
                <a16:creationId xmlns:a16="http://schemas.microsoft.com/office/drawing/2014/main" id="{A18500C2-EE91-4336-A9A2-02CE2607ABDE}"/>
              </a:ext>
            </a:extLst>
          </p:cNvPr>
          <p:cNvSpPr>
            <a:spLocks xmlns:a="http://schemas.openxmlformats.org/drawingml/2006/main" noGrp="1"/>
          </p:cNvSpPr>
          <p:nvPr/>
        </p:nvSpPr>
        <p:spPr>
          <a:xfrm xmlns:a="http://schemas.openxmlformats.org/drawingml/2006/main">
            <a:off x="5010150" y="17907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Data Context</a:t>
            </a:r>
          </a:p>
        </p:txBody>
      </p:sp>
      <p:sp>
        <p:nvSpPr>
          <p:cNvPr id="13" name="">
            <a:extLst xmlns:a="http://schemas.openxmlformats.org/drawingml/2006/main">
              <a:ext uri="{FF2B5EF4-FFF2-40B4-BE49-F238E27FC236}">
                <a16:creationId xmlns:a16="http://schemas.microsoft.com/office/drawing/2014/main" id="{F303948C-C067-4E05-BD50-F236EF344534}"/>
              </a:ext>
            </a:extLst>
          </p:cNvPr>
          <p:cNvSpPr>
            <a:spLocks xmlns:a="http://schemas.openxmlformats.org/drawingml/2006/main" noGrp="1"/>
          </p:cNvSpPr>
          <p:nvPr/>
        </p:nvSpPr>
        <p:spPr>
          <a:xfrm xmlns:a="http://schemas.openxmlformats.org/drawingml/2006/main">
            <a:off x="7191375" y="18097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Manages configuration and metadata</a:t>
            </a:r>
          </a:p>
        </p:txBody>
      </p:sp>
      <p:cxnSp>
        <p:nvCxnSpPr>
          <p:cNvPr id="14" name="">
            <a:extLst xmlns:a="http://schemas.openxmlformats.org/drawingml/2006/main">
              <a:ext uri="{FF2B5EF4-FFF2-40B4-BE49-F238E27FC236}">
                <a16:creationId xmlns:a16="http://schemas.microsoft.com/office/drawing/2014/main" id="{208E2A94-7C33-478C-AAF7-DCCC5AEBD64C}"/>
              </a:ext>
            </a:extLst>
          </p:cNvPr>
          <p:cNvCxnSpPr/>
          <p:nvPr/>
        </p:nvCxnSpPr>
        <p:spPr>
          <a:xfrm xmlns:a="http://schemas.openxmlformats.org/drawingml/2006/main">
            <a:off x="5010150" y="2324100"/>
            <a:ext cx="6191250" cy="0"/>
          </a:xfrm>
          <a:prstGeom xmlns:a="http://schemas.openxmlformats.org/drawingml/2006/main" prst="bentConnector4">
            <a:avLst/>
          </a:prstGeom>
          <a:ln xmlns:a="http://schemas.openxmlformats.org/drawingml/2006/main" w="9525">
            <a:solidFill>
              <a:srgbClr val="D9DEE8"/>
            </a:solidFill>
            <a:prstDash val="solid"/>
          </a:ln>
        </p:spPr>
      </p:cxnSp>
      <p:sp>
        <p:nvSpPr>
          <p:cNvPr id="15" name="">
            <a:extLst xmlns:a="http://schemas.openxmlformats.org/drawingml/2006/main">
              <a:ext uri="{FF2B5EF4-FFF2-40B4-BE49-F238E27FC236}">
                <a16:creationId xmlns:a16="http://schemas.microsoft.com/office/drawing/2014/main" id="{22E909C2-A9CF-4FB9-9C05-D4351052C92F}"/>
              </a:ext>
            </a:extLst>
          </p:cNvPr>
          <p:cNvSpPr>
            <a:spLocks xmlns:a="http://schemas.openxmlformats.org/drawingml/2006/main" noGrp="1"/>
          </p:cNvSpPr>
          <p:nvPr/>
        </p:nvSpPr>
        <p:spPr>
          <a:xfrm xmlns:a="http://schemas.openxmlformats.org/drawingml/2006/main">
            <a:off x="4324350" y="2552700"/>
            <a:ext cx="419100" cy="419100"/>
          </a:xfrm>
          <a:prstGeom xmlns:a="http://schemas.openxmlformats.org/drawingml/2006/main" prst="ellipse">
            <a:avLst/>
          </a:prstGeom>
          <a:solidFill xmlns:a="http://schemas.openxmlformats.org/drawingml/2006/main">
            <a:srgbClr val="3E6AE1"/>
          </a:solidFill>
          <a:ln xmlns:a="http://schemas.openxmlformats.org/drawingml/2006/main" w="0">
            <a:solidFill>
              <a:srgbClr val="3E6AE1"/>
            </a:solidFill>
            <a:prstDash val="solid"/>
          </a:ln>
        </p:spPr>
      </p:sp>
      <p:sp>
        <p:nvSpPr>
          <p:cNvPr id="16" name="">
            <a:extLst xmlns:a="http://schemas.openxmlformats.org/drawingml/2006/main">
              <a:ext uri="{FF2B5EF4-FFF2-40B4-BE49-F238E27FC236}">
                <a16:creationId xmlns:a16="http://schemas.microsoft.com/office/drawing/2014/main" id="{EAB886F4-E1B3-4AF4-AD82-235C4D107732}"/>
              </a:ext>
            </a:extLst>
          </p:cNvPr>
          <p:cNvSpPr>
            <a:spLocks xmlns:a="http://schemas.openxmlformats.org/drawingml/2006/main" noGrp="1"/>
          </p:cNvSpPr>
          <p:nvPr/>
        </p:nvSpPr>
        <p:spPr>
          <a:xfrm xmlns:a="http://schemas.openxmlformats.org/drawingml/2006/main">
            <a:off x="4324350" y="26384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2</a:t>
            </a:r>
          </a:p>
        </p:txBody>
      </p:sp>
      <p:sp>
        <p:nvSpPr>
          <p:cNvPr id="17" name="">
            <a:extLst xmlns:a="http://schemas.openxmlformats.org/drawingml/2006/main">
              <a:ext uri="{FF2B5EF4-FFF2-40B4-BE49-F238E27FC236}">
                <a16:creationId xmlns:a16="http://schemas.microsoft.com/office/drawing/2014/main" id="{96450D0A-20D3-4F06-A018-DD18CD1EEB39}"/>
              </a:ext>
            </a:extLst>
          </p:cNvPr>
          <p:cNvSpPr>
            <a:spLocks xmlns:a="http://schemas.openxmlformats.org/drawingml/2006/main" noGrp="1"/>
          </p:cNvSpPr>
          <p:nvPr/>
        </p:nvSpPr>
        <p:spPr>
          <a:xfrm xmlns:a="http://schemas.openxmlformats.org/drawingml/2006/main">
            <a:off x="5010150" y="253365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Source → Asset → Batch</a:t>
            </a:r>
          </a:p>
        </p:txBody>
      </p:sp>
      <p:sp>
        <p:nvSpPr>
          <p:cNvPr id="18" name="">
            <a:extLst xmlns:a="http://schemas.openxmlformats.org/drawingml/2006/main">
              <a:ext uri="{FF2B5EF4-FFF2-40B4-BE49-F238E27FC236}">
                <a16:creationId xmlns:a16="http://schemas.microsoft.com/office/drawing/2014/main" id="{08A98E19-3716-41B8-9CF3-2F4F2DF0B8E7}"/>
              </a:ext>
            </a:extLst>
          </p:cNvPr>
          <p:cNvSpPr>
            <a:spLocks xmlns:a="http://schemas.openxmlformats.org/drawingml/2006/main" noGrp="1"/>
          </p:cNvSpPr>
          <p:nvPr/>
        </p:nvSpPr>
        <p:spPr>
          <a:xfrm xmlns:a="http://schemas.openxmlformats.org/drawingml/2006/main">
            <a:off x="7191375" y="25527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Identifies the current dataframe</a:t>
            </a:r>
          </a:p>
        </p:txBody>
      </p:sp>
      <p:cxnSp>
        <p:nvCxnSpPr>
          <p:cNvPr id="19" name="">
            <a:extLst xmlns:a="http://schemas.openxmlformats.org/drawingml/2006/main">
              <a:ext uri="{FF2B5EF4-FFF2-40B4-BE49-F238E27FC236}">
                <a16:creationId xmlns:a16="http://schemas.microsoft.com/office/drawing/2014/main" id="{2B813B65-552F-4284-B440-8D97DC8C797B}"/>
              </a:ext>
            </a:extLst>
          </p:cNvPr>
          <p:cNvCxnSpPr/>
          <p:nvPr/>
        </p:nvCxnSpPr>
        <p:spPr>
          <a:xfrm xmlns:a="http://schemas.openxmlformats.org/drawingml/2006/main">
            <a:off x="5010150" y="3067050"/>
            <a:ext cx="6191250" cy="0"/>
          </a:xfrm>
          <a:prstGeom xmlns:a="http://schemas.openxmlformats.org/drawingml/2006/main" prst="bentConnector4">
            <a:avLst/>
          </a:prstGeom>
          <a:ln xmlns:a="http://schemas.openxmlformats.org/drawingml/2006/main" w="9525">
            <a:solidFill>
              <a:srgbClr val="D9DEE8"/>
            </a:solidFill>
            <a:prstDash val="solid"/>
          </a:ln>
        </p:spPr>
      </p:cxnSp>
      <p:sp>
        <p:nvSpPr>
          <p:cNvPr id="20" name="">
            <a:extLst xmlns:a="http://schemas.openxmlformats.org/drawingml/2006/main">
              <a:ext uri="{FF2B5EF4-FFF2-40B4-BE49-F238E27FC236}">
                <a16:creationId xmlns:a16="http://schemas.microsoft.com/office/drawing/2014/main" id="{2A228EAC-08E9-4B7D-937D-C2175C4E9EE4}"/>
              </a:ext>
            </a:extLst>
          </p:cNvPr>
          <p:cNvSpPr>
            <a:spLocks xmlns:a="http://schemas.openxmlformats.org/drawingml/2006/main" noGrp="1"/>
          </p:cNvSpPr>
          <p:nvPr/>
        </p:nvSpPr>
        <p:spPr>
          <a:xfrm xmlns:a="http://schemas.openxmlformats.org/drawingml/2006/main">
            <a:off x="4324350" y="3295650"/>
            <a:ext cx="419100" cy="419100"/>
          </a:xfrm>
          <a:prstGeom xmlns:a="http://schemas.openxmlformats.org/drawingml/2006/main" prst="ellipse">
            <a:avLst/>
          </a:prstGeom>
          <a:solidFill xmlns:a="http://schemas.openxmlformats.org/drawingml/2006/main">
            <a:srgbClr val="3E6AE1"/>
          </a:solidFill>
          <a:ln xmlns:a="http://schemas.openxmlformats.org/drawingml/2006/main" w="0">
            <a:solidFill>
              <a:srgbClr val="3E6AE1"/>
            </a:solidFill>
            <a:prstDash val="solid"/>
          </a:ln>
        </p:spPr>
      </p:sp>
      <p:sp>
        <p:nvSpPr>
          <p:cNvPr id="21" name="">
            <a:extLst xmlns:a="http://schemas.openxmlformats.org/drawingml/2006/main">
              <a:ext uri="{FF2B5EF4-FFF2-40B4-BE49-F238E27FC236}">
                <a16:creationId xmlns:a16="http://schemas.microsoft.com/office/drawing/2014/main" id="{B160D218-52A7-4ADE-93DD-7AE9905EDF47}"/>
              </a:ext>
            </a:extLst>
          </p:cNvPr>
          <p:cNvSpPr>
            <a:spLocks xmlns:a="http://schemas.openxmlformats.org/drawingml/2006/main" noGrp="1"/>
          </p:cNvSpPr>
          <p:nvPr/>
        </p:nvSpPr>
        <p:spPr>
          <a:xfrm xmlns:a="http://schemas.openxmlformats.org/drawingml/2006/main">
            <a:off x="4324350" y="33813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3</a:t>
            </a:r>
          </a:p>
        </p:txBody>
      </p:sp>
      <p:sp>
        <p:nvSpPr>
          <p:cNvPr id="22" name="">
            <a:extLst xmlns:a="http://schemas.openxmlformats.org/drawingml/2006/main">
              <a:ext uri="{FF2B5EF4-FFF2-40B4-BE49-F238E27FC236}">
                <a16:creationId xmlns:a16="http://schemas.microsoft.com/office/drawing/2014/main" id="{390DE228-2748-4DDB-B093-B3EEF46C6C91}"/>
              </a:ext>
            </a:extLst>
          </p:cNvPr>
          <p:cNvSpPr>
            <a:spLocks xmlns:a="http://schemas.openxmlformats.org/drawingml/2006/main" noGrp="1"/>
          </p:cNvSpPr>
          <p:nvPr/>
        </p:nvSpPr>
        <p:spPr>
          <a:xfrm xmlns:a="http://schemas.openxmlformats.org/drawingml/2006/main">
            <a:off x="5010150" y="32766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Validation Definition</a:t>
            </a:r>
          </a:p>
        </p:txBody>
      </p:sp>
      <p:sp>
        <p:nvSpPr>
          <p:cNvPr id="23" name="">
            <a:extLst xmlns:a="http://schemas.openxmlformats.org/drawingml/2006/main">
              <a:ext uri="{FF2B5EF4-FFF2-40B4-BE49-F238E27FC236}">
                <a16:creationId xmlns:a16="http://schemas.microsoft.com/office/drawing/2014/main" id="{BB6901B7-4307-4B51-9B9A-486B5AF0F1B5}"/>
              </a:ext>
            </a:extLst>
          </p:cNvPr>
          <p:cNvSpPr>
            <a:spLocks xmlns:a="http://schemas.openxmlformats.org/drawingml/2006/main" noGrp="1"/>
          </p:cNvSpPr>
          <p:nvPr/>
        </p:nvSpPr>
        <p:spPr>
          <a:xfrm xmlns:a="http://schemas.openxmlformats.org/drawingml/2006/main">
            <a:off x="7191375" y="32956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Binds batch definition to suite</a:t>
            </a:r>
          </a:p>
        </p:txBody>
      </p:sp>
      <p:cxnSp>
        <p:nvCxnSpPr>
          <p:cNvPr id="24" name="">
            <a:extLst xmlns:a="http://schemas.openxmlformats.org/drawingml/2006/main">
              <a:ext uri="{FF2B5EF4-FFF2-40B4-BE49-F238E27FC236}">
                <a16:creationId xmlns:a16="http://schemas.microsoft.com/office/drawing/2014/main" id="{8FA81F5E-7E07-4AC5-AC04-0384779CE620}"/>
              </a:ext>
            </a:extLst>
          </p:cNvPr>
          <p:cNvCxnSpPr/>
          <p:nvPr/>
        </p:nvCxnSpPr>
        <p:spPr>
          <a:xfrm xmlns:a="http://schemas.openxmlformats.org/drawingml/2006/main">
            <a:off x="5010150" y="3810000"/>
            <a:ext cx="6191250" cy="0"/>
          </a:xfrm>
          <a:prstGeom xmlns:a="http://schemas.openxmlformats.org/drawingml/2006/main" prst="bentConnector4">
            <a:avLst/>
          </a:prstGeom>
          <a:ln xmlns:a="http://schemas.openxmlformats.org/drawingml/2006/main" w="9525">
            <a:solidFill>
              <a:srgbClr val="D9DEE8"/>
            </a:solidFill>
            <a:prstDash val="solid"/>
          </a:ln>
        </p:spPr>
      </p:cxnSp>
      <p:sp>
        <p:nvSpPr>
          <p:cNvPr id="25" name="">
            <a:extLst xmlns:a="http://schemas.openxmlformats.org/drawingml/2006/main">
              <a:ext uri="{FF2B5EF4-FFF2-40B4-BE49-F238E27FC236}">
                <a16:creationId xmlns:a16="http://schemas.microsoft.com/office/drawing/2014/main" id="{7B9E612B-E528-464D-BF53-942564F59C62}"/>
              </a:ext>
            </a:extLst>
          </p:cNvPr>
          <p:cNvSpPr>
            <a:spLocks xmlns:a="http://schemas.openxmlformats.org/drawingml/2006/main" noGrp="1"/>
          </p:cNvSpPr>
          <p:nvPr/>
        </p:nvSpPr>
        <p:spPr>
          <a:xfrm xmlns:a="http://schemas.openxmlformats.org/drawingml/2006/main">
            <a:off x="4324350" y="4038600"/>
            <a:ext cx="419100" cy="419100"/>
          </a:xfrm>
          <a:prstGeom xmlns:a="http://schemas.openxmlformats.org/drawingml/2006/main" prst="ellipse">
            <a:avLst/>
          </a:prstGeom>
          <a:solidFill xmlns:a="http://schemas.openxmlformats.org/drawingml/2006/main">
            <a:srgbClr val="F05A28"/>
          </a:solidFill>
          <a:ln xmlns:a="http://schemas.openxmlformats.org/drawingml/2006/main" w="0">
            <a:solidFill>
              <a:srgbClr val="F05A28"/>
            </a:solidFill>
            <a:prstDash val="solid"/>
          </a:ln>
        </p:spPr>
      </p:sp>
      <p:sp>
        <p:nvSpPr>
          <p:cNvPr id="26" name="">
            <a:extLst xmlns:a="http://schemas.openxmlformats.org/drawingml/2006/main">
              <a:ext uri="{FF2B5EF4-FFF2-40B4-BE49-F238E27FC236}">
                <a16:creationId xmlns:a16="http://schemas.microsoft.com/office/drawing/2014/main" id="{D8B4C4CF-FD7D-404D-972A-90B95257D86D}"/>
              </a:ext>
            </a:extLst>
          </p:cNvPr>
          <p:cNvSpPr>
            <a:spLocks xmlns:a="http://schemas.openxmlformats.org/drawingml/2006/main" noGrp="1"/>
          </p:cNvSpPr>
          <p:nvPr/>
        </p:nvSpPr>
        <p:spPr>
          <a:xfrm xmlns:a="http://schemas.openxmlformats.org/drawingml/2006/main">
            <a:off x="4324350" y="41243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4</a:t>
            </a:r>
          </a:p>
        </p:txBody>
      </p:sp>
      <p:sp>
        <p:nvSpPr>
          <p:cNvPr id="27" name="">
            <a:extLst xmlns:a="http://schemas.openxmlformats.org/drawingml/2006/main">
              <a:ext uri="{FF2B5EF4-FFF2-40B4-BE49-F238E27FC236}">
                <a16:creationId xmlns:a16="http://schemas.microsoft.com/office/drawing/2014/main" id="{431B672F-C845-4E51-A70A-CBF89134C312}"/>
              </a:ext>
            </a:extLst>
          </p:cNvPr>
          <p:cNvSpPr>
            <a:spLocks xmlns:a="http://schemas.openxmlformats.org/drawingml/2006/main" noGrp="1"/>
          </p:cNvSpPr>
          <p:nvPr/>
        </p:nvSpPr>
        <p:spPr>
          <a:xfrm xmlns:a="http://schemas.openxmlformats.org/drawingml/2006/main">
            <a:off x="5010150" y="401955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Checkpoint</a:t>
            </a:r>
          </a:p>
        </p:txBody>
      </p:sp>
      <p:sp>
        <p:nvSpPr>
          <p:cNvPr id="28" name="">
            <a:extLst xmlns:a="http://schemas.openxmlformats.org/drawingml/2006/main">
              <a:ext uri="{FF2B5EF4-FFF2-40B4-BE49-F238E27FC236}">
                <a16:creationId xmlns:a16="http://schemas.microsoft.com/office/drawing/2014/main" id="{F0BF9754-4D77-4BA0-B803-84C8CF4ED0CA}"/>
              </a:ext>
            </a:extLst>
          </p:cNvPr>
          <p:cNvSpPr>
            <a:spLocks xmlns:a="http://schemas.openxmlformats.org/drawingml/2006/main" noGrp="1"/>
          </p:cNvSpPr>
          <p:nvPr/>
        </p:nvSpPr>
        <p:spPr>
          <a:xfrm xmlns:a="http://schemas.openxmlformats.org/drawingml/2006/main">
            <a:off x="7191375" y="403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Runs the reusable validation workflow</a:t>
            </a:r>
          </a:p>
        </p:txBody>
      </p:sp>
      <p:cxnSp>
        <p:nvCxnSpPr>
          <p:cNvPr id="29" name="">
            <a:extLst xmlns:a="http://schemas.openxmlformats.org/drawingml/2006/main">
              <a:ext uri="{FF2B5EF4-FFF2-40B4-BE49-F238E27FC236}">
                <a16:creationId xmlns:a16="http://schemas.microsoft.com/office/drawing/2014/main" id="{D41B200F-B2A1-4539-8B75-B4F761E6FB74}"/>
              </a:ext>
            </a:extLst>
          </p:cNvPr>
          <p:cNvCxnSpPr/>
          <p:nvPr/>
        </p:nvCxnSpPr>
        <p:spPr>
          <a:xfrm xmlns:a="http://schemas.openxmlformats.org/drawingml/2006/main">
            <a:off x="5010150" y="4552950"/>
            <a:ext cx="6191250" cy="0"/>
          </a:xfrm>
          <a:prstGeom xmlns:a="http://schemas.openxmlformats.org/drawingml/2006/main" prst="bentConnector4">
            <a:avLst/>
          </a:prstGeom>
          <a:ln xmlns:a="http://schemas.openxmlformats.org/drawingml/2006/main" w="9525">
            <a:solidFill>
              <a:srgbClr val="D9DEE8"/>
            </a:solidFill>
            <a:prstDash val="solid"/>
          </a:ln>
        </p:spPr>
      </p:cxnSp>
      <p:sp>
        <p:nvSpPr>
          <p:cNvPr id="30" name="">
            <a:extLst xmlns:a="http://schemas.openxmlformats.org/drawingml/2006/main">
              <a:ext uri="{FF2B5EF4-FFF2-40B4-BE49-F238E27FC236}">
                <a16:creationId xmlns:a16="http://schemas.microsoft.com/office/drawing/2014/main" id="{7E8BE7D0-C8B2-4CF6-94C0-E32724BB3033}"/>
              </a:ext>
            </a:extLst>
          </p:cNvPr>
          <p:cNvSpPr>
            <a:spLocks xmlns:a="http://schemas.openxmlformats.org/drawingml/2006/main" noGrp="1"/>
          </p:cNvSpPr>
          <p:nvPr/>
        </p:nvSpPr>
        <p:spPr>
          <a:xfrm xmlns:a="http://schemas.openxmlformats.org/drawingml/2006/main">
            <a:off x="4324350" y="4781550"/>
            <a:ext cx="419100" cy="419100"/>
          </a:xfrm>
          <a:prstGeom xmlns:a="http://schemas.openxmlformats.org/drawingml/2006/main" prst="ellipse">
            <a:avLst/>
          </a:prstGeom>
          <a:solidFill xmlns:a="http://schemas.openxmlformats.org/drawingml/2006/main">
            <a:srgbClr val="3E6AE1"/>
          </a:solidFill>
          <a:ln xmlns:a="http://schemas.openxmlformats.org/drawingml/2006/main" w="0">
            <a:solidFill>
              <a:srgbClr val="3E6AE1"/>
            </a:solidFill>
            <a:prstDash val="solid"/>
          </a:ln>
        </p:spPr>
      </p:sp>
      <p:sp>
        <p:nvSpPr>
          <p:cNvPr id="31" name="">
            <a:extLst xmlns:a="http://schemas.openxmlformats.org/drawingml/2006/main">
              <a:ext uri="{FF2B5EF4-FFF2-40B4-BE49-F238E27FC236}">
                <a16:creationId xmlns:a16="http://schemas.microsoft.com/office/drawing/2014/main" id="{BEE907A6-53CD-4DB8-9B21-5F6F4BF97BF1}"/>
              </a:ext>
            </a:extLst>
          </p:cNvPr>
          <p:cNvSpPr>
            <a:spLocks xmlns:a="http://schemas.openxmlformats.org/drawingml/2006/main" noGrp="1"/>
          </p:cNvSpPr>
          <p:nvPr/>
        </p:nvSpPr>
        <p:spPr>
          <a:xfrm xmlns:a="http://schemas.openxmlformats.org/drawingml/2006/main">
            <a:off x="4324350" y="48672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5</a:t>
            </a:r>
          </a:p>
        </p:txBody>
      </p:sp>
      <p:sp>
        <p:nvSpPr>
          <p:cNvPr id="32" name="">
            <a:extLst xmlns:a="http://schemas.openxmlformats.org/drawingml/2006/main">
              <a:ext uri="{FF2B5EF4-FFF2-40B4-BE49-F238E27FC236}">
                <a16:creationId xmlns:a16="http://schemas.microsoft.com/office/drawing/2014/main" id="{E84C8063-1236-4714-96BE-46B8C9E7BEC3}"/>
              </a:ext>
            </a:extLst>
          </p:cNvPr>
          <p:cNvSpPr>
            <a:spLocks xmlns:a="http://schemas.openxmlformats.org/drawingml/2006/main" noGrp="1"/>
          </p:cNvSpPr>
          <p:nvPr/>
        </p:nvSpPr>
        <p:spPr>
          <a:xfrm xmlns:a="http://schemas.openxmlformats.org/drawingml/2006/main">
            <a:off x="5010150" y="47625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B1324"/>
                </a:solidFill>
                <a:latin typeface="Avenir Next"/>
                <a:ea typeface="Avenir Next"/>
                <a:cs typeface="Avenir Next"/>
              </a:defRPr>
            </a:defPPr>
          </a:lstStyle>
          <a:p xmlns:a="http://schemas.openxmlformats.org/drawingml/2006/main">
            <a:pPr>
              <a:defRPr sz="1500" b="1">
                <a:solidFill>
                  <a:srgbClr val="0B1324"/>
                </a:solidFill>
                <a:latin typeface="Avenir Next"/>
                <a:ea typeface="Avenir Next"/>
                <a:cs typeface="Avenir Next"/>
              </a:defRPr>
            </a:pPr>
            <a:r>
              <a:rPr sz="1500" b="1">
                <a:solidFill>
                  <a:srgbClr val="0B1324"/>
                </a:solidFill>
                <a:latin typeface="Avenir Next"/>
                <a:ea typeface="Avenir Next"/>
                <a:cs typeface="Avenir Next"/>
              </a:rPr>
              <a:t>Validation Result</a:t>
            </a:r>
          </a:p>
        </p:txBody>
      </p:sp>
      <p:sp>
        <p:nvSpPr>
          <p:cNvPr id="33" name="">
            <a:extLst xmlns:a="http://schemas.openxmlformats.org/drawingml/2006/main">
              <a:ext uri="{FF2B5EF4-FFF2-40B4-BE49-F238E27FC236}">
                <a16:creationId xmlns:a16="http://schemas.microsoft.com/office/drawing/2014/main" id="{B0D8E4B3-0CCB-4529-B71E-6638E94824F1}"/>
              </a:ext>
            </a:extLst>
          </p:cNvPr>
          <p:cNvSpPr>
            <a:spLocks xmlns:a="http://schemas.openxmlformats.org/drawingml/2006/main" noGrp="1"/>
          </p:cNvSpPr>
          <p:nvPr/>
        </p:nvSpPr>
        <p:spPr>
          <a:xfrm xmlns:a="http://schemas.openxmlformats.org/drawingml/2006/main">
            <a:off x="7191375" y="47815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Returns success, counts, and examples</a:t>
            </a:r>
          </a:p>
        </p:txBody>
      </p:sp>
      <p:sp>
        <p:nvSpPr>
          <p:cNvPr id="34" name="">
            <a:extLst xmlns:a="http://schemas.openxmlformats.org/drawingml/2006/main">
              <a:ext uri="{FF2B5EF4-FFF2-40B4-BE49-F238E27FC236}">
                <a16:creationId xmlns:a16="http://schemas.microsoft.com/office/drawing/2014/main" id="{1F610E77-1ABD-451A-9F67-F753B4906536}"/>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1276039798"/>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ABA69E0-1E0D-45A2-9F68-F8B7C71F93F6}"/>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The executable data contract</a:t>
            </a:r>
          </a:p>
        </p:txBody>
      </p:sp>
      <p:sp>
        <p:nvSpPr>
          <p:cNvPr id="2" name="">
            <a:extLst xmlns:a="http://schemas.openxmlformats.org/drawingml/2006/main">
              <a:ext uri="{FF2B5EF4-FFF2-40B4-BE49-F238E27FC236}">
                <a16:creationId xmlns:a16="http://schemas.microsoft.com/office/drawing/2014/main" id="{8C225072-2F88-484A-AC1C-95E2CC15A736}"/>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06</a:t>
            </a:r>
          </a:p>
        </p:txBody>
      </p:sp>
      <p:sp>
        <p:nvSpPr>
          <p:cNvPr id="3" name="">
            <a:extLst xmlns:a="http://schemas.openxmlformats.org/drawingml/2006/main">
              <a:ext uri="{FF2B5EF4-FFF2-40B4-BE49-F238E27FC236}">
                <a16:creationId xmlns:a16="http://schemas.microsoft.com/office/drawing/2014/main" id="{5C19458D-6661-4961-B58D-41036222DD3C}"/>
              </a:ext>
            </a:extLst>
          </p:cNvPr>
          <p:cNvSpPr>
            <a:spLocks xmlns:a="http://schemas.openxmlformats.org/drawingml/2006/main" noGrp="1"/>
          </p:cNvSpPr>
          <p:nvPr/>
        </p:nvSpPr>
        <p:spPr>
          <a:xfrm xmlns:a="http://schemas.openxmlformats.org/drawingml/2006/main">
            <a:off x="685800" y="11430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67085"/>
                </a:solidFill>
                <a:latin typeface="Avenir Next"/>
                <a:ea typeface="Avenir Next"/>
                <a:cs typeface="Avenir Next"/>
              </a:defRPr>
            </a:defPPr>
          </a:lstStyle>
          <a:p xmlns:a="http://schemas.openxmlformats.org/drawingml/2006/main">
            <a:pPr>
              <a:defRPr sz="1500" b="0">
                <a:solidFill>
                  <a:srgbClr val="667085"/>
                </a:solidFill>
                <a:latin typeface="Avenir Next"/>
                <a:ea typeface="Avenir Next"/>
                <a:cs typeface="Avenir Next"/>
              </a:defRPr>
            </a:pPr>
            <a:r>
              <a:rPr sz="1500" b="0">
                <a:solidFill>
                  <a:srgbClr val="667085"/>
                </a:solidFill>
                <a:latin typeface="Avenir Next"/>
                <a:ea typeface="Avenir Next"/>
                <a:cs typeface="Avenir Next"/>
              </a:rPr>
              <a:t>A Checkpoint runs the suite; its result controls the pipeline.</a:t>
            </a:r>
          </a:p>
        </p:txBody>
      </p:sp>
      <p:sp>
        <p:nvSpPr>
          <p:cNvPr id="4" name="">
            <a:extLst xmlns:a="http://schemas.openxmlformats.org/drawingml/2006/main">
              <a:ext uri="{FF2B5EF4-FFF2-40B4-BE49-F238E27FC236}">
                <a16:creationId xmlns:a16="http://schemas.microsoft.com/office/drawing/2014/main" id="{C349958C-2EE6-4F9D-B25B-6F969466CEC9}"/>
              </a:ext>
            </a:extLst>
          </p:cNvPr>
          <p:cNvSpPr>
            <a:spLocks xmlns:a="http://schemas.openxmlformats.org/drawingml/2006/main" noGrp="1"/>
          </p:cNvSpPr>
          <p:nvPr/>
        </p:nvSpPr>
        <p:spPr>
          <a:xfrm xmlns:a="http://schemas.openxmlformats.org/drawingml/2006/main">
            <a:off x="685800" y="1752600"/>
            <a:ext cx="7524750" cy="3905250"/>
          </a:xfrm>
          <a:prstGeom xmlns:a="http://schemas.openxmlformats.org/drawingml/2006/main" prst="roundRect">
            <a:avLst>
              <a:gd name="adj" fmla="val 2927"/>
            </a:avLst>
          </a:prstGeom>
          <a:solidFill xmlns:a="http://schemas.openxmlformats.org/drawingml/2006/main">
            <a:srgbClr val="0B1324"/>
          </a:solidFill>
          <a:ln xmlns:a="http://schemas.openxmlformats.org/drawingml/2006/main" w="0">
            <a:solidFill>
              <a:srgbClr val="0B1324"/>
            </a:solidFill>
            <a:prstDash val="solid"/>
          </a:ln>
        </p:spPr>
      </p:sp>
      <p:sp>
        <p:nvSpPr>
          <p:cNvPr id="5" name="">
            <a:extLst xmlns:a="http://schemas.openxmlformats.org/drawingml/2006/main">
              <a:ext uri="{FF2B5EF4-FFF2-40B4-BE49-F238E27FC236}">
                <a16:creationId xmlns:a16="http://schemas.microsoft.com/office/drawing/2014/main" id="{F61D6A42-D505-4C2B-AB79-80F3ECF53A96}"/>
              </a:ext>
            </a:extLst>
          </p:cNvPr>
          <p:cNvSpPr>
            <a:spLocks xmlns:a="http://schemas.openxmlformats.org/drawingml/2006/main" noGrp="1"/>
          </p:cNvSpPr>
          <p:nvPr/>
        </p:nvSpPr>
        <p:spPr>
          <a:xfrm xmlns:a="http://schemas.openxmlformats.org/drawingml/2006/main">
            <a:off x="1000125" y="2028825"/>
            <a:ext cx="6896100" cy="3352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E7ECF4"/>
                </a:solidFill>
                <a:latin typeface="Menlo"/>
                <a:ea typeface="Menlo"/>
                <a:cs typeface="Menlo"/>
              </a:defRPr>
            </a:defPPr>
          </a:lstStyle>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checkpoint = context.checkpoints.add(</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    gx.Checkpoint(</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        name="training_data_quality_gate",</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        validation_definitions=[validation],</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    )</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checkpoint_result = checkpoint.run(</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    batch_parameters={"dataframe": dataframe}</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result = list(checkpoint_result.run_results.values())[0]</a:t>
            </a:r>
          </a:p>
          <a:p xmlns:a="http://schemas.openxmlformats.org/drawingml/2006/main">
            <a:r>
              <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if not result.success:</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    return 2  # model training never runs</a:t>
            </a:r>
          </a:p>
          <a:p xmlns:a="http://schemas.openxmlformats.org/drawingml/2006/main">
            <a:pPr>
              <a:defRPr sz="1200" b="0">
                <a:solidFill>
                  <a:srgbClr val="E7ECF4"/>
                </a:solidFill>
                <a:latin typeface="Menlo"/>
                <a:ea typeface="Menlo"/>
                <a:cs typeface="Menlo"/>
              </a:defRPr>
            </a:pPr>
            <a:r>
              <a:rPr sz="1200" b="0">
                <a:solidFill>
                  <a:srgbClr val="E7ECF4"/>
                </a:solidFill>
                <a:latin typeface="Menlo"/>
                <a:ea typeface="Menlo"/>
                <a:cs typeface="Menlo"/>
              </a:rPr>
              <a:t>metrics = train_model(dataframe)</a:t>
            </a:r>
          </a:p>
        </p:txBody>
      </p:sp>
      <p:sp>
        <p:nvSpPr>
          <p:cNvPr id="6" name="">
            <a:extLst xmlns:a="http://schemas.openxmlformats.org/drawingml/2006/main">
              <a:ext uri="{FF2B5EF4-FFF2-40B4-BE49-F238E27FC236}">
                <a16:creationId xmlns:a16="http://schemas.microsoft.com/office/drawing/2014/main" id="{90F298BA-9B5F-47A0-9956-93BEFEA528F1}"/>
              </a:ext>
            </a:extLst>
          </p:cNvPr>
          <p:cNvSpPr>
            <a:spLocks xmlns:a="http://schemas.openxmlformats.org/drawingml/2006/main" noGrp="1"/>
          </p:cNvSpPr>
          <p:nvPr/>
        </p:nvSpPr>
        <p:spPr>
          <a:xfrm xmlns:a="http://schemas.openxmlformats.org/drawingml/2006/main">
            <a:off x="8667750" y="1876425"/>
            <a:ext cx="283845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EE8"/>
            </a:solidFill>
            <a:prstDash val="solid"/>
          </a:ln>
        </p:spPr>
      </p:sp>
      <p:sp>
        <p:nvSpPr>
          <p:cNvPr id="7" name="">
            <a:extLst xmlns:a="http://schemas.openxmlformats.org/drawingml/2006/main">
              <a:ext uri="{FF2B5EF4-FFF2-40B4-BE49-F238E27FC236}">
                <a16:creationId xmlns:a16="http://schemas.microsoft.com/office/drawing/2014/main" id="{658B006F-6D69-4F7D-9CF9-B473D465E0D6}"/>
              </a:ext>
            </a:extLst>
          </p:cNvPr>
          <p:cNvSpPr>
            <a:spLocks xmlns:a="http://schemas.openxmlformats.org/drawingml/2006/main" noGrp="1"/>
          </p:cNvSpPr>
          <p:nvPr/>
        </p:nvSpPr>
        <p:spPr>
          <a:xfrm xmlns:a="http://schemas.openxmlformats.org/drawingml/2006/main">
            <a:off x="8839200" y="2066925"/>
            <a:ext cx="419100" cy="419100"/>
          </a:xfrm>
          <a:prstGeom xmlns:a="http://schemas.openxmlformats.org/drawingml/2006/main" prst="ellipse">
            <a:avLst/>
          </a:prstGeom>
          <a:solidFill xmlns:a="http://schemas.openxmlformats.org/drawingml/2006/main">
            <a:srgbClr val="3E6AE1"/>
          </a:solidFill>
          <a:ln xmlns:a="http://schemas.openxmlformats.org/drawingml/2006/main" w="0">
            <a:solidFill>
              <a:srgbClr val="3E6AE1"/>
            </a:solidFill>
            <a:prstDash val="solid"/>
          </a:ln>
        </p:spPr>
      </p:sp>
      <p:sp>
        <p:nvSpPr>
          <p:cNvPr id="8" name="">
            <a:extLst xmlns:a="http://schemas.openxmlformats.org/drawingml/2006/main">
              <a:ext uri="{FF2B5EF4-FFF2-40B4-BE49-F238E27FC236}">
                <a16:creationId xmlns:a16="http://schemas.microsoft.com/office/drawing/2014/main" id="{4418323D-10FF-4DCC-B8E3-BEE169F7C738}"/>
              </a:ext>
            </a:extLst>
          </p:cNvPr>
          <p:cNvSpPr>
            <a:spLocks xmlns:a="http://schemas.openxmlformats.org/drawingml/2006/main" noGrp="1"/>
          </p:cNvSpPr>
          <p:nvPr/>
        </p:nvSpPr>
        <p:spPr>
          <a:xfrm xmlns:a="http://schemas.openxmlformats.org/drawingml/2006/main">
            <a:off x="8839200" y="21621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6102FBE6-6408-4E07-8ACD-72E94A4CB7B3}"/>
              </a:ext>
            </a:extLst>
          </p:cNvPr>
          <p:cNvSpPr>
            <a:spLocks xmlns:a="http://schemas.openxmlformats.org/drawingml/2006/main" noGrp="1"/>
          </p:cNvSpPr>
          <p:nvPr/>
        </p:nvSpPr>
        <p:spPr>
          <a:xfrm xmlns:a="http://schemas.openxmlformats.org/drawingml/2006/main">
            <a:off x="9448800" y="2038350"/>
            <a:ext cx="180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B1324"/>
                </a:solidFill>
                <a:latin typeface="Avenir Next"/>
                <a:ea typeface="Avenir Next"/>
                <a:cs typeface="Avenir Next"/>
              </a:defRPr>
            </a:defPPr>
          </a:lstStyle>
          <a:p xmlns:a="http://schemas.openxmlformats.org/drawingml/2006/main">
            <a:pPr>
              <a:defRPr sz="1350" b="1">
                <a:solidFill>
                  <a:srgbClr val="0B1324"/>
                </a:solidFill>
                <a:latin typeface="Avenir Next"/>
                <a:ea typeface="Avenir Next"/>
                <a:cs typeface="Avenir Next"/>
              </a:defRPr>
            </a:pPr>
            <a:r>
              <a:rPr sz="1350" b="1">
                <a:solidFill>
                  <a:srgbClr val="0B1324"/>
                </a:solidFill>
                <a:latin typeface="Avenir Next"/>
                <a:ea typeface="Avenir Next"/>
                <a:cs typeface="Avenir Next"/>
              </a:rPr>
              <a:t>Define contract</a:t>
            </a:r>
          </a:p>
        </p:txBody>
      </p:sp>
      <p:sp>
        <p:nvSpPr>
          <p:cNvPr id="10" name="">
            <a:extLst xmlns:a="http://schemas.openxmlformats.org/drawingml/2006/main">
              <a:ext uri="{FF2B5EF4-FFF2-40B4-BE49-F238E27FC236}">
                <a16:creationId xmlns:a16="http://schemas.microsoft.com/office/drawing/2014/main" id="{CC0288E0-EBF4-4548-9A8D-7F959981C4CF}"/>
              </a:ext>
            </a:extLst>
          </p:cNvPr>
          <p:cNvSpPr>
            <a:spLocks xmlns:a="http://schemas.openxmlformats.org/drawingml/2006/main" noGrp="1"/>
          </p:cNvSpPr>
          <p:nvPr/>
        </p:nvSpPr>
        <p:spPr>
          <a:xfrm xmlns:a="http://schemas.openxmlformats.org/drawingml/2006/main">
            <a:off x="9448800" y="23622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667085"/>
                </a:solidFill>
                <a:latin typeface="Avenir Next"/>
                <a:ea typeface="Avenir Next"/>
                <a:cs typeface="Avenir Next"/>
              </a:defRPr>
            </a:defPPr>
          </a:lstStyle>
          <a:p xmlns:a="http://schemas.openxmlformats.org/drawingml/2006/main">
            <a:pPr>
              <a:defRPr sz="975" b="0">
                <a:solidFill>
                  <a:srgbClr val="667085"/>
                </a:solidFill>
                <a:latin typeface="Avenir Next"/>
                <a:ea typeface="Avenir Next"/>
                <a:cs typeface="Avenir Next"/>
              </a:defRPr>
            </a:pPr>
            <a:r>
              <a:rPr sz="975" b="0">
                <a:solidFill>
                  <a:srgbClr val="667085"/>
                </a:solidFill>
                <a:latin typeface="Avenir Next"/>
                <a:ea typeface="Avenir Next"/>
                <a:cs typeface="Avenir Next"/>
              </a:rPr>
              <a:t>13 readable expectations</a:t>
            </a:r>
          </a:p>
        </p:txBody>
      </p:sp>
      <p:sp>
        <p:nvSpPr>
          <p:cNvPr id="11" name="">
            <a:extLst xmlns:a="http://schemas.openxmlformats.org/drawingml/2006/main">
              <a:ext uri="{FF2B5EF4-FFF2-40B4-BE49-F238E27FC236}">
                <a16:creationId xmlns:a16="http://schemas.microsoft.com/office/drawing/2014/main" id="{E1FC303A-F269-4609-B451-1AAD9F0E2363}"/>
              </a:ext>
            </a:extLst>
          </p:cNvPr>
          <p:cNvSpPr>
            <a:spLocks xmlns:a="http://schemas.openxmlformats.org/drawingml/2006/main" noGrp="1"/>
          </p:cNvSpPr>
          <p:nvPr/>
        </p:nvSpPr>
        <p:spPr>
          <a:xfrm xmlns:a="http://schemas.openxmlformats.org/drawingml/2006/main">
            <a:off x="8667750" y="3095625"/>
            <a:ext cx="283845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EE8"/>
            </a:solidFill>
            <a:prstDash val="solid"/>
          </a:ln>
        </p:spPr>
      </p:sp>
      <p:sp>
        <p:nvSpPr>
          <p:cNvPr id="12" name="">
            <a:extLst xmlns:a="http://schemas.openxmlformats.org/drawingml/2006/main">
              <a:ext uri="{FF2B5EF4-FFF2-40B4-BE49-F238E27FC236}">
                <a16:creationId xmlns:a16="http://schemas.microsoft.com/office/drawing/2014/main" id="{9FB226E3-ED0E-42BD-8A78-3E1AFF868EC9}"/>
              </a:ext>
            </a:extLst>
          </p:cNvPr>
          <p:cNvSpPr>
            <a:spLocks xmlns:a="http://schemas.openxmlformats.org/drawingml/2006/main" noGrp="1"/>
          </p:cNvSpPr>
          <p:nvPr/>
        </p:nvSpPr>
        <p:spPr>
          <a:xfrm xmlns:a="http://schemas.openxmlformats.org/drawingml/2006/main">
            <a:off x="8839200" y="3286125"/>
            <a:ext cx="419100" cy="419100"/>
          </a:xfrm>
          <a:prstGeom xmlns:a="http://schemas.openxmlformats.org/drawingml/2006/main" prst="ellipse">
            <a:avLst/>
          </a:prstGeom>
          <a:solidFill xmlns:a="http://schemas.openxmlformats.org/drawingml/2006/main">
            <a:srgbClr val="3E6AE1"/>
          </a:solidFill>
          <a:ln xmlns:a="http://schemas.openxmlformats.org/drawingml/2006/main" w="0">
            <a:solidFill>
              <a:srgbClr val="3E6AE1"/>
            </a:solidFill>
            <a:prstDash val="solid"/>
          </a:ln>
        </p:spPr>
      </p:sp>
      <p:sp>
        <p:nvSpPr>
          <p:cNvPr id="13" name="">
            <a:extLst xmlns:a="http://schemas.openxmlformats.org/drawingml/2006/main">
              <a:ext uri="{FF2B5EF4-FFF2-40B4-BE49-F238E27FC236}">
                <a16:creationId xmlns:a16="http://schemas.microsoft.com/office/drawing/2014/main" id="{B8DB33E2-EF11-494D-879E-55B1A0160354}"/>
              </a:ext>
            </a:extLst>
          </p:cNvPr>
          <p:cNvSpPr>
            <a:spLocks xmlns:a="http://schemas.openxmlformats.org/drawingml/2006/main" noGrp="1"/>
          </p:cNvSpPr>
          <p:nvPr/>
        </p:nvSpPr>
        <p:spPr>
          <a:xfrm xmlns:a="http://schemas.openxmlformats.org/drawingml/2006/main">
            <a:off x="8839200" y="33813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2</a:t>
            </a:r>
          </a:p>
        </p:txBody>
      </p:sp>
      <p:sp>
        <p:nvSpPr>
          <p:cNvPr id="14" name="">
            <a:extLst xmlns:a="http://schemas.openxmlformats.org/drawingml/2006/main">
              <a:ext uri="{FF2B5EF4-FFF2-40B4-BE49-F238E27FC236}">
                <a16:creationId xmlns:a16="http://schemas.microsoft.com/office/drawing/2014/main" id="{53CF651D-B353-479E-A7B7-D697B912F0B7}"/>
              </a:ext>
            </a:extLst>
          </p:cNvPr>
          <p:cNvSpPr>
            <a:spLocks xmlns:a="http://schemas.openxmlformats.org/drawingml/2006/main" noGrp="1"/>
          </p:cNvSpPr>
          <p:nvPr/>
        </p:nvSpPr>
        <p:spPr>
          <a:xfrm xmlns:a="http://schemas.openxmlformats.org/drawingml/2006/main">
            <a:off x="9448800" y="3257550"/>
            <a:ext cx="180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B1324"/>
                </a:solidFill>
                <a:latin typeface="Avenir Next"/>
                <a:ea typeface="Avenir Next"/>
                <a:cs typeface="Avenir Next"/>
              </a:defRPr>
            </a:defPPr>
          </a:lstStyle>
          <a:p xmlns:a="http://schemas.openxmlformats.org/drawingml/2006/main">
            <a:pPr>
              <a:defRPr sz="1350" b="1">
                <a:solidFill>
                  <a:srgbClr val="0B1324"/>
                </a:solidFill>
                <a:latin typeface="Avenir Next"/>
                <a:ea typeface="Avenir Next"/>
                <a:cs typeface="Avenir Next"/>
              </a:defRPr>
            </a:pPr>
            <a:r>
              <a:rPr sz="1350" b="1">
                <a:solidFill>
                  <a:srgbClr val="0B1324"/>
                </a:solidFill>
                <a:latin typeface="Avenir Next"/>
                <a:ea typeface="Avenir Next"/>
                <a:cs typeface="Avenir Next"/>
              </a:rPr>
              <a:t>Run Checkpoint</a:t>
            </a:r>
          </a:p>
        </p:txBody>
      </p:sp>
      <p:sp>
        <p:nvSpPr>
          <p:cNvPr id="15" name="">
            <a:extLst xmlns:a="http://schemas.openxmlformats.org/drawingml/2006/main">
              <a:ext uri="{FF2B5EF4-FFF2-40B4-BE49-F238E27FC236}">
                <a16:creationId xmlns:a16="http://schemas.microsoft.com/office/drawing/2014/main" id="{D286F7C3-9773-4764-9E74-F30DE6F355C3}"/>
              </a:ext>
            </a:extLst>
          </p:cNvPr>
          <p:cNvSpPr>
            <a:spLocks xmlns:a="http://schemas.openxmlformats.org/drawingml/2006/main" noGrp="1"/>
          </p:cNvSpPr>
          <p:nvPr/>
        </p:nvSpPr>
        <p:spPr>
          <a:xfrm xmlns:a="http://schemas.openxmlformats.org/drawingml/2006/main">
            <a:off x="9448800" y="35814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667085"/>
                </a:solidFill>
                <a:latin typeface="Avenir Next"/>
                <a:ea typeface="Avenir Next"/>
                <a:cs typeface="Avenir Next"/>
              </a:defRPr>
            </a:defPPr>
          </a:lstStyle>
          <a:p xmlns:a="http://schemas.openxmlformats.org/drawingml/2006/main">
            <a:pPr>
              <a:defRPr sz="975" b="0">
                <a:solidFill>
                  <a:srgbClr val="667085"/>
                </a:solidFill>
                <a:latin typeface="Avenir Next"/>
                <a:ea typeface="Avenir Next"/>
                <a:cs typeface="Avenir Next"/>
              </a:defRPr>
            </a:pPr>
            <a:r>
              <a:rPr sz="975" b="0">
                <a:solidFill>
                  <a:srgbClr val="667085"/>
                </a:solidFill>
                <a:latin typeface="Avenir Next"/>
                <a:ea typeface="Avenir Next"/>
                <a:cs typeface="Avenir Next"/>
              </a:rPr>
              <a:t>Current dataframe becomes the batch</a:t>
            </a:r>
          </a:p>
        </p:txBody>
      </p:sp>
      <p:sp>
        <p:nvSpPr>
          <p:cNvPr id="16" name="">
            <a:extLst xmlns:a="http://schemas.openxmlformats.org/drawingml/2006/main">
              <a:ext uri="{FF2B5EF4-FFF2-40B4-BE49-F238E27FC236}">
                <a16:creationId xmlns:a16="http://schemas.microsoft.com/office/drawing/2014/main" id="{3E99B58A-4A1F-4498-9399-F5E715555609}"/>
              </a:ext>
            </a:extLst>
          </p:cNvPr>
          <p:cNvSpPr>
            <a:spLocks xmlns:a="http://schemas.openxmlformats.org/drawingml/2006/main" noGrp="1"/>
          </p:cNvSpPr>
          <p:nvPr/>
        </p:nvSpPr>
        <p:spPr>
          <a:xfrm xmlns:a="http://schemas.openxmlformats.org/drawingml/2006/main">
            <a:off x="8667750" y="4314825"/>
            <a:ext cx="283845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EE8"/>
            </a:solidFill>
            <a:prstDash val="solid"/>
          </a:ln>
        </p:spPr>
      </p:sp>
      <p:sp>
        <p:nvSpPr>
          <p:cNvPr id="17" name="">
            <a:extLst xmlns:a="http://schemas.openxmlformats.org/drawingml/2006/main">
              <a:ext uri="{FF2B5EF4-FFF2-40B4-BE49-F238E27FC236}">
                <a16:creationId xmlns:a16="http://schemas.microsoft.com/office/drawing/2014/main" id="{7EF0EBFE-4724-4B7F-B9ED-7C0DBF40CC2A}"/>
              </a:ext>
            </a:extLst>
          </p:cNvPr>
          <p:cNvSpPr>
            <a:spLocks xmlns:a="http://schemas.openxmlformats.org/drawingml/2006/main" noGrp="1"/>
          </p:cNvSpPr>
          <p:nvPr/>
        </p:nvSpPr>
        <p:spPr>
          <a:xfrm xmlns:a="http://schemas.openxmlformats.org/drawingml/2006/main">
            <a:off x="8839200" y="4505325"/>
            <a:ext cx="419100" cy="419100"/>
          </a:xfrm>
          <a:prstGeom xmlns:a="http://schemas.openxmlformats.org/drawingml/2006/main" prst="ellipse">
            <a:avLst/>
          </a:prstGeom>
          <a:solidFill xmlns:a="http://schemas.openxmlformats.org/drawingml/2006/main">
            <a:srgbClr val="F05A28"/>
          </a:solidFill>
          <a:ln xmlns:a="http://schemas.openxmlformats.org/drawingml/2006/main" w="0">
            <a:solidFill>
              <a:srgbClr val="F05A28"/>
            </a:solidFill>
            <a:prstDash val="solid"/>
          </a:ln>
        </p:spPr>
      </p:sp>
      <p:sp>
        <p:nvSpPr>
          <p:cNvPr id="18" name="">
            <a:extLst xmlns:a="http://schemas.openxmlformats.org/drawingml/2006/main">
              <a:ext uri="{FF2B5EF4-FFF2-40B4-BE49-F238E27FC236}">
                <a16:creationId xmlns:a16="http://schemas.microsoft.com/office/drawing/2014/main" id="{01D05174-1681-40BE-867A-B2BA51104F06}"/>
              </a:ext>
            </a:extLst>
          </p:cNvPr>
          <p:cNvSpPr>
            <a:spLocks xmlns:a="http://schemas.openxmlformats.org/drawingml/2006/main" noGrp="1"/>
          </p:cNvSpPr>
          <p:nvPr/>
        </p:nvSpPr>
        <p:spPr>
          <a:xfrm xmlns:a="http://schemas.openxmlformats.org/drawingml/2006/main">
            <a:off x="8839200" y="46005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FFFFFF"/>
                </a:solidFill>
                <a:latin typeface="Avenir Next"/>
                <a:ea typeface="Avenir Next"/>
                <a:cs typeface="Avenir Next"/>
              </a:defRPr>
            </a:defPPr>
          </a:lstStyle>
          <a:p xmlns:a="http://schemas.openxmlformats.org/drawingml/2006/main">
            <a:pPr algn="ctr">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3</a:t>
            </a:r>
          </a:p>
        </p:txBody>
      </p:sp>
      <p:sp>
        <p:nvSpPr>
          <p:cNvPr id="19" name="">
            <a:extLst xmlns:a="http://schemas.openxmlformats.org/drawingml/2006/main">
              <a:ext uri="{FF2B5EF4-FFF2-40B4-BE49-F238E27FC236}">
                <a16:creationId xmlns:a16="http://schemas.microsoft.com/office/drawing/2014/main" id="{950B63F8-6DBD-482A-BE23-0AE5E1B7C34D}"/>
              </a:ext>
            </a:extLst>
          </p:cNvPr>
          <p:cNvSpPr>
            <a:spLocks xmlns:a="http://schemas.openxmlformats.org/drawingml/2006/main" noGrp="1"/>
          </p:cNvSpPr>
          <p:nvPr/>
        </p:nvSpPr>
        <p:spPr>
          <a:xfrm xmlns:a="http://schemas.openxmlformats.org/drawingml/2006/main">
            <a:off x="9448800" y="4476750"/>
            <a:ext cx="180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B1324"/>
                </a:solidFill>
                <a:latin typeface="Avenir Next"/>
                <a:ea typeface="Avenir Next"/>
                <a:cs typeface="Avenir Next"/>
              </a:defRPr>
            </a:defPPr>
          </a:lstStyle>
          <a:p xmlns:a="http://schemas.openxmlformats.org/drawingml/2006/main">
            <a:pPr>
              <a:defRPr sz="1350" b="1">
                <a:solidFill>
                  <a:srgbClr val="0B1324"/>
                </a:solidFill>
                <a:latin typeface="Avenir Next"/>
                <a:ea typeface="Avenir Next"/>
                <a:cs typeface="Avenir Next"/>
              </a:defRPr>
            </a:pPr>
            <a:r>
              <a:rPr sz="1350" b="1">
                <a:solidFill>
                  <a:srgbClr val="0B1324"/>
                </a:solidFill>
                <a:latin typeface="Avenir Next"/>
                <a:ea typeface="Avenir Next"/>
                <a:cs typeface="Avenir Next"/>
              </a:rPr>
              <a:t>Branch on result</a:t>
            </a:r>
          </a:p>
        </p:txBody>
      </p:sp>
      <p:sp>
        <p:nvSpPr>
          <p:cNvPr id="20" name="">
            <a:extLst xmlns:a="http://schemas.openxmlformats.org/drawingml/2006/main">
              <a:ext uri="{FF2B5EF4-FFF2-40B4-BE49-F238E27FC236}">
                <a16:creationId xmlns:a16="http://schemas.microsoft.com/office/drawing/2014/main" id="{27932F2B-D0DD-4B4E-8492-2E264120966C}"/>
              </a:ext>
            </a:extLst>
          </p:cNvPr>
          <p:cNvSpPr>
            <a:spLocks xmlns:a="http://schemas.openxmlformats.org/drawingml/2006/main" noGrp="1"/>
          </p:cNvSpPr>
          <p:nvPr/>
        </p:nvSpPr>
        <p:spPr>
          <a:xfrm xmlns:a="http://schemas.openxmlformats.org/drawingml/2006/main">
            <a:off x="9448800" y="48006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667085"/>
                </a:solidFill>
                <a:latin typeface="Avenir Next"/>
                <a:ea typeface="Avenir Next"/>
                <a:cs typeface="Avenir Next"/>
              </a:defRPr>
            </a:defPPr>
          </a:lstStyle>
          <a:p xmlns:a="http://schemas.openxmlformats.org/drawingml/2006/main">
            <a:pPr>
              <a:defRPr sz="975" b="0">
                <a:solidFill>
                  <a:srgbClr val="667085"/>
                </a:solidFill>
                <a:latin typeface="Avenir Next"/>
                <a:ea typeface="Avenir Next"/>
                <a:cs typeface="Avenir Next"/>
              </a:defRPr>
            </a:pPr>
            <a:r>
              <a:rPr sz="975" b="0">
                <a:solidFill>
                  <a:srgbClr val="667085"/>
                </a:solidFill>
                <a:latin typeface="Avenir Next"/>
                <a:ea typeface="Avenir Next"/>
                <a:cs typeface="Avenir Next"/>
              </a:rPr>
              <a:t>Failure stops model.fit()</a:t>
            </a:r>
          </a:p>
        </p:txBody>
      </p:sp>
      <p:sp>
        <p:nvSpPr>
          <p:cNvPr id="21" name="">
            <a:extLst xmlns:a="http://schemas.openxmlformats.org/drawingml/2006/main">
              <a:ext uri="{FF2B5EF4-FFF2-40B4-BE49-F238E27FC236}">
                <a16:creationId xmlns:a16="http://schemas.microsoft.com/office/drawing/2014/main" id="{9F15BFC1-D912-4DAC-AE34-E1AF87EDAD01}"/>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18470048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BB7916-85B7-4769-AE70-96F5E82EE1AC}"/>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Failure is visible and actionable</a:t>
            </a:r>
          </a:p>
        </p:txBody>
      </p:sp>
      <p:sp>
        <p:nvSpPr>
          <p:cNvPr id="2" name="">
            <a:extLst xmlns:a="http://schemas.openxmlformats.org/drawingml/2006/main">
              <a:ext uri="{FF2B5EF4-FFF2-40B4-BE49-F238E27FC236}">
                <a16:creationId xmlns:a16="http://schemas.microsoft.com/office/drawing/2014/main" id="{13EA5A7C-627C-40D4-BFBC-873EC6ADFBC6}"/>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07</a:t>
            </a:r>
          </a:p>
        </p:txBody>
      </p:sp>
      <p:sp>
        <p:nvSpPr>
          <p:cNvPr id="3" name="">
            <a:extLst xmlns:a="http://schemas.openxmlformats.org/drawingml/2006/main">
              <a:ext uri="{FF2B5EF4-FFF2-40B4-BE49-F238E27FC236}">
                <a16:creationId xmlns:a16="http://schemas.microsoft.com/office/drawing/2014/main" id="{5BD94E28-89F8-401C-BBD2-F2C42BFEFCEF}"/>
              </a:ext>
            </a:extLst>
          </p:cNvPr>
          <p:cNvSpPr>
            <a:spLocks xmlns:a="http://schemas.openxmlformats.org/drawingml/2006/main" noGrp="1"/>
          </p:cNvSpPr>
          <p:nvPr/>
        </p:nvSpPr>
        <p:spPr>
          <a:xfrm xmlns:a="http://schemas.openxmlformats.org/drawingml/2006/main">
            <a:off x="685800" y="1133475"/>
            <a:ext cx="2381250" cy="323850"/>
          </a:xfrm>
          <a:prstGeom xmlns:a="http://schemas.openxmlformats.org/drawingml/2006/main" prst="roundRect">
            <a:avLst>
              <a:gd name="adj" fmla="val 35294"/>
            </a:avLst>
          </a:prstGeom>
          <a:solidFill xmlns:a="http://schemas.openxmlformats.org/drawingml/2006/main">
            <a:srgbClr val="FDECEC"/>
          </a:solidFill>
          <a:ln xmlns:a="http://schemas.openxmlformats.org/drawingml/2006/main" w="0">
            <a:solidFill>
              <a:srgbClr val="FDECEC"/>
            </a:solidFill>
            <a:prstDash val="solid"/>
          </a:ln>
        </p:spPr>
      </p:sp>
      <p:sp>
        <p:nvSpPr>
          <p:cNvPr id="4" name="">
            <a:extLst xmlns:a="http://schemas.openxmlformats.org/drawingml/2006/main">
              <a:ext uri="{FF2B5EF4-FFF2-40B4-BE49-F238E27FC236}">
                <a16:creationId xmlns:a16="http://schemas.microsoft.com/office/drawing/2014/main" id="{7F08D583-640C-4FC6-8910-F7B8ECA843FB}"/>
              </a:ext>
            </a:extLst>
          </p:cNvPr>
          <p:cNvSpPr>
            <a:spLocks xmlns:a="http://schemas.openxmlformats.org/drawingml/2006/main" noGrp="1"/>
          </p:cNvSpPr>
          <p:nvPr/>
        </p:nvSpPr>
        <p:spPr>
          <a:xfrm xmlns:a="http://schemas.openxmlformats.org/drawingml/2006/main">
            <a:off x="781050" y="12001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a:solidFill>
                  <a:srgbClr val="D64545"/>
                </a:solidFill>
                <a:latin typeface="Avenir Next"/>
                <a:ea typeface="Avenir Next"/>
                <a:cs typeface="Avenir Next"/>
              </a:defRPr>
            </a:defPPr>
          </a:lstStyle>
          <a:p xmlns:a="http://schemas.openxmlformats.org/drawingml/2006/main">
            <a:pPr algn="ctr">
              <a:defRPr sz="900" b="1">
                <a:solidFill>
                  <a:srgbClr val="D64545"/>
                </a:solidFill>
                <a:latin typeface="Avenir Next"/>
                <a:ea typeface="Avenir Next"/>
                <a:cs typeface="Avenir Next"/>
              </a:defRPr>
            </a:pPr>
            <a:r>
              <a:rPr sz="900" b="1">
                <a:solidFill>
                  <a:srgbClr val="D64545"/>
                </a:solidFill>
                <a:latin typeface="Avenir Next"/>
                <a:ea typeface="Avenir Next"/>
                <a:cs typeface="Avenir Next"/>
              </a:rPr>
              <a:t>INTENTIONALLY BROKEN DATA</a:t>
            </a:r>
          </a:p>
        </p:txBody>
      </p:sp>
      <p:sp>
        <p:nvSpPr>
          <p:cNvPr id="5" name="">
            <a:extLst xmlns:a="http://schemas.openxmlformats.org/drawingml/2006/main">
              <a:ext uri="{FF2B5EF4-FFF2-40B4-BE49-F238E27FC236}">
                <a16:creationId xmlns:a16="http://schemas.microsoft.com/office/drawing/2014/main" id="{1817F8F2-F5D3-4FB5-B645-652E5B044E90}"/>
              </a:ext>
            </a:extLst>
          </p:cNvPr>
          <p:cNvSpPr>
            <a:spLocks xmlns:a="http://schemas.openxmlformats.org/drawingml/2006/main" noGrp="1"/>
          </p:cNvSpPr>
          <p:nvPr/>
        </p:nvSpPr>
        <p:spPr>
          <a:xfrm xmlns:a="http://schemas.openxmlformats.org/drawingml/2006/main">
            <a:off x="685800" y="16192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B1324"/>
                </a:solidFill>
                <a:latin typeface="Avenir Next"/>
                <a:ea typeface="Avenir Next"/>
                <a:cs typeface="Avenir Next"/>
              </a:defRPr>
            </a:defPPr>
          </a:lstStyle>
          <a:p xmlns:a="http://schemas.openxmlformats.org/drawingml/2006/main">
            <a:pPr>
              <a:defRPr sz="2250" b="1">
                <a:solidFill>
                  <a:srgbClr val="0B1324"/>
                </a:solidFill>
                <a:latin typeface="Avenir Next"/>
                <a:ea typeface="Avenir Next"/>
                <a:cs typeface="Avenir Next"/>
              </a:defRPr>
            </a:pPr>
            <a:r>
              <a:rPr sz="2250" b="1">
                <a:solidFill>
                  <a:srgbClr val="0B1324"/>
                </a:solidFill>
                <a:latin typeface="Avenir Next"/>
                <a:ea typeface="Avenir Next"/>
                <a:cs typeface="Avenir Next"/>
              </a:rPr>
              <a:t>Six rule violations block training</a:t>
            </a:r>
          </a:p>
        </p:txBody>
      </p:sp>
      <p:sp>
        <p:nvSpPr>
          <p:cNvPr id="6" name="">
            <a:extLst xmlns:a="http://schemas.openxmlformats.org/drawingml/2006/main">
              <a:ext uri="{FF2B5EF4-FFF2-40B4-BE49-F238E27FC236}">
                <a16:creationId xmlns:a16="http://schemas.microsoft.com/office/drawing/2014/main" id="{E8EA642D-E6BD-40EF-A9EE-48EE60E01461}"/>
              </a:ext>
            </a:extLst>
          </p:cNvPr>
          <p:cNvSpPr>
            <a:spLocks xmlns:a="http://schemas.openxmlformats.org/drawingml/2006/main" noGrp="1"/>
          </p:cNvSpPr>
          <p:nvPr/>
        </p:nvSpPr>
        <p:spPr>
          <a:xfrm xmlns:a="http://schemas.openxmlformats.org/drawingml/2006/main">
            <a:off x="685800" y="2247900"/>
            <a:ext cx="10820400" cy="3486150"/>
          </a:xfrm>
          <a:prstGeom xmlns:a="http://schemas.openxmlformats.org/drawingml/2006/main" prst="roundRect">
            <a:avLst>
              <a:gd name="adj" fmla="val 3279"/>
            </a:avLst>
          </a:prstGeom>
          <a:solidFill xmlns:a="http://schemas.openxmlformats.org/drawingml/2006/main">
            <a:srgbClr val="0B1324"/>
          </a:solidFill>
          <a:ln xmlns:a="http://schemas.openxmlformats.org/drawingml/2006/main" w="0">
            <a:solidFill>
              <a:srgbClr val="0B1324"/>
            </a:solidFill>
            <a:prstDash val="solid"/>
          </a:ln>
        </p:spPr>
      </p:sp>
      <p:sp>
        <p:nvSpPr>
          <p:cNvPr id="7" name="">
            <a:extLst xmlns:a="http://schemas.openxmlformats.org/drawingml/2006/main">
              <a:ext uri="{FF2B5EF4-FFF2-40B4-BE49-F238E27FC236}">
                <a16:creationId xmlns:a16="http://schemas.microsoft.com/office/drawing/2014/main" id="{ED702745-CF28-43F3-853A-7187A8D0D081}"/>
              </a:ext>
            </a:extLst>
          </p:cNvPr>
          <p:cNvSpPr>
            <a:spLocks xmlns:a="http://schemas.openxmlformats.org/drawingml/2006/main" noGrp="1"/>
          </p:cNvSpPr>
          <p:nvPr/>
        </p:nvSpPr>
        <p:spPr>
          <a:xfrm xmlns:a="http://schemas.openxmlformats.org/drawingml/2006/main">
            <a:off x="990600" y="251460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DA9BF"/>
                </a:solidFill>
                <a:latin typeface="Menlo"/>
                <a:ea typeface="Menlo"/>
                <a:cs typeface="Menlo"/>
              </a:defRPr>
            </a:defPPr>
          </a:lstStyle>
          <a:p xmlns:a="http://schemas.openxmlformats.org/drawingml/2006/main">
            <a:pPr>
              <a:defRPr sz="1050" b="0">
                <a:solidFill>
                  <a:srgbClr val="9DA9BF"/>
                </a:solidFill>
                <a:latin typeface="Menlo"/>
                <a:ea typeface="Menlo"/>
                <a:cs typeface="Menlo"/>
              </a:defRPr>
            </a:pPr>
            <a:r>
              <a:rPr sz="1050" b="0">
                <a:solidFill>
                  <a:srgbClr val="9DA9BF"/>
                </a:solidFill>
                <a:latin typeface="Menlo"/>
                <a:ea typeface="Menlo"/>
                <a:cs typeface="Menlo"/>
              </a:rPr>
              <a:t>$ python -m src.pipeline --data data/loan_applications_bad.csv</a:t>
            </a:r>
          </a:p>
        </p:txBody>
      </p:sp>
      <p:sp>
        <p:nvSpPr>
          <p:cNvPr id="8" name="">
            <a:extLst xmlns:a="http://schemas.openxmlformats.org/drawingml/2006/main">
              <a:ext uri="{FF2B5EF4-FFF2-40B4-BE49-F238E27FC236}">
                <a16:creationId xmlns:a16="http://schemas.microsoft.com/office/drawing/2014/main" id="{0ADB72A1-5EC3-4D82-B004-9C953F18FA64}"/>
              </a:ext>
            </a:extLst>
          </p:cNvPr>
          <p:cNvSpPr>
            <a:spLocks xmlns:a="http://schemas.openxmlformats.org/drawingml/2006/main" noGrp="1"/>
          </p:cNvSpPr>
          <p:nvPr/>
        </p:nvSpPr>
        <p:spPr>
          <a:xfrm xmlns:a="http://schemas.openxmlformats.org/drawingml/2006/main">
            <a:off x="990600" y="2990850"/>
            <a:ext cx="99060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EEF2F7"/>
                </a:solidFill>
                <a:latin typeface="Menlo"/>
                <a:ea typeface="Menlo"/>
                <a:cs typeface="Menlo"/>
              </a:defRPr>
            </a:defPPr>
          </a:lstStyle>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VALIDATION FAILED: 6 expectation(s) failed</a:t>
            </a:r>
          </a:p>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  applicant_id   duplicate      A0072</a:t>
            </a:r>
          </a:p>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  age            outside range  15</a:t>
            </a:r>
          </a:p>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  annual_income  missing        NaN</a:t>
            </a:r>
          </a:p>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  debt_to_income outside range  1.4</a:t>
            </a:r>
          </a:p>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  credit_score   outside range  950</a:t>
            </a:r>
          </a:p>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  approved       invalid label  3</a:t>
            </a:r>
          </a:p>
          <a:p xmlns:a="http://schemas.openxmlformats.org/drawingml/2006/main">
            <a:r>
              <a:t/>
            </a:r>
          </a:p>
          <a:p xmlns:a="http://schemas.openxmlformats.org/drawingml/2006/main">
            <a:pPr>
              <a:defRPr sz="1200" b="0">
                <a:solidFill>
                  <a:srgbClr val="EEF2F7"/>
                </a:solidFill>
                <a:latin typeface="Menlo"/>
                <a:ea typeface="Menlo"/>
                <a:cs typeface="Menlo"/>
              </a:defRPr>
            </a:pPr>
            <a:r>
              <a:rPr sz="1200" b="0">
                <a:solidFill>
                  <a:srgbClr val="EEF2F7"/>
                </a:solidFill>
                <a:latin typeface="Menlo"/>
                <a:ea typeface="Menlo"/>
                <a:cs typeface="Menlo"/>
              </a:rPr>
              <a:t>TRAINING BLOCKED: fix the data and run the pipeline again</a:t>
            </a:r>
          </a:p>
        </p:txBody>
      </p:sp>
      <p:sp>
        <p:nvSpPr>
          <p:cNvPr id="9" name="">
            <a:extLst xmlns:a="http://schemas.openxmlformats.org/drawingml/2006/main">
              <a:ext uri="{FF2B5EF4-FFF2-40B4-BE49-F238E27FC236}">
                <a16:creationId xmlns:a16="http://schemas.microsoft.com/office/drawing/2014/main" id="{2F59C64F-F8CD-4838-B0F4-EBAAC869ED53}"/>
              </a:ext>
            </a:extLst>
          </p:cNvPr>
          <p:cNvSpPr>
            <a:spLocks xmlns:a="http://schemas.openxmlformats.org/drawingml/2006/main" noGrp="1"/>
          </p:cNvSpPr>
          <p:nvPr/>
        </p:nvSpPr>
        <p:spPr>
          <a:xfrm xmlns:a="http://schemas.openxmlformats.org/drawingml/2006/main">
            <a:off x="990600" y="5324475"/>
            <a:ext cx="9906000" cy="38100"/>
          </a:xfrm>
          <a:prstGeom xmlns:a="http://schemas.openxmlformats.org/drawingml/2006/main" prst="rect">
            <a:avLst/>
          </a:prstGeom>
          <a:solidFill xmlns:a="http://schemas.openxmlformats.org/drawingml/2006/main">
            <a:srgbClr val="D64545"/>
          </a:solidFill>
          <a:ln xmlns:a="http://schemas.openxmlformats.org/drawingml/2006/main" w="0">
            <a:solidFill>
              <a:srgbClr val="D64545"/>
            </a:solidFill>
            <a:prstDash val="solid"/>
          </a:ln>
        </p:spPr>
      </p:sp>
      <p:sp>
        <p:nvSpPr>
          <p:cNvPr id="10" name="">
            <a:extLst xmlns:a="http://schemas.openxmlformats.org/drawingml/2006/main">
              <a:ext uri="{FF2B5EF4-FFF2-40B4-BE49-F238E27FC236}">
                <a16:creationId xmlns:a16="http://schemas.microsoft.com/office/drawing/2014/main" id="{31763B16-FF01-4B2E-B84E-96D27086AE48}"/>
              </a:ext>
            </a:extLst>
          </p:cNvPr>
          <p:cNvSpPr>
            <a:spLocks xmlns:a="http://schemas.openxmlformats.org/drawingml/2006/main" noGrp="1"/>
          </p:cNvSpPr>
          <p:nvPr/>
        </p:nvSpPr>
        <p:spPr>
          <a:xfrm xmlns:a="http://schemas.openxmlformats.org/drawingml/2006/main">
            <a:off x="9544050" y="5467350"/>
            <a:ext cx="1352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00" b="1">
                <a:solidFill>
                  <a:srgbClr val="F6A8A8"/>
                </a:solidFill>
                <a:latin typeface="Avenir Next"/>
                <a:ea typeface="Avenir Next"/>
                <a:cs typeface="Avenir Next"/>
              </a:defRPr>
            </a:defPPr>
          </a:lstStyle>
          <a:p xmlns:a="http://schemas.openxmlformats.org/drawingml/2006/main">
            <a:pPr algn="r">
              <a:defRPr sz="900" b="1">
                <a:solidFill>
                  <a:srgbClr val="F6A8A8"/>
                </a:solidFill>
                <a:latin typeface="Avenir Next"/>
                <a:ea typeface="Avenir Next"/>
                <a:cs typeface="Avenir Next"/>
              </a:defRPr>
            </a:pPr>
            <a:r>
              <a:rPr sz="900" b="1">
                <a:solidFill>
                  <a:srgbClr val="F6A8A8"/>
                </a:solidFill>
                <a:latin typeface="Avenir Next"/>
                <a:ea typeface="Avenir Next"/>
                <a:cs typeface="Avenir Next"/>
              </a:rPr>
              <a:t>Exit code 2</a:t>
            </a:r>
          </a:p>
        </p:txBody>
      </p:sp>
      <p:sp>
        <p:nvSpPr>
          <p:cNvPr id="11" name="">
            <a:extLst xmlns:a="http://schemas.openxmlformats.org/drawingml/2006/main">
              <a:ext uri="{FF2B5EF4-FFF2-40B4-BE49-F238E27FC236}">
                <a16:creationId xmlns:a16="http://schemas.microsoft.com/office/drawing/2014/main" id="{0D814807-3E91-4389-AC50-0F0A3BC3DCC3}"/>
              </a:ext>
            </a:extLst>
          </p:cNvPr>
          <p:cNvSpPr>
            <a:spLocks xmlns:a="http://schemas.openxmlformats.org/drawingml/2006/main" noGrp="1"/>
          </p:cNvSpPr>
          <p:nvPr/>
        </p:nvSpPr>
        <p:spPr>
          <a:xfrm xmlns:a="http://schemas.openxmlformats.org/drawingml/2006/main">
            <a:off x="685800" y="59245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67085"/>
                </a:solidFill>
                <a:latin typeface="Avenir Next"/>
                <a:ea typeface="Avenir Next"/>
                <a:cs typeface="Avenir Next"/>
              </a:defRPr>
            </a:defPPr>
          </a:lstStyle>
          <a:p xmlns:a="http://schemas.openxmlformats.org/drawingml/2006/main">
            <a:pPr>
              <a:defRPr sz="1050" b="1">
                <a:solidFill>
                  <a:srgbClr val="667085"/>
                </a:solidFill>
                <a:latin typeface="Avenir Next"/>
                <a:ea typeface="Avenir Next"/>
                <a:cs typeface="Avenir Next"/>
              </a:defRPr>
            </a:pPr>
            <a:r>
              <a:rPr sz="1050" b="1">
                <a:solidFill>
                  <a:srgbClr val="667085"/>
                </a:solidFill>
                <a:latin typeface="Avenir Next"/>
                <a:ea typeface="Avenir Next"/>
                <a:cs typeface="Avenir Next"/>
              </a:rPr>
              <a:t>Evidence: validation result + input SHA-256 + GX version</a:t>
            </a:r>
          </a:p>
        </p:txBody>
      </p:sp>
      <p:sp>
        <p:nvSpPr>
          <p:cNvPr id="12" name="">
            <a:extLst xmlns:a="http://schemas.openxmlformats.org/drawingml/2006/main">
              <a:ext uri="{FF2B5EF4-FFF2-40B4-BE49-F238E27FC236}">
                <a16:creationId xmlns:a16="http://schemas.microsoft.com/office/drawing/2014/main" id="{38E4C68C-EF05-420A-8946-46B1D460E514}"/>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2135883193"/>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52226A0-1862-45A1-B653-A5B63332F0E4}"/>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Success unlocks model training</a:t>
            </a:r>
          </a:p>
        </p:txBody>
      </p:sp>
      <p:sp>
        <p:nvSpPr>
          <p:cNvPr id="2" name="">
            <a:extLst xmlns:a="http://schemas.openxmlformats.org/drawingml/2006/main">
              <a:ext uri="{FF2B5EF4-FFF2-40B4-BE49-F238E27FC236}">
                <a16:creationId xmlns:a16="http://schemas.microsoft.com/office/drawing/2014/main" id="{FDB407BC-29BA-4E02-98E6-8FC3E8004F53}"/>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08</a:t>
            </a:r>
          </a:p>
        </p:txBody>
      </p:sp>
      <p:sp>
        <p:nvSpPr>
          <p:cNvPr id="3" name="">
            <a:extLst xmlns:a="http://schemas.openxmlformats.org/drawingml/2006/main">
              <a:ext uri="{FF2B5EF4-FFF2-40B4-BE49-F238E27FC236}">
                <a16:creationId xmlns:a16="http://schemas.microsoft.com/office/drawing/2014/main" id="{612A5264-5664-4328-A421-EA5C9C04F135}"/>
              </a:ext>
            </a:extLst>
          </p:cNvPr>
          <p:cNvSpPr>
            <a:spLocks xmlns:a="http://schemas.openxmlformats.org/drawingml/2006/main" noGrp="1"/>
          </p:cNvSpPr>
          <p:nvPr/>
        </p:nvSpPr>
        <p:spPr>
          <a:xfrm xmlns:a="http://schemas.openxmlformats.org/drawingml/2006/main">
            <a:off x="685800" y="1133475"/>
            <a:ext cx="1352550" cy="323850"/>
          </a:xfrm>
          <a:prstGeom xmlns:a="http://schemas.openxmlformats.org/drawingml/2006/main" prst="roundRect">
            <a:avLst>
              <a:gd name="adj" fmla="val 35294"/>
            </a:avLst>
          </a:prstGeom>
          <a:solidFill xmlns:a="http://schemas.openxmlformats.org/drawingml/2006/main">
            <a:srgbClr val="E9F7F1"/>
          </a:solidFill>
          <a:ln xmlns:a="http://schemas.openxmlformats.org/drawingml/2006/main" w="0">
            <a:solidFill>
              <a:srgbClr val="E9F7F1"/>
            </a:solidFill>
            <a:prstDash val="solid"/>
          </a:ln>
        </p:spPr>
      </p:sp>
      <p:sp>
        <p:nvSpPr>
          <p:cNvPr id="4" name="">
            <a:extLst xmlns:a="http://schemas.openxmlformats.org/drawingml/2006/main">
              <a:ext uri="{FF2B5EF4-FFF2-40B4-BE49-F238E27FC236}">
                <a16:creationId xmlns:a16="http://schemas.microsoft.com/office/drawing/2014/main" id="{8E988B56-034C-4152-BDFE-01B0661967E4}"/>
              </a:ext>
            </a:extLst>
          </p:cNvPr>
          <p:cNvSpPr>
            <a:spLocks xmlns:a="http://schemas.openxmlformats.org/drawingml/2006/main" noGrp="1"/>
          </p:cNvSpPr>
          <p:nvPr/>
        </p:nvSpPr>
        <p:spPr>
          <a:xfrm xmlns:a="http://schemas.openxmlformats.org/drawingml/2006/main">
            <a:off x="781050" y="1200150"/>
            <a:ext cx="1162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a:solidFill>
                  <a:srgbClr val="1F9D68"/>
                </a:solidFill>
                <a:latin typeface="Avenir Next"/>
                <a:ea typeface="Avenir Next"/>
                <a:cs typeface="Avenir Next"/>
              </a:defRPr>
            </a:defPPr>
          </a:lstStyle>
          <a:p xmlns:a="http://schemas.openxmlformats.org/drawingml/2006/main">
            <a:pPr algn="ctr">
              <a:defRPr sz="900" b="1">
                <a:solidFill>
                  <a:srgbClr val="1F9D68"/>
                </a:solidFill>
                <a:latin typeface="Avenir Next"/>
                <a:ea typeface="Avenir Next"/>
                <a:cs typeface="Avenir Next"/>
              </a:defRPr>
            </a:pPr>
            <a:r>
              <a:rPr sz="900" b="1">
                <a:solidFill>
                  <a:srgbClr val="1F9D68"/>
                </a:solidFill>
                <a:latin typeface="Avenir Next"/>
                <a:ea typeface="Avenir Next"/>
                <a:cs typeface="Avenir Next"/>
              </a:rPr>
              <a:t>CLEAN DATA</a:t>
            </a:r>
          </a:p>
        </p:txBody>
      </p:sp>
      <p:sp>
        <p:nvSpPr>
          <p:cNvPr id="5" name="">
            <a:extLst xmlns:a="http://schemas.openxmlformats.org/drawingml/2006/main">
              <a:ext uri="{FF2B5EF4-FFF2-40B4-BE49-F238E27FC236}">
                <a16:creationId xmlns:a16="http://schemas.microsoft.com/office/drawing/2014/main" id="{FF818FAD-F600-4E62-928A-39693DFBCFCE}"/>
              </a:ext>
            </a:extLst>
          </p:cNvPr>
          <p:cNvSpPr>
            <a:spLocks xmlns:a="http://schemas.openxmlformats.org/drawingml/2006/main" noGrp="1"/>
          </p:cNvSpPr>
          <p:nvPr/>
        </p:nvSpPr>
        <p:spPr>
          <a:xfrm xmlns:a="http://schemas.openxmlformats.org/drawingml/2006/main">
            <a:off x="685800" y="1714500"/>
            <a:ext cx="6572250" cy="3105150"/>
          </a:xfrm>
          <a:prstGeom xmlns:a="http://schemas.openxmlformats.org/drawingml/2006/main" prst="roundRect">
            <a:avLst>
              <a:gd name="adj" fmla="val 3681"/>
            </a:avLst>
          </a:prstGeom>
          <a:solidFill xmlns:a="http://schemas.openxmlformats.org/drawingml/2006/main">
            <a:srgbClr val="0B1324"/>
          </a:solidFill>
          <a:ln xmlns:a="http://schemas.openxmlformats.org/drawingml/2006/main" w="0">
            <a:solidFill>
              <a:srgbClr val="0B1324"/>
            </a:solidFill>
            <a:prstDash val="solid"/>
          </a:ln>
        </p:spPr>
      </p:sp>
      <p:sp>
        <p:nvSpPr>
          <p:cNvPr id="6" name="">
            <a:extLst xmlns:a="http://schemas.openxmlformats.org/drawingml/2006/main">
              <a:ext uri="{FF2B5EF4-FFF2-40B4-BE49-F238E27FC236}">
                <a16:creationId xmlns:a16="http://schemas.microsoft.com/office/drawing/2014/main" id="{F4D84DAA-AE56-431F-9D66-9FB250E6178B}"/>
              </a:ext>
            </a:extLst>
          </p:cNvPr>
          <p:cNvSpPr>
            <a:spLocks xmlns:a="http://schemas.openxmlformats.org/drawingml/2006/main" noGrp="1"/>
          </p:cNvSpPr>
          <p:nvPr/>
        </p:nvSpPr>
        <p:spPr>
          <a:xfrm xmlns:a="http://schemas.openxmlformats.org/drawingml/2006/main">
            <a:off x="990600" y="2038350"/>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9DA9BF"/>
                </a:solidFill>
                <a:latin typeface="Menlo"/>
                <a:ea typeface="Menlo"/>
                <a:cs typeface="Menlo"/>
              </a:defRPr>
            </a:defPPr>
          </a:lstStyle>
          <a:p xmlns:a="http://schemas.openxmlformats.org/drawingml/2006/main">
            <a:pPr>
              <a:defRPr sz="975" b="0">
                <a:solidFill>
                  <a:srgbClr val="9DA9BF"/>
                </a:solidFill>
                <a:latin typeface="Menlo"/>
                <a:ea typeface="Menlo"/>
                <a:cs typeface="Menlo"/>
              </a:defRPr>
            </a:pPr>
            <a:r>
              <a:rPr sz="975" b="0">
                <a:solidFill>
                  <a:srgbClr val="9DA9BF"/>
                </a:solidFill>
                <a:latin typeface="Menlo"/>
                <a:ea typeface="Menlo"/>
                <a:cs typeface="Menlo"/>
              </a:rPr>
              <a:t>$ python -m src.pipeline --data data/loan_applications_clean.csv</a:t>
            </a:r>
          </a:p>
        </p:txBody>
      </p:sp>
      <p:sp>
        <p:nvSpPr>
          <p:cNvPr id="7" name="">
            <a:extLst xmlns:a="http://schemas.openxmlformats.org/drawingml/2006/main">
              <a:ext uri="{FF2B5EF4-FFF2-40B4-BE49-F238E27FC236}">
                <a16:creationId xmlns:a16="http://schemas.microsoft.com/office/drawing/2014/main" id="{1F4D3A4A-E91B-4AE4-8C9D-904607132651}"/>
              </a:ext>
            </a:extLst>
          </p:cNvPr>
          <p:cNvSpPr>
            <a:spLocks xmlns:a="http://schemas.openxmlformats.org/drawingml/2006/main" noGrp="1"/>
          </p:cNvSpPr>
          <p:nvPr/>
        </p:nvSpPr>
        <p:spPr>
          <a:xfrm xmlns:a="http://schemas.openxmlformats.org/drawingml/2006/main">
            <a:off x="990600" y="2857500"/>
            <a:ext cx="561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7CE0B4"/>
                </a:solidFill>
                <a:latin typeface="Menlo"/>
                <a:ea typeface="Menlo"/>
                <a:cs typeface="Menlo"/>
              </a:defRPr>
            </a:defPPr>
          </a:lstStyle>
          <a:p xmlns:a="http://schemas.openxmlformats.org/drawingml/2006/main">
            <a:pPr>
              <a:defRPr sz="1725" b="1">
                <a:solidFill>
                  <a:srgbClr val="7CE0B4"/>
                </a:solidFill>
                <a:latin typeface="Menlo"/>
                <a:ea typeface="Menlo"/>
                <a:cs typeface="Menlo"/>
              </a:defRPr>
            </a:pPr>
            <a:r>
              <a:rPr sz="1725" b="1">
                <a:solidFill>
                  <a:srgbClr val="7CE0B4"/>
                </a:solidFill>
                <a:latin typeface="Menlo"/>
                <a:ea typeface="Menlo"/>
                <a:cs typeface="Menlo"/>
              </a:rPr>
              <a:t>VALIDATION PASSED</a:t>
            </a:r>
          </a:p>
          <a:p xmlns:a="http://schemas.openxmlformats.org/drawingml/2006/main">
            <a:pPr>
              <a:defRPr sz="1725" b="1">
                <a:solidFill>
                  <a:srgbClr val="7CE0B4"/>
                </a:solidFill>
                <a:latin typeface="Menlo"/>
                <a:ea typeface="Menlo"/>
                <a:cs typeface="Menlo"/>
              </a:defRPr>
            </a:pPr>
            <a:r>
              <a:rPr sz="1725" b="1">
                <a:solidFill>
                  <a:srgbClr val="7CE0B4"/>
                </a:solidFill>
                <a:latin typeface="Menlo"/>
                <a:ea typeface="Menlo"/>
                <a:cs typeface="Menlo"/>
              </a:rPr>
              <a:t>13/13 expectations succeeded</a:t>
            </a:r>
          </a:p>
        </p:txBody>
      </p:sp>
      <p:sp>
        <p:nvSpPr>
          <p:cNvPr id="8" name="">
            <a:extLst xmlns:a="http://schemas.openxmlformats.org/drawingml/2006/main">
              <a:ext uri="{FF2B5EF4-FFF2-40B4-BE49-F238E27FC236}">
                <a16:creationId xmlns:a16="http://schemas.microsoft.com/office/drawing/2014/main" id="{2B2EFF0C-169A-4338-8ABF-BE7C8A44F778}"/>
              </a:ext>
            </a:extLst>
          </p:cNvPr>
          <p:cNvSpPr>
            <a:spLocks xmlns:a="http://schemas.openxmlformats.org/drawingml/2006/main" noGrp="1"/>
          </p:cNvSpPr>
          <p:nvPr/>
        </p:nvSpPr>
        <p:spPr>
          <a:xfrm xmlns:a="http://schemas.openxmlformats.org/drawingml/2006/main">
            <a:off x="990600" y="3943350"/>
            <a:ext cx="561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FFFFFF"/>
                </a:solidFill>
                <a:latin typeface="Menlo"/>
                <a:ea typeface="Menlo"/>
                <a:cs typeface="Menlo"/>
              </a:defRPr>
            </a:defPPr>
          </a:lstStyle>
          <a:p xmlns:a="http://schemas.openxmlformats.org/drawingml/2006/main">
            <a:pPr>
              <a:defRPr sz="1350" b="0">
                <a:solidFill>
                  <a:srgbClr val="FFFFFF"/>
                </a:solidFill>
                <a:latin typeface="Menlo"/>
                <a:ea typeface="Menlo"/>
                <a:cs typeface="Menlo"/>
              </a:defRPr>
            </a:pPr>
            <a:r>
              <a:rPr sz="1350" b="0">
                <a:solidFill>
                  <a:srgbClr val="FFFFFF"/>
                </a:solidFill>
                <a:latin typeface="Menlo"/>
                <a:ea typeface="Menlo"/>
                <a:cs typeface="Menlo"/>
              </a:rPr>
              <a:t>MODEL TRAINED</a:t>
            </a:r>
          </a:p>
          <a:p xmlns:a="http://schemas.openxmlformats.org/drawingml/2006/main">
            <a:pPr>
              <a:defRPr sz="1350" b="0">
                <a:solidFill>
                  <a:srgbClr val="FFFFFF"/>
                </a:solidFill>
                <a:latin typeface="Menlo"/>
                <a:ea typeface="Menlo"/>
                <a:cs typeface="Menlo"/>
              </a:defRPr>
            </a:pPr>
            <a:r>
              <a:rPr sz="1350" b="0">
                <a:solidFill>
                  <a:srgbClr val="FFFFFF"/>
                </a:solidFill>
                <a:latin typeface="Menlo"/>
                <a:ea typeface="Menlo"/>
                <a:cs typeface="Menlo"/>
              </a:rPr>
              <a:t>accuracy=0.760 on 50 held-out rows</a:t>
            </a:r>
          </a:p>
        </p:txBody>
      </p:sp>
      <p:sp>
        <p:nvSpPr>
          <p:cNvPr id="9" name="">
            <a:extLst xmlns:a="http://schemas.openxmlformats.org/drawingml/2006/main">
              <a:ext uri="{FF2B5EF4-FFF2-40B4-BE49-F238E27FC236}">
                <a16:creationId xmlns:a16="http://schemas.microsoft.com/office/drawing/2014/main" id="{7F915958-BE92-473D-8430-72FB3B1FA380}"/>
              </a:ext>
            </a:extLst>
          </p:cNvPr>
          <p:cNvSpPr>
            <a:spLocks xmlns:a="http://schemas.openxmlformats.org/drawingml/2006/main" noGrp="1"/>
          </p:cNvSpPr>
          <p:nvPr/>
        </p:nvSpPr>
        <p:spPr>
          <a:xfrm xmlns:a="http://schemas.openxmlformats.org/drawingml/2006/main">
            <a:off x="7810500" y="1857375"/>
            <a:ext cx="335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B1324"/>
                </a:solidFill>
                <a:latin typeface="Avenir Next"/>
                <a:ea typeface="Avenir Next"/>
                <a:cs typeface="Avenir Next"/>
              </a:defRPr>
            </a:defPPr>
          </a:lstStyle>
          <a:p xmlns:a="http://schemas.openxmlformats.org/drawingml/2006/main">
            <a:pPr>
              <a:defRPr sz="2100" b="1">
                <a:solidFill>
                  <a:srgbClr val="0B1324"/>
                </a:solidFill>
                <a:latin typeface="Avenir Next"/>
                <a:ea typeface="Avenir Next"/>
                <a:cs typeface="Avenir Next"/>
              </a:defRPr>
            </a:pPr>
            <a:r>
              <a:rPr sz="2100" b="1">
                <a:solidFill>
                  <a:srgbClr val="0B1324"/>
                </a:solidFill>
                <a:latin typeface="Avenir Next"/>
                <a:ea typeface="Avenir Next"/>
                <a:cs typeface="Avenir Next"/>
              </a:rPr>
              <a:t>Only validated data crosses the boundary</a:t>
            </a:r>
          </a:p>
        </p:txBody>
      </p:sp>
      <p:sp>
        <p:nvSpPr>
          <p:cNvPr id="10" name="">
            <a:extLst xmlns:a="http://schemas.openxmlformats.org/drawingml/2006/main">
              <a:ext uri="{FF2B5EF4-FFF2-40B4-BE49-F238E27FC236}">
                <a16:creationId xmlns:a16="http://schemas.microsoft.com/office/drawing/2014/main" id="{B8A75C99-840C-4777-AFDC-8EE4E18FE59E}"/>
              </a:ext>
            </a:extLst>
          </p:cNvPr>
          <p:cNvSpPr>
            <a:spLocks xmlns:a="http://schemas.openxmlformats.org/drawingml/2006/main" noGrp="1"/>
          </p:cNvSpPr>
          <p:nvPr/>
        </p:nvSpPr>
        <p:spPr>
          <a:xfrm xmlns:a="http://schemas.openxmlformats.org/drawingml/2006/main">
            <a:off x="7810500" y="30765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Validation result</a:t>
            </a:r>
          </a:p>
        </p:txBody>
      </p:sp>
      <p:sp>
        <p:nvSpPr>
          <p:cNvPr id="11" name="">
            <a:extLst xmlns:a="http://schemas.openxmlformats.org/drawingml/2006/main">
              <a:ext uri="{FF2B5EF4-FFF2-40B4-BE49-F238E27FC236}">
                <a16:creationId xmlns:a16="http://schemas.microsoft.com/office/drawing/2014/main" id="{17DECC13-A2F1-495B-B623-94AF4B8C2B7D}"/>
              </a:ext>
            </a:extLst>
          </p:cNvPr>
          <p:cNvSpPr>
            <a:spLocks xmlns:a="http://schemas.openxmlformats.org/drawingml/2006/main" noGrp="1"/>
          </p:cNvSpPr>
          <p:nvPr/>
        </p:nvSpPr>
        <p:spPr>
          <a:xfrm xmlns:a="http://schemas.openxmlformats.org/drawingml/2006/main">
            <a:off x="10306050" y="3009900"/>
            <a:ext cx="857250" cy="323850"/>
          </a:xfrm>
          <a:prstGeom xmlns:a="http://schemas.openxmlformats.org/drawingml/2006/main" prst="roundRect">
            <a:avLst>
              <a:gd name="adj" fmla="val 35294"/>
            </a:avLst>
          </a:prstGeom>
          <a:solidFill xmlns:a="http://schemas.openxmlformats.org/drawingml/2006/main">
            <a:srgbClr val="E9F7F1"/>
          </a:solidFill>
          <a:ln xmlns:a="http://schemas.openxmlformats.org/drawingml/2006/main" w="0">
            <a:solidFill>
              <a:srgbClr val="E9F7F1"/>
            </a:solidFill>
            <a:prstDash val="solid"/>
          </a:ln>
        </p:spPr>
      </p:sp>
      <p:sp>
        <p:nvSpPr>
          <p:cNvPr id="12" name="">
            <a:extLst xmlns:a="http://schemas.openxmlformats.org/drawingml/2006/main">
              <a:ext uri="{FF2B5EF4-FFF2-40B4-BE49-F238E27FC236}">
                <a16:creationId xmlns:a16="http://schemas.microsoft.com/office/drawing/2014/main" id="{D6A48D92-F103-49B8-B310-EC9E86C10C82}"/>
              </a:ext>
            </a:extLst>
          </p:cNvPr>
          <p:cNvSpPr>
            <a:spLocks xmlns:a="http://schemas.openxmlformats.org/drawingml/2006/main" noGrp="1"/>
          </p:cNvSpPr>
          <p:nvPr/>
        </p:nvSpPr>
        <p:spPr>
          <a:xfrm xmlns:a="http://schemas.openxmlformats.org/drawingml/2006/main">
            <a:off x="10401300" y="30765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a:solidFill>
                  <a:srgbClr val="1F9D68"/>
                </a:solidFill>
                <a:latin typeface="Avenir Next"/>
                <a:ea typeface="Avenir Next"/>
                <a:cs typeface="Avenir Next"/>
              </a:defRPr>
            </a:defPPr>
          </a:lstStyle>
          <a:p xmlns:a="http://schemas.openxmlformats.org/drawingml/2006/main">
            <a:pPr algn="ctr">
              <a:defRPr sz="900" b="1">
                <a:solidFill>
                  <a:srgbClr val="1F9D68"/>
                </a:solidFill>
                <a:latin typeface="Avenir Next"/>
                <a:ea typeface="Avenir Next"/>
                <a:cs typeface="Avenir Next"/>
              </a:defRPr>
            </a:pPr>
            <a:r>
              <a:rPr sz="900" b="1">
                <a:solidFill>
                  <a:srgbClr val="1F9D68"/>
                </a:solidFill>
                <a:latin typeface="Avenir Next"/>
                <a:ea typeface="Avenir Next"/>
                <a:cs typeface="Avenir Next"/>
              </a:rPr>
              <a:t>PASS</a:t>
            </a:r>
          </a:p>
        </p:txBody>
      </p:sp>
      <p:sp>
        <p:nvSpPr>
          <p:cNvPr id="13" name="">
            <a:extLst xmlns:a="http://schemas.openxmlformats.org/drawingml/2006/main">
              <a:ext uri="{FF2B5EF4-FFF2-40B4-BE49-F238E27FC236}">
                <a16:creationId xmlns:a16="http://schemas.microsoft.com/office/drawing/2014/main" id="{198959A4-5094-456B-9589-E2316A79BFF6}"/>
              </a:ext>
            </a:extLst>
          </p:cNvPr>
          <p:cNvSpPr>
            <a:spLocks xmlns:a="http://schemas.openxmlformats.org/drawingml/2006/main" noGrp="1"/>
          </p:cNvSpPr>
          <p:nvPr/>
        </p:nvSpPr>
        <p:spPr>
          <a:xfrm xmlns:a="http://schemas.openxmlformats.org/drawingml/2006/main">
            <a:off x="7810500" y="378142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Training call</a:t>
            </a:r>
          </a:p>
        </p:txBody>
      </p:sp>
      <p:sp>
        <p:nvSpPr>
          <p:cNvPr id="14" name="">
            <a:extLst xmlns:a="http://schemas.openxmlformats.org/drawingml/2006/main">
              <a:ext uri="{FF2B5EF4-FFF2-40B4-BE49-F238E27FC236}">
                <a16:creationId xmlns:a16="http://schemas.microsoft.com/office/drawing/2014/main" id="{94C923E5-3768-463B-87F7-C9CBF2BA944A}"/>
              </a:ext>
            </a:extLst>
          </p:cNvPr>
          <p:cNvSpPr>
            <a:spLocks xmlns:a="http://schemas.openxmlformats.org/drawingml/2006/main" noGrp="1"/>
          </p:cNvSpPr>
          <p:nvPr/>
        </p:nvSpPr>
        <p:spPr>
          <a:xfrm xmlns:a="http://schemas.openxmlformats.org/drawingml/2006/main">
            <a:off x="10306050" y="3714750"/>
            <a:ext cx="857250" cy="323850"/>
          </a:xfrm>
          <a:prstGeom xmlns:a="http://schemas.openxmlformats.org/drawingml/2006/main" prst="roundRect">
            <a:avLst>
              <a:gd name="adj" fmla="val 35294"/>
            </a:avLst>
          </a:prstGeom>
          <a:solidFill xmlns:a="http://schemas.openxmlformats.org/drawingml/2006/main">
            <a:srgbClr val="EAF0FF"/>
          </a:solidFill>
          <a:ln xmlns:a="http://schemas.openxmlformats.org/drawingml/2006/main" w="0">
            <a:solidFill>
              <a:srgbClr val="EAF0FF"/>
            </a:solidFill>
            <a:prstDash val="solid"/>
          </a:ln>
        </p:spPr>
      </p:sp>
      <p:sp>
        <p:nvSpPr>
          <p:cNvPr id="15" name="">
            <a:extLst xmlns:a="http://schemas.openxmlformats.org/drawingml/2006/main">
              <a:ext uri="{FF2B5EF4-FFF2-40B4-BE49-F238E27FC236}">
                <a16:creationId xmlns:a16="http://schemas.microsoft.com/office/drawing/2014/main" id="{D007C38B-F0BC-4945-A0AE-EF4F4301DB80}"/>
              </a:ext>
            </a:extLst>
          </p:cNvPr>
          <p:cNvSpPr>
            <a:spLocks xmlns:a="http://schemas.openxmlformats.org/drawingml/2006/main" noGrp="1"/>
          </p:cNvSpPr>
          <p:nvPr/>
        </p:nvSpPr>
        <p:spPr>
          <a:xfrm xmlns:a="http://schemas.openxmlformats.org/drawingml/2006/main">
            <a:off x="10401300" y="37814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a:solidFill>
                  <a:srgbClr val="3E6AE1"/>
                </a:solidFill>
                <a:latin typeface="Avenir Next"/>
                <a:ea typeface="Avenir Next"/>
                <a:cs typeface="Avenir Next"/>
              </a:defRPr>
            </a:defPPr>
          </a:lstStyle>
          <a:p xmlns:a="http://schemas.openxmlformats.org/drawingml/2006/main">
            <a:pPr algn="ctr">
              <a:defRPr sz="900" b="1">
                <a:solidFill>
                  <a:srgbClr val="3E6AE1"/>
                </a:solidFill>
                <a:latin typeface="Avenir Next"/>
                <a:ea typeface="Avenir Next"/>
                <a:cs typeface="Avenir Next"/>
              </a:defRPr>
            </a:pPr>
            <a:r>
              <a:rPr sz="900" b="1">
                <a:solidFill>
                  <a:srgbClr val="3E6AE1"/>
                </a:solidFill>
                <a:latin typeface="Avenir Next"/>
                <a:ea typeface="Avenir Next"/>
                <a:cs typeface="Avenir Next"/>
              </a:rPr>
              <a:t>RUN</a:t>
            </a:r>
          </a:p>
        </p:txBody>
      </p:sp>
      <p:sp>
        <p:nvSpPr>
          <p:cNvPr id="16" name="">
            <a:extLst xmlns:a="http://schemas.openxmlformats.org/drawingml/2006/main">
              <a:ext uri="{FF2B5EF4-FFF2-40B4-BE49-F238E27FC236}">
                <a16:creationId xmlns:a16="http://schemas.microsoft.com/office/drawing/2014/main" id="{D207E003-2F56-4585-9339-F69627A1C8E2}"/>
              </a:ext>
            </a:extLst>
          </p:cNvPr>
          <p:cNvSpPr>
            <a:spLocks xmlns:a="http://schemas.openxmlformats.org/drawingml/2006/main" noGrp="1"/>
          </p:cNvSpPr>
          <p:nvPr/>
        </p:nvSpPr>
        <p:spPr>
          <a:xfrm xmlns:a="http://schemas.openxmlformats.org/drawingml/2006/main">
            <a:off x="7810500" y="44862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Hash + version</a:t>
            </a:r>
          </a:p>
        </p:txBody>
      </p:sp>
      <p:sp>
        <p:nvSpPr>
          <p:cNvPr id="17" name="">
            <a:extLst xmlns:a="http://schemas.openxmlformats.org/drawingml/2006/main">
              <a:ext uri="{FF2B5EF4-FFF2-40B4-BE49-F238E27FC236}">
                <a16:creationId xmlns:a16="http://schemas.microsoft.com/office/drawing/2014/main" id="{775B5E6A-9D4F-4876-9143-56C3CB3D6220}"/>
              </a:ext>
            </a:extLst>
          </p:cNvPr>
          <p:cNvSpPr>
            <a:spLocks xmlns:a="http://schemas.openxmlformats.org/drawingml/2006/main" noGrp="1"/>
          </p:cNvSpPr>
          <p:nvPr/>
        </p:nvSpPr>
        <p:spPr>
          <a:xfrm xmlns:a="http://schemas.openxmlformats.org/drawingml/2006/main">
            <a:off x="10306050" y="4419600"/>
            <a:ext cx="857250" cy="323850"/>
          </a:xfrm>
          <a:prstGeom xmlns:a="http://schemas.openxmlformats.org/drawingml/2006/main" prst="roundRect">
            <a:avLst>
              <a:gd name="adj" fmla="val 35294"/>
            </a:avLst>
          </a:prstGeom>
          <a:solidFill xmlns:a="http://schemas.openxmlformats.org/drawingml/2006/main">
            <a:srgbClr val="FFF0EA"/>
          </a:solidFill>
          <a:ln xmlns:a="http://schemas.openxmlformats.org/drawingml/2006/main" w="0">
            <a:solidFill>
              <a:srgbClr val="FFF0EA"/>
            </a:solidFill>
            <a:prstDash val="solid"/>
          </a:ln>
        </p:spPr>
      </p:sp>
      <p:sp>
        <p:nvSpPr>
          <p:cNvPr id="18" name="">
            <a:extLst xmlns:a="http://schemas.openxmlformats.org/drawingml/2006/main">
              <a:ext uri="{FF2B5EF4-FFF2-40B4-BE49-F238E27FC236}">
                <a16:creationId xmlns:a16="http://schemas.microsoft.com/office/drawing/2014/main" id="{CB19B3BF-7936-4A1E-AF2A-7320CBFE5D4A}"/>
              </a:ext>
            </a:extLst>
          </p:cNvPr>
          <p:cNvSpPr>
            <a:spLocks xmlns:a="http://schemas.openxmlformats.org/drawingml/2006/main" noGrp="1"/>
          </p:cNvSpPr>
          <p:nvPr/>
        </p:nvSpPr>
        <p:spPr>
          <a:xfrm xmlns:a="http://schemas.openxmlformats.org/drawingml/2006/main">
            <a:off x="10401300" y="44862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a:solidFill>
                  <a:srgbClr val="F05A28"/>
                </a:solidFill>
                <a:latin typeface="Avenir Next"/>
                <a:ea typeface="Avenir Next"/>
                <a:cs typeface="Avenir Next"/>
              </a:defRPr>
            </a:defPPr>
          </a:lstStyle>
          <a:p xmlns:a="http://schemas.openxmlformats.org/drawingml/2006/main">
            <a:pPr algn="ctr">
              <a:defRPr sz="900" b="1">
                <a:solidFill>
                  <a:srgbClr val="F05A28"/>
                </a:solidFill>
                <a:latin typeface="Avenir Next"/>
                <a:ea typeface="Avenir Next"/>
                <a:cs typeface="Avenir Next"/>
              </a:defRPr>
            </a:pPr>
            <a:r>
              <a:rPr sz="900" b="1">
                <a:solidFill>
                  <a:srgbClr val="F05A28"/>
                </a:solidFill>
                <a:latin typeface="Avenir Next"/>
                <a:ea typeface="Avenir Next"/>
                <a:cs typeface="Avenir Next"/>
              </a:rPr>
              <a:t>SAVED</a:t>
            </a:r>
          </a:p>
        </p:txBody>
      </p:sp>
      <p:sp>
        <p:nvSpPr>
          <p:cNvPr id="19" name="">
            <a:extLst xmlns:a="http://schemas.openxmlformats.org/drawingml/2006/main">
              <a:ext uri="{FF2B5EF4-FFF2-40B4-BE49-F238E27FC236}">
                <a16:creationId xmlns:a16="http://schemas.microsoft.com/office/drawing/2014/main" id="{9EE2BC6C-3EE6-4935-823B-0D023D0736DB}"/>
              </a:ext>
            </a:extLst>
          </p:cNvPr>
          <p:cNvSpPr>
            <a:spLocks xmlns:a="http://schemas.openxmlformats.org/drawingml/2006/main" noGrp="1"/>
          </p:cNvSpPr>
          <p:nvPr/>
        </p:nvSpPr>
        <p:spPr>
          <a:xfrm xmlns:a="http://schemas.openxmlformats.org/drawingml/2006/main">
            <a:off x="685800" y="521970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67085"/>
                </a:solidFill>
                <a:latin typeface="Avenir Next"/>
                <a:ea typeface="Avenir Next"/>
                <a:cs typeface="Avenir Next"/>
              </a:defRPr>
            </a:defPPr>
          </a:lstStyle>
          <a:p xmlns:a="http://schemas.openxmlformats.org/drawingml/2006/main">
            <a:pPr>
              <a:defRPr sz="1275" b="0">
                <a:solidFill>
                  <a:srgbClr val="667085"/>
                </a:solidFill>
                <a:latin typeface="Avenir Next"/>
                <a:ea typeface="Avenir Next"/>
                <a:cs typeface="Avenir Next"/>
              </a:defRPr>
            </a:pPr>
            <a:r>
              <a:rPr sz="1275" b="0">
                <a:solidFill>
                  <a:srgbClr val="667085"/>
                </a:solidFill>
                <a:latin typeface="Avenir Next"/>
                <a:ea typeface="Avenir Next"/>
                <a:cs typeface="Avenir Next"/>
              </a:rPr>
              <a:t>The metric proves that the rest of the pipeline ran. It is not a model-quality claim.</a:t>
            </a:r>
          </a:p>
        </p:txBody>
      </p:sp>
      <p:sp>
        <p:nvSpPr>
          <p:cNvPr id="20" name="">
            <a:extLst xmlns:a="http://schemas.openxmlformats.org/drawingml/2006/main">
              <a:ext uri="{FF2B5EF4-FFF2-40B4-BE49-F238E27FC236}">
                <a16:creationId xmlns:a16="http://schemas.microsoft.com/office/drawing/2014/main" id="{719D219C-A07D-4537-A8FC-9299159140D3}"/>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7073432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42449C4-8F9B-4518-9E76-1B7145F099FE}"/>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B1324"/>
                </a:solidFill>
                <a:latin typeface="Avenir Next"/>
                <a:ea typeface="Avenir Next"/>
                <a:cs typeface="Avenir Next"/>
              </a:defRPr>
            </a:defPPr>
          </a:lstStyle>
          <a:p xmlns:a="http://schemas.openxmlformats.org/drawingml/2006/main">
            <a:pPr>
              <a:defRPr sz="2325" b="1">
                <a:solidFill>
                  <a:srgbClr val="0B1324"/>
                </a:solidFill>
                <a:latin typeface="Avenir Next"/>
                <a:ea typeface="Avenir Next"/>
                <a:cs typeface="Avenir Next"/>
              </a:defRPr>
            </a:pPr>
            <a:r>
              <a:rPr sz="2325" b="1">
                <a:solidFill>
                  <a:srgbClr val="0B1324"/>
                </a:solidFill>
                <a:latin typeface="Avenir Next"/>
                <a:ea typeface="Avenir Next"/>
                <a:cs typeface="Avenir Next"/>
              </a:rPr>
              <a:t>How the gate supports MLOps qualities</a:t>
            </a:r>
          </a:p>
        </p:txBody>
      </p:sp>
      <p:sp>
        <p:nvSpPr>
          <p:cNvPr id="2" name="">
            <a:extLst xmlns:a="http://schemas.openxmlformats.org/drawingml/2006/main">
              <a:ext uri="{FF2B5EF4-FFF2-40B4-BE49-F238E27FC236}">
                <a16:creationId xmlns:a16="http://schemas.microsoft.com/office/drawing/2014/main" id="{054F5497-0F5F-4B18-90D0-F045C1808B73}"/>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667085"/>
                </a:solidFill>
                <a:latin typeface="Avenir Next"/>
                <a:ea typeface="Avenir Next"/>
                <a:cs typeface="Avenir Next"/>
              </a:defRPr>
            </a:defPPr>
          </a:lstStyle>
          <a:p xmlns:a="http://schemas.openxmlformats.org/drawingml/2006/main">
            <a:pPr algn="r">
              <a:defRPr sz="1125" b="1">
                <a:solidFill>
                  <a:srgbClr val="667085"/>
                </a:solidFill>
                <a:latin typeface="Avenir Next"/>
                <a:ea typeface="Avenir Next"/>
                <a:cs typeface="Avenir Next"/>
              </a:defRPr>
            </a:pPr>
            <a:r>
              <a:rPr sz="1125" b="1">
                <a:solidFill>
                  <a:srgbClr val="667085"/>
                </a:solidFill>
                <a:latin typeface="Avenir Next"/>
                <a:ea typeface="Avenir Next"/>
                <a:cs typeface="Avenir Next"/>
              </a:rPr>
              <a:t>09</a:t>
            </a:r>
          </a:p>
        </p:txBody>
      </p:sp>
      <p:sp>
        <p:nvSpPr>
          <p:cNvPr id="3" name="">
            <a:extLst xmlns:a="http://schemas.openxmlformats.org/drawingml/2006/main">
              <a:ext uri="{FF2B5EF4-FFF2-40B4-BE49-F238E27FC236}">
                <a16:creationId xmlns:a16="http://schemas.microsoft.com/office/drawing/2014/main" id="{4CE8A005-782F-43AB-B131-8E142BAA78F9}"/>
              </a:ext>
            </a:extLst>
          </p:cNvPr>
          <p:cNvSpPr>
            <a:spLocks xmlns:a="http://schemas.openxmlformats.org/drawingml/2006/main" noGrp="1"/>
          </p:cNvSpPr>
          <p:nvPr/>
        </p:nvSpPr>
        <p:spPr>
          <a:xfrm xmlns:a="http://schemas.openxmlformats.org/drawingml/2006/main">
            <a:off x="685800" y="11430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67085"/>
                </a:solidFill>
                <a:latin typeface="Avenir Next"/>
                <a:ea typeface="Avenir Next"/>
                <a:cs typeface="Avenir Next"/>
              </a:defRPr>
            </a:defPPr>
          </a:lstStyle>
          <a:p xmlns:a="http://schemas.openxmlformats.org/drawingml/2006/main">
            <a:pPr>
              <a:defRPr sz="1500" b="0">
                <a:solidFill>
                  <a:srgbClr val="667085"/>
                </a:solidFill>
                <a:latin typeface="Avenir Next"/>
                <a:ea typeface="Avenir Next"/>
                <a:cs typeface="Avenir Next"/>
              </a:defRPr>
            </a:pPr>
            <a:r>
              <a:rPr sz="1500" b="0">
                <a:solidFill>
                  <a:srgbClr val="667085"/>
                </a:solidFill>
                <a:latin typeface="Avenir Next"/>
                <a:ea typeface="Avenir Next"/>
                <a:cs typeface="Avenir Next"/>
              </a:rPr>
              <a:t>Course requirements become concrete properties of the demo.</a:t>
            </a:r>
          </a:p>
        </p:txBody>
      </p:sp>
      <p:sp>
        <p:nvSpPr>
          <p:cNvPr id="4" name="">
            <a:extLst xmlns:a="http://schemas.openxmlformats.org/drawingml/2006/main">
              <a:ext uri="{FF2B5EF4-FFF2-40B4-BE49-F238E27FC236}">
                <a16:creationId xmlns:a16="http://schemas.microsoft.com/office/drawing/2014/main" id="{3EC730DE-C799-455A-9C09-B8E457A098D5}"/>
              </a:ext>
            </a:extLst>
          </p:cNvPr>
          <p:cNvSpPr>
            <a:spLocks xmlns:a="http://schemas.openxmlformats.org/drawingml/2006/main" noGrp="1"/>
          </p:cNvSpPr>
          <p:nvPr/>
        </p:nvSpPr>
        <p:spPr>
          <a:xfrm xmlns:a="http://schemas.openxmlformats.org/drawingml/2006/main">
            <a:off x="685800" y="1790700"/>
            <a:ext cx="1082040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9525">
            <a:solidFill>
              <a:srgbClr val="D9DEE8"/>
            </a:solidFill>
            <a:prstDash val="solid"/>
          </a:ln>
        </p:spPr>
      </p:sp>
      <p:sp>
        <p:nvSpPr>
          <p:cNvPr id="5" name="">
            <a:extLst xmlns:a="http://schemas.openxmlformats.org/drawingml/2006/main">
              <a:ext uri="{FF2B5EF4-FFF2-40B4-BE49-F238E27FC236}">
                <a16:creationId xmlns:a16="http://schemas.microsoft.com/office/drawing/2014/main" id="{890B93DC-48AD-49A0-BB0E-45054A332695}"/>
              </a:ext>
            </a:extLst>
          </p:cNvPr>
          <p:cNvSpPr>
            <a:spLocks xmlns:a="http://schemas.openxmlformats.org/drawingml/2006/main" noGrp="1"/>
          </p:cNvSpPr>
          <p:nvPr/>
        </p:nvSpPr>
        <p:spPr>
          <a:xfrm xmlns:a="http://schemas.openxmlformats.org/drawingml/2006/main">
            <a:off x="876300" y="1924050"/>
            <a:ext cx="457200" cy="457200"/>
          </a:xfrm>
          <a:prstGeom xmlns:a="http://schemas.openxmlformats.org/drawingml/2006/main" prst="ellipse">
            <a:avLst/>
          </a:prstGeom>
          <a:solidFill xmlns:a="http://schemas.openxmlformats.org/drawingml/2006/main">
            <a:srgbClr val="FDECEC"/>
          </a:solidFill>
          <a:ln xmlns:a="http://schemas.openxmlformats.org/drawingml/2006/main" w="0">
            <a:solidFill>
              <a:srgbClr val="FDECEC"/>
            </a:solidFill>
            <a:prstDash val="solid"/>
          </a:ln>
        </p:spPr>
      </p:sp>
      <p:sp>
        <p:nvSpPr>
          <p:cNvPr id="6" name="">
            <a:extLst xmlns:a="http://schemas.openxmlformats.org/drawingml/2006/main">
              <a:ext uri="{FF2B5EF4-FFF2-40B4-BE49-F238E27FC236}">
                <a16:creationId xmlns:a16="http://schemas.microsoft.com/office/drawing/2014/main" id="{1885F54B-E52F-4590-8A28-8941A6E69114}"/>
              </a:ext>
            </a:extLst>
          </p:cNvPr>
          <p:cNvSpPr>
            <a:spLocks xmlns:a="http://schemas.openxmlformats.org/drawingml/2006/main" noGrp="1"/>
          </p:cNvSpPr>
          <p:nvPr/>
        </p:nvSpPr>
        <p:spPr>
          <a:xfrm xmlns:a="http://schemas.openxmlformats.org/drawingml/2006/main">
            <a:off x="876300" y="2038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a:solidFill>
                  <a:srgbClr val="D64545"/>
                </a:solidFill>
                <a:latin typeface="Avenir Next"/>
                <a:ea typeface="Avenir Next"/>
                <a:cs typeface="Avenir Next"/>
              </a:defRPr>
            </a:defPPr>
          </a:lstStyle>
          <a:p xmlns:a="http://schemas.openxmlformats.org/drawingml/2006/main">
            <a:pPr algn="ctr">
              <a:defRPr sz="1200" b="1">
                <a:solidFill>
                  <a:srgbClr val="D64545"/>
                </a:solidFill>
                <a:latin typeface="Avenir Next"/>
                <a:ea typeface="Avenir Next"/>
                <a:cs typeface="Avenir Next"/>
              </a:defRPr>
            </a:pPr>
            <a:r>
              <a:rPr sz="1200" b="1">
                <a:solidFill>
                  <a:srgbClr val="D64545"/>
                </a:solidFill>
                <a:latin typeface="Avenir Next"/>
                <a:ea typeface="Avenir Next"/>
                <a:cs typeface="Avenir Next"/>
              </a:rPr>
              <a:t>R</a:t>
            </a:r>
          </a:p>
        </p:txBody>
      </p:sp>
      <p:sp>
        <p:nvSpPr>
          <p:cNvPr id="7" name="">
            <a:extLst xmlns:a="http://schemas.openxmlformats.org/drawingml/2006/main">
              <a:ext uri="{FF2B5EF4-FFF2-40B4-BE49-F238E27FC236}">
                <a16:creationId xmlns:a16="http://schemas.microsoft.com/office/drawing/2014/main" id="{DFA5D9B4-2A81-4433-9387-DF57A2432F43}"/>
              </a:ext>
            </a:extLst>
          </p:cNvPr>
          <p:cNvSpPr>
            <a:spLocks xmlns:a="http://schemas.openxmlformats.org/drawingml/2006/main" noGrp="1"/>
          </p:cNvSpPr>
          <p:nvPr/>
        </p:nvSpPr>
        <p:spPr>
          <a:xfrm xmlns:a="http://schemas.openxmlformats.org/drawingml/2006/main">
            <a:off x="1657350" y="20002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B1324"/>
                </a:solidFill>
                <a:latin typeface="Avenir Next"/>
                <a:ea typeface="Avenir Next"/>
                <a:cs typeface="Avenir Next"/>
              </a:defRPr>
            </a:defPPr>
          </a:lstStyle>
          <a:p xmlns:a="http://schemas.openxmlformats.org/drawingml/2006/main">
            <a:pPr>
              <a:defRPr sz="1575" b="1">
                <a:solidFill>
                  <a:srgbClr val="0B1324"/>
                </a:solidFill>
                <a:latin typeface="Avenir Next"/>
                <a:ea typeface="Avenir Next"/>
                <a:cs typeface="Avenir Next"/>
              </a:defRPr>
            </a:pPr>
            <a:r>
              <a:rPr sz="1575" b="1">
                <a:solidFill>
                  <a:srgbClr val="0B1324"/>
                </a:solidFill>
                <a:latin typeface="Avenir Next"/>
                <a:ea typeface="Avenir Next"/>
                <a:cs typeface="Avenir Next"/>
              </a:rPr>
              <a:t>Reliability</a:t>
            </a:r>
          </a:p>
        </p:txBody>
      </p:sp>
      <p:sp>
        <p:nvSpPr>
          <p:cNvPr id="8" name="">
            <a:extLst xmlns:a="http://schemas.openxmlformats.org/drawingml/2006/main">
              <a:ext uri="{FF2B5EF4-FFF2-40B4-BE49-F238E27FC236}">
                <a16:creationId xmlns:a16="http://schemas.microsoft.com/office/drawing/2014/main" id="{53ABDD48-BF40-45C8-AF85-D0F8F06D237B}"/>
              </a:ext>
            </a:extLst>
          </p:cNvPr>
          <p:cNvSpPr>
            <a:spLocks xmlns:a="http://schemas.openxmlformats.org/drawingml/2006/main" noGrp="1"/>
          </p:cNvSpPr>
          <p:nvPr/>
        </p:nvSpPr>
        <p:spPr>
          <a:xfrm xmlns:a="http://schemas.openxmlformats.org/drawingml/2006/main">
            <a:off x="4191000" y="2019300"/>
            <a:ext cx="6838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667085"/>
                </a:solidFill>
                <a:latin typeface="Avenir Next"/>
                <a:ea typeface="Avenir Next"/>
                <a:cs typeface="Avenir Next"/>
              </a:defRPr>
            </a:defPPr>
          </a:lstStyle>
          <a:p xmlns:a="http://schemas.openxmlformats.org/drawingml/2006/main">
            <a:pPr>
              <a:defRPr sz="1350" b="0">
                <a:solidFill>
                  <a:srgbClr val="667085"/>
                </a:solidFill>
                <a:latin typeface="Avenir Next"/>
                <a:ea typeface="Avenir Next"/>
                <a:cs typeface="Avenir Next"/>
              </a:defRPr>
            </a:pPr>
            <a:r>
              <a:rPr sz="1350" b="0">
                <a:solidFill>
                  <a:srgbClr val="667085"/>
                </a:solidFill>
                <a:latin typeface="Avenir Next"/>
                <a:ea typeface="Avenir Next"/>
                <a:cs typeface="Avenir Next"/>
              </a:rPr>
              <a:t>Invalid batches fail loudly before training</a:t>
            </a:r>
          </a:p>
        </p:txBody>
      </p:sp>
      <p:sp>
        <p:nvSpPr>
          <p:cNvPr id="9" name="">
            <a:extLst xmlns:a="http://schemas.openxmlformats.org/drawingml/2006/main">
              <a:ext uri="{FF2B5EF4-FFF2-40B4-BE49-F238E27FC236}">
                <a16:creationId xmlns:a16="http://schemas.microsoft.com/office/drawing/2014/main" id="{74EAEAC5-9AF6-4883-B3B3-E330D1B26FFF}"/>
              </a:ext>
            </a:extLst>
          </p:cNvPr>
          <p:cNvSpPr>
            <a:spLocks xmlns:a="http://schemas.openxmlformats.org/drawingml/2006/main" noGrp="1"/>
          </p:cNvSpPr>
          <p:nvPr/>
        </p:nvSpPr>
        <p:spPr>
          <a:xfrm xmlns:a="http://schemas.openxmlformats.org/drawingml/2006/main">
            <a:off x="685800" y="2743200"/>
            <a:ext cx="1082040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9525">
            <a:solidFill>
              <a:srgbClr val="D9DEE8"/>
            </a:solidFill>
            <a:prstDash val="solid"/>
          </a:ln>
        </p:spPr>
      </p:sp>
      <p:sp>
        <p:nvSpPr>
          <p:cNvPr id="10" name="">
            <a:extLst xmlns:a="http://schemas.openxmlformats.org/drawingml/2006/main">
              <a:ext uri="{FF2B5EF4-FFF2-40B4-BE49-F238E27FC236}">
                <a16:creationId xmlns:a16="http://schemas.microsoft.com/office/drawing/2014/main" id="{15D8D052-A4A5-4731-BB48-C90EB2CAB48C}"/>
              </a:ext>
            </a:extLst>
          </p:cNvPr>
          <p:cNvSpPr>
            <a:spLocks xmlns:a="http://schemas.openxmlformats.org/drawingml/2006/main" noGrp="1"/>
          </p:cNvSpPr>
          <p:nvPr/>
        </p:nvSpPr>
        <p:spPr>
          <a:xfrm xmlns:a="http://schemas.openxmlformats.org/drawingml/2006/main">
            <a:off x="876300" y="2876550"/>
            <a:ext cx="457200" cy="457200"/>
          </a:xfrm>
          <a:prstGeom xmlns:a="http://schemas.openxmlformats.org/drawingml/2006/main" prst="ellipse">
            <a:avLst/>
          </a:prstGeom>
          <a:solidFill xmlns:a="http://schemas.openxmlformats.org/drawingml/2006/main">
            <a:srgbClr val="EAF0FF"/>
          </a:solidFill>
          <a:ln xmlns:a="http://schemas.openxmlformats.org/drawingml/2006/main" w="0">
            <a:solidFill>
              <a:srgbClr val="EAF0FF"/>
            </a:solidFill>
            <a:prstDash val="solid"/>
          </a:ln>
        </p:spPr>
      </p:sp>
      <p:sp>
        <p:nvSpPr>
          <p:cNvPr id="11" name="">
            <a:extLst xmlns:a="http://schemas.openxmlformats.org/drawingml/2006/main">
              <a:ext uri="{FF2B5EF4-FFF2-40B4-BE49-F238E27FC236}">
                <a16:creationId xmlns:a16="http://schemas.microsoft.com/office/drawing/2014/main" id="{85459E8C-2BFA-4716-8E42-412B6FA53190}"/>
              </a:ext>
            </a:extLst>
          </p:cNvPr>
          <p:cNvSpPr>
            <a:spLocks xmlns:a="http://schemas.openxmlformats.org/drawingml/2006/main" noGrp="1"/>
          </p:cNvSpPr>
          <p:nvPr/>
        </p:nvSpPr>
        <p:spPr>
          <a:xfrm xmlns:a="http://schemas.openxmlformats.org/drawingml/2006/main">
            <a:off x="876300" y="2990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a:solidFill>
                  <a:srgbClr val="3E6AE1"/>
                </a:solidFill>
                <a:latin typeface="Avenir Next"/>
                <a:ea typeface="Avenir Next"/>
                <a:cs typeface="Avenir Next"/>
              </a:defRPr>
            </a:defPPr>
          </a:lstStyle>
          <a:p xmlns:a="http://schemas.openxmlformats.org/drawingml/2006/main">
            <a:pPr algn="ctr">
              <a:defRPr sz="1200" b="1">
                <a:solidFill>
                  <a:srgbClr val="3E6AE1"/>
                </a:solidFill>
                <a:latin typeface="Avenir Next"/>
                <a:ea typeface="Avenir Next"/>
                <a:cs typeface="Avenir Next"/>
              </a:defRPr>
            </a:pPr>
            <a:r>
              <a:rPr sz="1200" b="1">
                <a:solidFill>
                  <a:srgbClr val="3E6AE1"/>
                </a:solidFill>
                <a:latin typeface="Avenir Next"/>
                <a:ea typeface="Avenir Next"/>
                <a:cs typeface="Avenir Next"/>
              </a:rPr>
              <a:t>M</a:t>
            </a:r>
          </a:p>
        </p:txBody>
      </p:sp>
      <p:sp>
        <p:nvSpPr>
          <p:cNvPr id="12" name="">
            <a:extLst xmlns:a="http://schemas.openxmlformats.org/drawingml/2006/main">
              <a:ext uri="{FF2B5EF4-FFF2-40B4-BE49-F238E27FC236}">
                <a16:creationId xmlns:a16="http://schemas.microsoft.com/office/drawing/2014/main" id="{ACF01EAC-EA53-484C-A3C5-2DC35DC92B12}"/>
              </a:ext>
            </a:extLst>
          </p:cNvPr>
          <p:cNvSpPr>
            <a:spLocks xmlns:a="http://schemas.openxmlformats.org/drawingml/2006/main" noGrp="1"/>
          </p:cNvSpPr>
          <p:nvPr/>
        </p:nvSpPr>
        <p:spPr>
          <a:xfrm xmlns:a="http://schemas.openxmlformats.org/drawingml/2006/main">
            <a:off x="1657350" y="29527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B1324"/>
                </a:solidFill>
                <a:latin typeface="Avenir Next"/>
                <a:ea typeface="Avenir Next"/>
                <a:cs typeface="Avenir Next"/>
              </a:defRPr>
            </a:defPPr>
          </a:lstStyle>
          <a:p xmlns:a="http://schemas.openxmlformats.org/drawingml/2006/main">
            <a:pPr>
              <a:defRPr sz="1575" b="1">
                <a:solidFill>
                  <a:srgbClr val="0B1324"/>
                </a:solidFill>
                <a:latin typeface="Avenir Next"/>
                <a:ea typeface="Avenir Next"/>
                <a:cs typeface="Avenir Next"/>
              </a:defRPr>
            </a:pPr>
            <a:r>
              <a:rPr sz="1575" b="1">
                <a:solidFill>
                  <a:srgbClr val="0B1324"/>
                </a:solidFill>
                <a:latin typeface="Avenir Next"/>
                <a:ea typeface="Avenir Next"/>
                <a:cs typeface="Avenir Next"/>
              </a:rPr>
              <a:t>Maintainability</a:t>
            </a:r>
          </a:p>
        </p:txBody>
      </p:sp>
      <p:sp>
        <p:nvSpPr>
          <p:cNvPr id="13" name="">
            <a:extLst xmlns:a="http://schemas.openxmlformats.org/drawingml/2006/main">
              <a:ext uri="{FF2B5EF4-FFF2-40B4-BE49-F238E27FC236}">
                <a16:creationId xmlns:a16="http://schemas.microsoft.com/office/drawing/2014/main" id="{D451870C-C3BA-4D97-8F80-2E4647ED3069}"/>
              </a:ext>
            </a:extLst>
          </p:cNvPr>
          <p:cNvSpPr>
            <a:spLocks xmlns:a="http://schemas.openxmlformats.org/drawingml/2006/main" noGrp="1"/>
          </p:cNvSpPr>
          <p:nvPr/>
        </p:nvSpPr>
        <p:spPr>
          <a:xfrm xmlns:a="http://schemas.openxmlformats.org/drawingml/2006/main">
            <a:off x="4191000" y="2971800"/>
            <a:ext cx="6838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667085"/>
                </a:solidFill>
                <a:latin typeface="Avenir Next"/>
                <a:ea typeface="Avenir Next"/>
                <a:cs typeface="Avenir Next"/>
              </a:defRPr>
            </a:defPPr>
          </a:lstStyle>
          <a:p xmlns:a="http://schemas.openxmlformats.org/drawingml/2006/main">
            <a:pPr>
              <a:defRPr sz="1350" b="0">
                <a:solidFill>
                  <a:srgbClr val="667085"/>
                </a:solidFill>
                <a:latin typeface="Avenir Next"/>
                <a:ea typeface="Avenir Next"/>
                <a:cs typeface="Avenir Next"/>
              </a:defRPr>
            </a:pPr>
            <a:r>
              <a:rPr sz="1350" b="0">
                <a:solidFill>
                  <a:srgbClr val="667085"/>
                </a:solidFill>
                <a:latin typeface="Avenir Next"/>
                <a:ea typeface="Avenir Next"/>
                <a:cs typeface="Avenir Next"/>
              </a:rPr>
              <a:t>Readable rules live with tests and CI</a:t>
            </a:r>
          </a:p>
        </p:txBody>
      </p:sp>
      <p:sp>
        <p:nvSpPr>
          <p:cNvPr id="14" name="">
            <a:extLst xmlns:a="http://schemas.openxmlformats.org/drawingml/2006/main">
              <a:ext uri="{FF2B5EF4-FFF2-40B4-BE49-F238E27FC236}">
                <a16:creationId xmlns:a16="http://schemas.microsoft.com/office/drawing/2014/main" id="{7ECE02A0-709E-4253-AA1F-715E92078040}"/>
              </a:ext>
            </a:extLst>
          </p:cNvPr>
          <p:cNvSpPr>
            <a:spLocks xmlns:a="http://schemas.openxmlformats.org/drawingml/2006/main" noGrp="1"/>
          </p:cNvSpPr>
          <p:nvPr/>
        </p:nvSpPr>
        <p:spPr>
          <a:xfrm xmlns:a="http://schemas.openxmlformats.org/drawingml/2006/main">
            <a:off x="685800" y="3695700"/>
            <a:ext cx="1082040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9525">
            <a:solidFill>
              <a:srgbClr val="D9DEE8"/>
            </a:solidFill>
            <a:prstDash val="solid"/>
          </a:ln>
        </p:spPr>
      </p:sp>
      <p:sp>
        <p:nvSpPr>
          <p:cNvPr id="15" name="">
            <a:extLst xmlns:a="http://schemas.openxmlformats.org/drawingml/2006/main">
              <a:ext uri="{FF2B5EF4-FFF2-40B4-BE49-F238E27FC236}">
                <a16:creationId xmlns:a16="http://schemas.microsoft.com/office/drawing/2014/main" id="{AFFB8E84-7832-4031-B0E4-DC0E37E6B087}"/>
              </a:ext>
            </a:extLst>
          </p:cNvPr>
          <p:cNvSpPr>
            <a:spLocks xmlns:a="http://schemas.openxmlformats.org/drawingml/2006/main" noGrp="1"/>
          </p:cNvSpPr>
          <p:nvPr/>
        </p:nvSpPr>
        <p:spPr>
          <a:xfrm xmlns:a="http://schemas.openxmlformats.org/drawingml/2006/main">
            <a:off x="876300" y="3829050"/>
            <a:ext cx="457200" cy="457200"/>
          </a:xfrm>
          <a:prstGeom xmlns:a="http://schemas.openxmlformats.org/drawingml/2006/main" prst="ellipse">
            <a:avLst/>
          </a:prstGeom>
          <a:solidFill xmlns:a="http://schemas.openxmlformats.org/drawingml/2006/main">
            <a:srgbClr val="E9F7F1"/>
          </a:solidFill>
          <a:ln xmlns:a="http://schemas.openxmlformats.org/drawingml/2006/main" w="0">
            <a:solidFill>
              <a:srgbClr val="E9F7F1"/>
            </a:solidFill>
            <a:prstDash val="solid"/>
          </a:ln>
        </p:spPr>
      </p:sp>
      <p:sp>
        <p:nvSpPr>
          <p:cNvPr id="16" name="">
            <a:extLst xmlns:a="http://schemas.openxmlformats.org/drawingml/2006/main">
              <a:ext uri="{FF2B5EF4-FFF2-40B4-BE49-F238E27FC236}">
                <a16:creationId xmlns:a16="http://schemas.microsoft.com/office/drawing/2014/main" id="{10BC107E-AE03-40AD-A01D-580747616320}"/>
              </a:ext>
            </a:extLst>
          </p:cNvPr>
          <p:cNvSpPr>
            <a:spLocks xmlns:a="http://schemas.openxmlformats.org/drawingml/2006/main" noGrp="1"/>
          </p:cNvSpPr>
          <p:nvPr/>
        </p:nvSpPr>
        <p:spPr>
          <a:xfrm xmlns:a="http://schemas.openxmlformats.org/drawingml/2006/main">
            <a:off x="876300" y="3943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a:solidFill>
                  <a:srgbClr val="1F9D68"/>
                </a:solidFill>
                <a:latin typeface="Avenir Next"/>
                <a:ea typeface="Avenir Next"/>
                <a:cs typeface="Avenir Next"/>
              </a:defRPr>
            </a:defPPr>
          </a:lstStyle>
          <a:p xmlns:a="http://schemas.openxmlformats.org/drawingml/2006/main">
            <a:pPr algn="ctr">
              <a:defRPr sz="1200" b="1">
                <a:solidFill>
                  <a:srgbClr val="1F9D68"/>
                </a:solidFill>
                <a:latin typeface="Avenir Next"/>
                <a:ea typeface="Avenir Next"/>
                <a:cs typeface="Avenir Next"/>
              </a:defRPr>
            </a:pPr>
            <a:r>
              <a:rPr sz="1200" b="1">
                <a:solidFill>
                  <a:srgbClr val="1F9D68"/>
                </a:solidFill>
                <a:latin typeface="Avenir Next"/>
                <a:ea typeface="Avenir Next"/>
                <a:cs typeface="Avenir Next"/>
              </a:rPr>
              <a:t>A</a:t>
            </a:r>
          </a:p>
        </p:txBody>
      </p:sp>
      <p:sp>
        <p:nvSpPr>
          <p:cNvPr id="17" name="">
            <a:extLst xmlns:a="http://schemas.openxmlformats.org/drawingml/2006/main">
              <a:ext uri="{FF2B5EF4-FFF2-40B4-BE49-F238E27FC236}">
                <a16:creationId xmlns:a16="http://schemas.microsoft.com/office/drawing/2014/main" id="{B22015FA-A176-470D-A895-45601F0E00C1}"/>
              </a:ext>
            </a:extLst>
          </p:cNvPr>
          <p:cNvSpPr>
            <a:spLocks xmlns:a="http://schemas.openxmlformats.org/drawingml/2006/main" noGrp="1"/>
          </p:cNvSpPr>
          <p:nvPr/>
        </p:nvSpPr>
        <p:spPr>
          <a:xfrm xmlns:a="http://schemas.openxmlformats.org/drawingml/2006/main">
            <a:off x="1657350" y="39052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B1324"/>
                </a:solidFill>
                <a:latin typeface="Avenir Next"/>
                <a:ea typeface="Avenir Next"/>
                <a:cs typeface="Avenir Next"/>
              </a:defRPr>
            </a:defPPr>
          </a:lstStyle>
          <a:p xmlns:a="http://schemas.openxmlformats.org/drawingml/2006/main">
            <a:pPr>
              <a:defRPr sz="1575" b="1">
                <a:solidFill>
                  <a:srgbClr val="0B1324"/>
                </a:solidFill>
                <a:latin typeface="Avenir Next"/>
                <a:ea typeface="Avenir Next"/>
                <a:cs typeface="Avenir Next"/>
              </a:defRPr>
            </a:pPr>
            <a:r>
              <a:rPr sz="1575" b="1">
                <a:solidFill>
                  <a:srgbClr val="0B1324"/>
                </a:solidFill>
                <a:latin typeface="Avenir Next"/>
                <a:ea typeface="Avenir Next"/>
                <a:cs typeface="Avenir Next"/>
              </a:rPr>
              <a:t>Adaptability</a:t>
            </a:r>
          </a:p>
        </p:txBody>
      </p:sp>
      <p:sp>
        <p:nvSpPr>
          <p:cNvPr id="18" name="">
            <a:extLst xmlns:a="http://schemas.openxmlformats.org/drawingml/2006/main">
              <a:ext uri="{FF2B5EF4-FFF2-40B4-BE49-F238E27FC236}">
                <a16:creationId xmlns:a16="http://schemas.microsoft.com/office/drawing/2014/main" id="{66A474C6-DB2E-4099-8995-B5848F84249F}"/>
              </a:ext>
            </a:extLst>
          </p:cNvPr>
          <p:cNvSpPr>
            <a:spLocks xmlns:a="http://schemas.openxmlformats.org/drawingml/2006/main" noGrp="1"/>
          </p:cNvSpPr>
          <p:nvPr/>
        </p:nvSpPr>
        <p:spPr>
          <a:xfrm xmlns:a="http://schemas.openxmlformats.org/drawingml/2006/main">
            <a:off x="4191000" y="3924300"/>
            <a:ext cx="6838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667085"/>
                </a:solidFill>
                <a:latin typeface="Avenir Next"/>
                <a:ea typeface="Avenir Next"/>
                <a:cs typeface="Avenir Next"/>
              </a:defRPr>
            </a:defPPr>
          </a:lstStyle>
          <a:p xmlns:a="http://schemas.openxmlformats.org/drawingml/2006/main">
            <a:pPr>
              <a:defRPr sz="1350" b="0">
                <a:solidFill>
                  <a:srgbClr val="667085"/>
                </a:solidFill>
                <a:latin typeface="Avenir Next"/>
                <a:ea typeface="Avenir Next"/>
                <a:cs typeface="Avenir Next"/>
              </a:defRPr>
            </a:pPr>
            <a:r>
              <a:rPr sz="1350" b="0">
                <a:solidFill>
                  <a:srgbClr val="667085"/>
                </a:solidFill>
                <a:latin typeface="Avenir Next"/>
                <a:ea typeface="Avenir Next"/>
                <a:cs typeface="Avenir Next"/>
              </a:rPr>
              <a:t>Legitimate contract changes are explicit</a:t>
            </a:r>
          </a:p>
        </p:txBody>
      </p:sp>
      <p:sp>
        <p:nvSpPr>
          <p:cNvPr id="19" name="">
            <a:extLst xmlns:a="http://schemas.openxmlformats.org/drawingml/2006/main">
              <a:ext uri="{FF2B5EF4-FFF2-40B4-BE49-F238E27FC236}">
                <a16:creationId xmlns:a16="http://schemas.microsoft.com/office/drawing/2014/main" id="{923B7B12-1055-4345-96F0-65EEB15801B4}"/>
              </a:ext>
            </a:extLst>
          </p:cNvPr>
          <p:cNvSpPr>
            <a:spLocks xmlns:a="http://schemas.openxmlformats.org/drawingml/2006/main" noGrp="1"/>
          </p:cNvSpPr>
          <p:nvPr/>
        </p:nvSpPr>
        <p:spPr>
          <a:xfrm xmlns:a="http://schemas.openxmlformats.org/drawingml/2006/main">
            <a:off x="685800" y="4648200"/>
            <a:ext cx="1082040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9525">
            <a:solidFill>
              <a:srgbClr val="D9DEE8"/>
            </a:solidFill>
            <a:prstDash val="solid"/>
          </a:ln>
        </p:spPr>
      </p:sp>
      <p:sp>
        <p:nvSpPr>
          <p:cNvPr id="20" name="">
            <a:extLst xmlns:a="http://schemas.openxmlformats.org/drawingml/2006/main">
              <a:ext uri="{FF2B5EF4-FFF2-40B4-BE49-F238E27FC236}">
                <a16:creationId xmlns:a16="http://schemas.microsoft.com/office/drawing/2014/main" id="{CC7A7AF7-4174-4D0E-B7F3-C0A6AD3EC7A5}"/>
              </a:ext>
            </a:extLst>
          </p:cNvPr>
          <p:cNvSpPr>
            <a:spLocks xmlns:a="http://schemas.openxmlformats.org/drawingml/2006/main" noGrp="1"/>
          </p:cNvSpPr>
          <p:nvPr/>
        </p:nvSpPr>
        <p:spPr>
          <a:xfrm xmlns:a="http://schemas.openxmlformats.org/drawingml/2006/main">
            <a:off x="876300" y="4781550"/>
            <a:ext cx="457200" cy="457200"/>
          </a:xfrm>
          <a:prstGeom xmlns:a="http://schemas.openxmlformats.org/drawingml/2006/main" prst="ellipse">
            <a:avLst/>
          </a:prstGeom>
          <a:solidFill xmlns:a="http://schemas.openxmlformats.org/drawingml/2006/main">
            <a:srgbClr val="FFF0EA"/>
          </a:solidFill>
          <a:ln xmlns:a="http://schemas.openxmlformats.org/drawingml/2006/main" w="0">
            <a:solidFill>
              <a:srgbClr val="FFF0EA"/>
            </a:solidFill>
            <a:prstDash val="solid"/>
          </a:ln>
        </p:spPr>
      </p:sp>
      <p:sp>
        <p:nvSpPr>
          <p:cNvPr id="21" name="">
            <a:extLst xmlns:a="http://schemas.openxmlformats.org/drawingml/2006/main">
              <a:ext uri="{FF2B5EF4-FFF2-40B4-BE49-F238E27FC236}">
                <a16:creationId xmlns:a16="http://schemas.microsoft.com/office/drawing/2014/main" id="{2E325AC6-EE5C-4767-98D1-8DB5F5B72C47}"/>
              </a:ext>
            </a:extLst>
          </p:cNvPr>
          <p:cNvSpPr>
            <a:spLocks xmlns:a="http://schemas.openxmlformats.org/drawingml/2006/main" noGrp="1"/>
          </p:cNvSpPr>
          <p:nvPr/>
        </p:nvSpPr>
        <p:spPr>
          <a:xfrm xmlns:a="http://schemas.openxmlformats.org/drawingml/2006/main">
            <a:off x="876300" y="4895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a:solidFill>
                  <a:srgbClr val="F05A28"/>
                </a:solidFill>
                <a:latin typeface="Avenir Next"/>
                <a:ea typeface="Avenir Next"/>
                <a:cs typeface="Avenir Next"/>
              </a:defRPr>
            </a:defPPr>
          </a:lstStyle>
          <a:p xmlns:a="http://schemas.openxmlformats.org/drawingml/2006/main">
            <a:pPr algn="ctr">
              <a:defRPr sz="1200" b="1">
                <a:solidFill>
                  <a:srgbClr val="F05A28"/>
                </a:solidFill>
                <a:latin typeface="Avenir Next"/>
                <a:ea typeface="Avenir Next"/>
                <a:cs typeface="Avenir Next"/>
              </a:defRPr>
            </a:pPr>
            <a:r>
              <a:rPr sz="1200" b="1">
                <a:solidFill>
                  <a:srgbClr val="F05A28"/>
                </a:solidFill>
                <a:latin typeface="Avenir Next"/>
                <a:ea typeface="Avenir Next"/>
                <a:cs typeface="Avenir Next"/>
              </a:rPr>
              <a:t>S</a:t>
            </a:r>
          </a:p>
        </p:txBody>
      </p:sp>
      <p:sp>
        <p:nvSpPr>
          <p:cNvPr id="22" name="">
            <a:extLst xmlns:a="http://schemas.openxmlformats.org/drawingml/2006/main">
              <a:ext uri="{FF2B5EF4-FFF2-40B4-BE49-F238E27FC236}">
                <a16:creationId xmlns:a16="http://schemas.microsoft.com/office/drawing/2014/main" id="{59EC64CD-4F32-43C9-9340-1901D478F492}"/>
              </a:ext>
            </a:extLst>
          </p:cNvPr>
          <p:cNvSpPr>
            <a:spLocks xmlns:a="http://schemas.openxmlformats.org/drawingml/2006/main" noGrp="1"/>
          </p:cNvSpPr>
          <p:nvPr/>
        </p:nvSpPr>
        <p:spPr>
          <a:xfrm xmlns:a="http://schemas.openxmlformats.org/drawingml/2006/main">
            <a:off x="1657350" y="48577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B1324"/>
                </a:solidFill>
                <a:latin typeface="Avenir Next"/>
                <a:ea typeface="Avenir Next"/>
                <a:cs typeface="Avenir Next"/>
              </a:defRPr>
            </a:defPPr>
          </a:lstStyle>
          <a:p xmlns:a="http://schemas.openxmlformats.org/drawingml/2006/main">
            <a:pPr>
              <a:defRPr sz="1575" b="1">
                <a:solidFill>
                  <a:srgbClr val="0B1324"/>
                </a:solidFill>
                <a:latin typeface="Avenir Next"/>
                <a:ea typeface="Avenir Next"/>
                <a:cs typeface="Avenir Next"/>
              </a:defRPr>
            </a:pPr>
            <a:r>
              <a:rPr sz="1575" b="1">
                <a:solidFill>
                  <a:srgbClr val="0B1324"/>
                </a:solidFill>
                <a:latin typeface="Avenir Next"/>
                <a:ea typeface="Avenir Next"/>
                <a:cs typeface="Avenir Next"/>
              </a:rPr>
              <a:t>Scalability</a:t>
            </a:r>
          </a:p>
        </p:txBody>
      </p:sp>
      <p:sp>
        <p:nvSpPr>
          <p:cNvPr id="23" name="">
            <a:extLst xmlns:a="http://schemas.openxmlformats.org/drawingml/2006/main">
              <a:ext uri="{FF2B5EF4-FFF2-40B4-BE49-F238E27FC236}">
                <a16:creationId xmlns:a16="http://schemas.microsoft.com/office/drawing/2014/main" id="{83B37512-CA6D-4FBE-8AC6-A6697D0FDD76}"/>
              </a:ext>
            </a:extLst>
          </p:cNvPr>
          <p:cNvSpPr>
            <a:spLocks xmlns:a="http://schemas.openxmlformats.org/drawingml/2006/main" noGrp="1"/>
          </p:cNvSpPr>
          <p:nvPr/>
        </p:nvSpPr>
        <p:spPr>
          <a:xfrm xmlns:a="http://schemas.openxmlformats.org/drawingml/2006/main">
            <a:off x="4191000" y="4876800"/>
            <a:ext cx="6838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667085"/>
                </a:solidFill>
                <a:latin typeface="Avenir Next"/>
                <a:ea typeface="Avenir Next"/>
                <a:cs typeface="Avenir Next"/>
              </a:defRPr>
            </a:defPPr>
          </a:lstStyle>
          <a:p xmlns:a="http://schemas.openxmlformats.org/drawingml/2006/main">
            <a:pPr>
              <a:defRPr sz="1350" b="0">
                <a:solidFill>
                  <a:srgbClr val="667085"/>
                </a:solidFill>
                <a:latin typeface="Avenir Next"/>
                <a:ea typeface="Avenir Next"/>
                <a:cs typeface="Avenir Next"/>
              </a:defRPr>
            </a:pPr>
            <a:r>
              <a:rPr sz="1350" b="0">
                <a:solidFill>
                  <a:srgbClr val="667085"/>
                </a:solidFill>
                <a:latin typeface="Avenir Next"/>
                <a:ea typeface="Avenir Next"/>
                <a:cs typeface="Avenir Next"/>
              </a:rPr>
              <a:t>The pattern extends beyond this pandas demo</a:t>
            </a:r>
          </a:p>
        </p:txBody>
      </p:sp>
      <p:sp>
        <p:nvSpPr>
          <p:cNvPr id="24" name="">
            <a:extLst xmlns:a="http://schemas.openxmlformats.org/drawingml/2006/main">
              <a:ext uri="{FF2B5EF4-FFF2-40B4-BE49-F238E27FC236}">
                <a16:creationId xmlns:a16="http://schemas.microsoft.com/office/drawing/2014/main" id="{C00BE3CC-4F93-4CA0-B48E-49D2E1EA3A7B}"/>
              </a:ext>
            </a:extLst>
          </p:cNvPr>
          <p:cNvSpPr>
            <a:spLocks xmlns:a="http://schemas.openxmlformats.org/drawingml/2006/main" noGrp="1"/>
          </p:cNvSpPr>
          <p:nvPr/>
        </p:nvSpPr>
        <p:spPr>
          <a:xfrm xmlns:a="http://schemas.openxmlformats.org/drawingml/2006/main">
            <a:off x="685800" y="5772150"/>
            <a:ext cx="10820400" cy="438150"/>
          </a:xfrm>
          <a:prstGeom xmlns:a="http://schemas.openxmlformats.org/drawingml/2006/main" prst="roundRect">
            <a:avLst>
              <a:gd name="adj" fmla="val 26087"/>
            </a:avLst>
          </a:prstGeom>
          <a:solidFill xmlns:a="http://schemas.openxmlformats.org/drawingml/2006/main">
            <a:srgbClr val="0B1324"/>
          </a:solidFill>
          <a:ln xmlns:a="http://schemas.openxmlformats.org/drawingml/2006/main" w="0">
            <a:solidFill>
              <a:srgbClr val="0B1324"/>
            </a:solidFill>
            <a:prstDash val="solid"/>
          </a:ln>
        </p:spPr>
      </p:sp>
      <p:sp>
        <p:nvSpPr>
          <p:cNvPr id="25" name="">
            <a:extLst xmlns:a="http://schemas.openxmlformats.org/drawingml/2006/main">
              <a:ext uri="{FF2B5EF4-FFF2-40B4-BE49-F238E27FC236}">
                <a16:creationId xmlns:a16="http://schemas.microsoft.com/office/drawing/2014/main" id="{4C0E968C-89E9-4A68-A08C-C1E419293255}"/>
              </a:ext>
            </a:extLst>
          </p:cNvPr>
          <p:cNvSpPr>
            <a:spLocks xmlns:a="http://schemas.openxmlformats.org/drawingml/2006/main" noGrp="1"/>
          </p:cNvSpPr>
          <p:nvPr/>
        </p:nvSpPr>
        <p:spPr>
          <a:xfrm xmlns:a="http://schemas.openxmlformats.org/drawingml/2006/main">
            <a:off x="914400" y="5895975"/>
            <a:ext cx="10363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Avenir Next"/>
                <a:ea typeface="Avenir Next"/>
                <a:cs typeface="Avenir Next"/>
              </a:defRPr>
            </a:defPPr>
          </a:lstStyle>
          <a:p xmlns:a="http://schemas.openxmlformats.org/drawingml/2006/main">
            <a:pPr algn="ctr">
              <a:defRPr sz="1125" b="1">
                <a:solidFill>
                  <a:srgbClr val="FFFFFF"/>
                </a:solidFill>
                <a:latin typeface="Avenir Next"/>
                <a:ea typeface="Avenir Next"/>
                <a:cs typeface="Avenir Next"/>
              </a:defRPr>
            </a:pPr>
            <a:r>
              <a:rPr sz="1125" b="1">
                <a:solidFill>
                  <a:srgbClr val="FFFFFF"/>
                </a:solidFill>
                <a:latin typeface="Avenir Next"/>
                <a:ea typeface="Avenir Next"/>
                <a:cs typeface="Avenir Next"/>
              </a:rPr>
              <a:t>Scope note: scalability is an architectural path, not benchmark evidence from this demo.</a:t>
            </a:r>
          </a:p>
        </p:txBody>
      </p:sp>
      <p:sp>
        <p:nvSpPr>
          <p:cNvPr id="26" name="">
            <a:extLst xmlns:a="http://schemas.openxmlformats.org/drawingml/2006/main">
              <a:ext uri="{FF2B5EF4-FFF2-40B4-BE49-F238E27FC236}">
                <a16:creationId xmlns:a16="http://schemas.microsoft.com/office/drawing/2014/main" id="{69044B1F-BC46-4A12-A096-BDA071FC5052}"/>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98A2B3"/>
                </a:solidFill>
                <a:latin typeface="Avenir Next"/>
                <a:ea typeface="Avenir Next"/>
                <a:cs typeface="Avenir Next"/>
              </a:defRPr>
            </a:defPPr>
          </a:lstStyle>
          <a:p xmlns:a="http://schemas.openxmlformats.org/drawingml/2006/main">
            <a:pPr>
              <a:defRPr sz="750" b="0">
                <a:solidFill>
                  <a:srgbClr val="98A2B3"/>
                </a:solidFill>
                <a:latin typeface="Avenir Next"/>
                <a:ea typeface="Avenir Next"/>
                <a:cs typeface="Avenir Next"/>
              </a:defRPr>
            </a:pPr>
            <a:r>
              <a:rPr sz="750" b="0">
                <a:solidFill>
                  <a:srgbClr val="98A2B3"/>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742402033"/>
      </p:ext>
    </p:extLst>
  </p:cSld>
</p:sld>
</file>

<file path=ppt/slides/slide10.xml><?xml version="1.0" encoding="utf-8"?>
<p:sld xmlns:p="http://schemas.openxmlformats.org/presentationml/2006/main">
  <p:cSld>
    <p:bg>
      <p:bgPr>
        <a:solidFill xmlns:a="http://schemas.openxmlformats.org/drawingml/2006/main">
          <a:srgbClr val="0B132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45DCA13-E7CF-4687-BCA8-DCDE74CA8AB4}"/>
              </a:ext>
            </a:extLst>
          </p:cNvPr>
          <p:cNvSpPr>
            <a:spLocks xmlns:a="http://schemas.openxmlformats.org/drawingml/2006/main" noGrp="1"/>
          </p:cNvSpPr>
          <p:nvPr/>
        </p:nvSpPr>
        <p:spPr>
          <a:xfrm xmlns:a="http://schemas.openxmlformats.org/drawingml/2006/main">
            <a:off x="685800" y="495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FFFFFF"/>
                </a:solidFill>
                <a:latin typeface="Avenir Next"/>
                <a:ea typeface="Avenir Next"/>
                <a:cs typeface="Avenir Next"/>
              </a:defRPr>
            </a:defPPr>
          </a:lstStyle>
          <a:p xmlns:a="http://schemas.openxmlformats.org/drawingml/2006/main">
            <a:pPr>
              <a:defRPr sz="2325" b="1">
                <a:solidFill>
                  <a:srgbClr val="FFFFFF"/>
                </a:solidFill>
                <a:latin typeface="Avenir Next"/>
                <a:ea typeface="Avenir Next"/>
                <a:cs typeface="Avenir Next"/>
              </a:defRPr>
            </a:pPr>
            <a:r>
              <a:rPr sz="2325" b="1">
                <a:solidFill>
                  <a:srgbClr val="FFFFFF"/>
                </a:solidFill>
                <a:latin typeface="Avenir Next"/>
                <a:ea typeface="Avenir Next"/>
                <a:cs typeface="Avenir Next"/>
              </a:rPr>
              <a:t>Know the boundary</a:t>
            </a:r>
          </a:p>
        </p:txBody>
      </p:sp>
      <p:sp>
        <p:nvSpPr>
          <p:cNvPr id="2" name="">
            <a:extLst xmlns:a="http://schemas.openxmlformats.org/drawingml/2006/main">
              <a:ext uri="{FF2B5EF4-FFF2-40B4-BE49-F238E27FC236}">
                <a16:creationId xmlns:a16="http://schemas.microsoft.com/office/drawing/2014/main" id="{46982DD9-111B-4CF3-BE9A-75633C71555F}"/>
              </a:ext>
            </a:extLst>
          </p:cNvPr>
          <p:cNvSpPr>
            <a:spLocks xmlns:a="http://schemas.openxmlformats.org/drawingml/2006/main" noGrp="1"/>
          </p:cNvSpPr>
          <p:nvPr/>
        </p:nvSpPr>
        <p:spPr>
          <a:xfrm xmlns:a="http://schemas.openxmlformats.org/drawingml/2006/main">
            <a:off x="10953750" y="56197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125" b="1">
                <a:solidFill>
                  <a:srgbClr val="9DA9BF"/>
                </a:solidFill>
                <a:latin typeface="Avenir Next"/>
                <a:ea typeface="Avenir Next"/>
                <a:cs typeface="Avenir Next"/>
              </a:defRPr>
            </a:defPPr>
          </a:lstStyle>
          <a:p xmlns:a="http://schemas.openxmlformats.org/drawingml/2006/main">
            <a:pPr algn="r">
              <a:defRPr sz="1125" b="1">
                <a:solidFill>
                  <a:srgbClr val="9DA9BF"/>
                </a:solidFill>
                <a:latin typeface="Avenir Next"/>
                <a:ea typeface="Avenir Next"/>
                <a:cs typeface="Avenir Next"/>
              </a:defRPr>
            </a:pPr>
            <a:r>
              <a:rPr sz="1125" b="1">
                <a:solidFill>
                  <a:srgbClr val="9DA9BF"/>
                </a:solidFill>
                <a:latin typeface="Avenir Next"/>
                <a:ea typeface="Avenir Next"/>
                <a:cs typeface="Avenir Next"/>
              </a:rPr>
              <a:t>10</a:t>
            </a:r>
          </a:p>
        </p:txBody>
      </p:sp>
      <p:sp>
        <p:nvSpPr>
          <p:cNvPr id="3" name="">
            <a:extLst xmlns:a="http://schemas.openxmlformats.org/drawingml/2006/main">
              <a:ext uri="{FF2B5EF4-FFF2-40B4-BE49-F238E27FC236}">
                <a16:creationId xmlns:a16="http://schemas.microsoft.com/office/drawing/2014/main" id="{6923688A-8852-47B3-9D9F-199EE3739F7C}"/>
              </a:ext>
            </a:extLst>
          </p:cNvPr>
          <p:cNvSpPr>
            <a:spLocks xmlns:a="http://schemas.openxmlformats.org/drawingml/2006/main" noGrp="1"/>
          </p:cNvSpPr>
          <p:nvPr/>
        </p:nvSpPr>
        <p:spPr>
          <a:xfrm xmlns:a="http://schemas.openxmlformats.org/drawingml/2006/main">
            <a:off x="685800" y="1466850"/>
            <a:ext cx="5105400" cy="2266950"/>
          </a:xfrm>
          <a:prstGeom xmlns:a="http://schemas.openxmlformats.org/drawingml/2006/main" prst="roundRect">
            <a:avLst>
              <a:gd name="adj" fmla="val 6723"/>
            </a:avLst>
          </a:prstGeom>
          <a:solidFill xmlns:a="http://schemas.openxmlformats.org/drawingml/2006/main">
            <a:srgbClr val="111D34"/>
          </a:solidFill>
          <a:ln xmlns:a="http://schemas.openxmlformats.org/drawingml/2006/main" w="19050">
            <a:solidFill>
              <a:srgbClr val="F05A28"/>
            </a:solidFill>
            <a:prstDash val="solid"/>
          </a:ln>
        </p:spPr>
      </p:sp>
      <p:sp>
        <p:nvSpPr>
          <p:cNvPr id="4" name="">
            <a:extLst xmlns:a="http://schemas.openxmlformats.org/drawingml/2006/main">
              <a:ext uri="{FF2B5EF4-FFF2-40B4-BE49-F238E27FC236}">
                <a16:creationId xmlns:a16="http://schemas.microsoft.com/office/drawing/2014/main" id="{1EABB7F8-6096-4CDF-B124-96B408D04E6D}"/>
              </a:ext>
            </a:extLst>
          </p:cNvPr>
          <p:cNvSpPr>
            <a:spLocks xmlns:a="http://schemas.openxmlformats.org/drawingml/2006/main" noGrp="1"/>
          </p:cNvSpPr>
          <p:nvPr/>
        </p:nvSpPr>
        <p:spPr>
          <a:xfrm xmlns:a="http://schemas.openxmlformats.org/drawingml/2006/main">
            <a:off x="1028700" y="1790700"/>
            <a:ext cx="441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a:solidFill>
                  <a:srgbClr val="F05A28"/>
                </a:solidFill>
                <a:latin typeface="Avenir Next"/>
                <a:ea typeface="Avenir Next"/>
                <a:cs typeface="Avenir Next"/>
              </a:defRPr>
            </a:defPPr>
          </a:lstStyle>
          <a:p xmlns:a="http://schemas.openxmlformats.org/drawingml/2006/main">
            <a:pPr algn="ctr">
              <a:defRPr sz="1275" b="1">
                <a:solidFill>
                  <a:srgbClr val="F05A28"/>
                </a:solidFill>
                <a:latin typeface="Avenir Next"/>
                <a:ea typeface="Avenir Next"/>
                <a:cs typeface="Avenir Next"/>
              </a:defRPr>
            </a:pPr>
            <a:r>
              <a:rPr sz="1275" b="1">
                <a:solidFill>
                  <a:srgbClr val="F05A28"/>
                </a:solidFill>
                <a:latin typeface="Avenir Next"/>
                <a:ea typeface="Avenir Next"/>
                <a:cs typeface="Avenir Next"/>
              </a:rPr>
              <a:t>VALIDATION</a:t>
            </a:r>
          </a:p>
        </p:txBody>
      </p:sp>
      <p:sp>
        <p:nvSpPr>
          <p:cNvPr id="5" name="">
            <a:extLst xmlns:a="http://schemas.openxmlformats.org/drawingml/2006/main">
              <a:ext uri="{FF2B5EF4-FFF2-40B4-BE49-F238E27FC236}">
                <a16:creationId xmlns:a16="http://schemas.microsoft.com/office/drawing/2014/main" id="{BE55F393-4E79-41EB-8743-AF7E72EEDBCA}"/>
              </a:ext>
            </a:extLst>
          </p:cNvPr>
          <p:cNvSpPr>
            <a:spLocks xmlns:a="http://schemas.openxmlformats.org/drawingml/2006/main" noGrp="1"/>
          </p:cNvSpPr>
          <p:nvPr/>
        </p:nvSpPr>
        <p:spPr>
          <a:xfrm xmlns:a="http://schemas.openxmlformats.org/drawingml/2006/main">
            <a:off x="1028700" y="2247900"/>
            <a:ext cx="4419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a:solidFill>
                  <a:srgbClr val="FFFFFF"/>
                </a:solidFill>
                <a:latin typeface="Avenir Next"/>
                <a:ea typeface="Avenir Next"/>
                <a:cs typeface="Avenir Next"/>
              </a:defRPr>
            </a:defPPr>
          </a:lstStyle>
          <a:p xmlns:a="http://schemas.openxmlformats.org/drawingml/2006/main">
            <a:pPr algn="ctr">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Does this batch satisfy</a:t>
            </a:r>
          </a:p>
          <a:p xmlns:a="http://schemas.openxmlformats.org/drawingml/2006/main">
            <a:pPr algn="ctr">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known rules?</a:t>
            </a:r>
          </a:p>
        </p:txBody>
      </p:sp>
      <p:sp>
        <p:nvSpPr>
          <p:cNvPr id="6" name="">
            <a:extLst xmlns:a="http://schemas.openxmlformats.org/drawingml/2006/main">
              <a:ext uri="{FF2B5EF4-FFF2-40B4-BE49-F238E27FC236}">
                <a16:creationId xmlns:a16="http://schemas.microsoft.com/office/drawing/2014/main" id="{F685B4B9-A555-495D-9B11-B8C0A0439E75}"/>
              </a:ext>
            </a:extLst>
          </p:cNvPr>
          <p:cNvSpPr>
            <a:spLocks xmlns:a="http://schemas.openxmlformats.org/drawingml/2006/main" noGrp="1"/>
          </p:cNvSpPr>
          <p:nvPr/>
        </p:nvSpPr>
        <p:spPr>
          <a:xfrm xmlns:a="http://schemas.openxmlformats.org/drawingml/2006/main">
            <a:off x="1028700" y="3181350"/>
            <a:ext cx="4419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a:solidFill>
                  <a:srgbClr val="B8C2D6"/>
                </a:solidFill>
                <a:latin typeface="Avenir Next"/>
                <a:ea typeface="Avenir Next"/>
                <a:cs typeface="Avenir Next"/>
              </a:defRPr>
            </a:defPPr>
          </a:lstStyle>
          <a:p xmlns:a="http://schemas.openxmlformats.org/drawingml/2006/main">
            <a:pPr algn="ctr">
              <a:defRPr sz="1200" b="0">
                <a:solidFill>
                  <a:srgbClr val="B8C2D6"/>
                </a:solidFill>
                <a:latin typeface="Avenir Next"/>
                <a:ea typeface="Avenir Next"/>
                <a:cs typeface="Avenir Next"/>
              </a:defRPr>
            </a:pPr>
            <a:r>
              <a:rPr sz="1200" b="0">
                <a:solidFill>
                  <a:srgbClr val="B8C2D6"/>
                </a:solidFill>
                <a:latin typeface="Avenir Next"/>
                <a:ea typeface="Avenir Next"/>
                <a:cs typeface="Avenir Next"/>
              </a:rPr>
              <a:t>schema · nulls · ranges · labels</a:t>
            </a:r>
          </a:p>
        </p:txBody>
      </p:sp>
      <p:sp>
        <p:nvSpPr>
          <p:cNvPr id="7" name="">
            <a:extLst xmlns:a="http://schemas.openxmlformats.org/drawingml/2006/main">
              <a:ext uri="{FF2B5EF4-FFF2-40B4-BE49-F238E27FC236}">
                <a16:creationId xmlns:a16="http://schemas.microsoft.com/office/drawing/2014/main" id="{BCB6AC3C-45B3-4BEB-88DD-2F9541981437}"/>
              </a:ext>
            </a:extLst>
          </p:cNvPr>
          <p:cNvSpPr>
            <a:spLocks xmlns:a="http://schemas.openxmlformats.org/drawingml/2006/main" noGrp="1"/>
          </p:cNvSpPr>
          <p:nvPr/>
        </p:nvSpPr>
        <p:spPr>
          <a:xfrm xmlns:a="http://schemas.openxmlformats.org/drawingml/2006/main">
            <a:off x="6400800" y="1466850"/>
            <a:ext cx="5105400" cy="2266950"/>
          </a:xfrm>
          <a:prstGeom xmlns:a="http://schemas.openxmlformats.org/drawingml/2006/main" prst="roundRect">
            <a:avLst>
              <a:gd name="adj" fmla="val 6723"/>
            </a:avLst>
          </a:prstGeom>
          <a:solidFill xmlns:a="http://schemas.openxmlformats.org/drawingml/2006/main">
            <a:srgbClr val="111D34"/>
          </a:solidFill>
          <a:ln xmlns:a="http://schemas.openxmlformats.org/drawingml/2006/main" w="19050">
            <a:solidFill>
              <a:srgbClr val="3E6AE1"/>
            </a:solidFill>
            <a:prstDash val="solid"/>
          </a:ln>
        </p:spPr>
      </p:sp>
      <p:sp>
        <p:nvSpPr>
          <p:cNvPr id="8" name="">
            <a:extLst xmlns:a="http://schemas.openxmlformats.org/drawingml/2006/main">
              <a:ext uri="{FF2B5EF4-FFF2-40B4-BE49-F238E27FC236}">
                <a16:creationId xmlns:a16="http://schemas.microsoft.com/office/drawing/2014/main" id="{0FF1CB0A-165F-4F76-A640-C066251AB5EC}"/>
              </a:ext>
            </a:extLst>
          </p:cNvPr>
          <p:cNvSpPr>
            <a:spLocks xmlns:a="http://schemas.openxmlformats.org/drawingml/2006/main" noGrp="1"/>
          </p:cNvSpPr>
          <p:nvPr/>
        </p:nvSpPr>
        <p:spPr>
          <a:xfrm xmlns:a="http://schemas.openxmlformats.org/drawingml/2006/main">
            <a:off x="6743700" y="1790700"/>
            <a:ext cx="441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a:solidFill>
                  <a:srgbClr val="3E6AE1"/>
                </a:solidFill>
                <a:latin typeface="Avenir Next"/>
                <a:ea typeface="Avenir Next"/>
                <a:cs typeface="Avenir Next"/>
              </a:defRPr>
            </a:defPPr>
          </a:lstStyle>
          <a:p xmlns:a="http://schemas.openxmlformats.org/drawingml/2006/main">
            <a:pPr algn="ctr">
              <a:defRPr sz="1275" b="1">
                <a:solidFill>
                  <a:srgbClr val="3E6AE1"/>
                </a:solidFill>
                <a:latin typeface="Avenir Next"/>
                <a:ea typeface="Avenir Next"/>
                <a:cs typeface="Avenir Next"/>
              </a:defRPr>
            </a:pPr>
            <a:r>
              <a:rPr sz="1275" b="1">
                <a:solidFill>
                  <a:srgbClr val="3E6AE1"/>
                </a:solidFill>
                <a:latin typeface="Avenir Next"/>
                <a:ea typeface="Avenir Next"/>
                <a:cs typeface="Avenir Next"/>
              </a:rPr>
              <a:t>MONITORING</a:t>
            </a:r>
          </a:p>
        </p:txBody>
      </p:sp>
      <p:sp>
        <p:nvSpPr>
          <p:cNvPr id="9" name="">
            <a:extLst xmlns:a="http://schemas.openxmlformats.org/drawingml/2006/main">
              <a:ext uri="{FF2B5EF4-FFF2-40B4-BE49-F238E27FC236}">
                <a16:creationId xmlns:a16="http://schemas.microsoft.com/office/drawing/2014/main" id="{7C684B46-A4F3-4D4E-B42D-6A5048A910D5}"/>
              </a:ext>
            </a:extLst>
          </p:cNvPr>
          <p:cNvSpPr>
            <a:spLocks xmlns:a="http://schemas.openxmlformats.org/drawingml/2006/main" noGrp="1"/>
          </p:cNvSpPr>
          <p:nvPr/>
        </p:nvSpPr>
        <p:spPr>
          <a:xfrm xmlns:a="http://schemas.openxmlformats.org/drawingml/2006/main">
            <a:off x="6743700" y="2247900"/>
            <a:ext cx="4419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a:solidFill>
                  <a:srgbClr val="FFFFFF"/>
                </a:solidFill>
                <a:latin typeface="Avenir Next"/>
                <a:ea typeface="Avenir Next"/>
                <a:cs typeface="Avenir Next"/>
              </a:defRPr>
            </a:defPPr>
          </a:lstStyle>
          <a:p xmlns:a="http://schemas.openxmlformats.org/drawingml/2006/main">
            <a:pPr algn="ctr">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What changed</a:t>
            </a:r>
          </a:p>
          <a:p xmlns:a="http://schemas.openxmlformats.org/drawingml/2006/main">
            <a:pPr algn="ctr">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over time?</a:t>
            </a:r>
          </a:p>
        </p:txBody>
      </p:sp>
      <p:sp>
        <p:nvSpPr>
          <p:cNvPr id="10" name="">
            <a:extLst xmlns:a="http://schemas.openxmlformats.org/drawingml/2006/main">
              <a:ext uri="{FF2B5EF4-FFF2-40B4-BE49-F238E27FC236}">
                <a16:creationId xmlns:a16="http://schemas.microsoft.com/office/drawing/2014/main" id="{917D68EC-36F4-421D-8F09-61BCCFB9C130}"/>
              </a:ext>
            </a:extLst>
          </p:cNvPr>
          <p:cNvSpPr>
            <a:spLocks xmlns:a="http://schemas.openxmlformats.org/drawingml/2006/main" noGrp="1"/>
          </p:cNvSpPr>
          <p:nvPr/>
        </p:nvSpPr>
        <p:spPr>
          <a:xfrm xmlns:a="http://schemas.openxmlformats.org/drawingml/2006/main">
            <a:off x="6743700" y="3181350"/>
            <a:ext cx="4419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a:solidFill>
                  <a:srgbClr val="B8C2D6"/>
                </a:solidFill>
                <a:latin typeface="Avenir Next"/>
                <a:ea typeface="Avenir Next"/>
                <a:cs typeface="Avenir Next"/>
              </a:defRPr>
            </a:defPPr>
          </a:lstStyle>
          <a:p xmlns:a="http://schemas.openxmlformats.org/drawingml/2006/main">
            <a:pPr algn="ctr">
              <a:defRPr sz="1200" b="0">
                <a:solidFill>
                  <a:srgbClr val="B8C2D6"/>
                </a:solidFill>
                <a:latin typeface="Avenir Next"/>
                <a:ea typeface="Avenir Next"/>
                <a:cs typeface="Avenir Next"/>
              </a:defRPr>
            </a:pPr>
            <a:r>
              <a:rPr sz="1200" b="0">
                <a:solidFill>
                  <a:srgbClr val="B8C2D6"/>
                </a:solidFill>
                <a:latin typeface="Avenir Next"/>
                <a:ea typeface="Avenir Next"/>
                <a:cs typeface="Avenir Next"/>
              </a:rPr>
              <a:t>drift · model behavior · business outcomes</a:t>
            </a:r>
          </a:p>
        </p:txBody>
      </p:sp>
      <p:sp>
        <p:nvSpPr>
          <p:cNvPr id="11" name="">
            <a:extLst xmlns:a="http://schemas.openxmlformats.org/drawingml/2006/main">
              <a:ext uri="{FF2B5EF4-FFF2-40B4-BE49-F238E27FC236}">
                <a16:creationId xmlns:a16="http://schemas.microsoft.com/office/drawing/2014/main" id="{46402B09-161E-4AD4-951C-933FF46C93B9}"/>
              </a:ext>
            </a:extLst>
          </p:cNvPr>
          <p:cNvSpPr>
            <a:spLocks xmlns:a="http://schemas.openxmlformats.org/drawingml/2006/main" noGrp="1"/>
          </p:cNvSpPr>
          <p:nvPr/>
        </p:nvSpPr>
        <p:spPr>
          <a:xfrm xmlns:a="http://schemas.openxmlformats.org/drawingml/2006/main">
            <a:off x="685800" y="43434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05A28"/>
                </a:solidFill>
                <a:latin typeface="Avenir Next"/>
                <a:ea typeface="Avenir Next"/>
                <a:cs typeface="Avenir Next"/>
              </a:defRPr>
            </a:defPPr>
          </a:lstStyle>
          <a:p xmlns:a="http://schemas.openxmlformats.org/drawingml/2006/main">
            <a:pPr>
              <a:defRPr sz="1275" b="1">
                <a:solidFill>
                  <a:srgbClr val="F05A28"/>
                </a:solidFill>
                <a:latin typeface="Avenir Next"/>
                <a:ea typeface="Avenir Next"/>
                <a:cs typeface="Avenir Next"/>
              </a:defRPr>
            </a:pPr>
            <a:r>
              <a:rPr sz="1275" b="1">
                <a:solidFill>
                  <a:srgbClr val="F05A28"/>
                </a:solidFill>
                <a:latin typeface="Avenir Next"/>
                <a:ea typeface="Avenir Next"/>
                <a:cs typeface="Avenir Next"/>
              </a:rPr>
              <a:t>Takeaway</a:t>
            </a:r>
          </a:p>
        </p:txBody>
      </p:sp>
      <p:sp>
        <p:nvSpPr>
          <p:cNvPr id="12" name="">
            <a:extLst xmlns:a="http://schemas.openxmlformats.org/drawingml/2006/main">
              <a:ext uri="{FF2B5EF4-FFF2-40B4-BE49-F238E27FC236}">
                <a16:creationId xmlns:a16="http://schemas.microsoft.com/office/drawing/2014/main" id="{DF8AB4E5-AACD-41C0-9BD2-C7DCACBF4B1D}"/>
              </a:ext>
            </a:extLst>
          </p:cNvPr>
          <p:cNvSpPr>
            <a:spLocks xmlns:a="http://schemas.openxmlformats.org/drawingml/2006/main" noGrp="1"/>
          </p:cNvSpPr>
          <p:nvPr/>
        </p:nvSpPr>
        <p:spPr>
          <a:xfrm xmlns:a="http://schemas.openxmlformats.org/drawingml/2006/main">
            <a:off x="685800" y="4762500"/>
            <a:ext cx="990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FFFFFF"/>
                </a:solidFill>
                <a:latin typeface="Avenir Next"/>
                <a:ea typeface="Avenir Next"/>
                <a:cs typeface="Avenir Next"/>
              </a:defRPr>
            </a:defPPr>
          </a:lstStyle>
          <a:p xmlns:a="http://schemas.openxmlformats.org/drawingml/2006/main">
            <a:pPr>
              <a:defRPr sz="2325" b="1">
                <a:solidFill>
                  <a:srgbClr val="FFFFFF"/>
                </a:solidFill>
                <a:latin typeface="Avenir Next"/>
                <a:ea typeface="Avenir Next"/>
                <a:cs typeface="Avenir Next"/>
              </a:defRPr>
            </a:pPr>
            <a:r>
              <a:rPr sz="2325" b="1">
                <a:solidFill>
                  <a:srgbClr val="FFFFFF"/>
                </a:solidFill>
                <a:latin typeface="Avenir Next"/>
                <a:ea typeface="Avenir Next"/>
                <a:cs typeface="Avenir Next"/>
              </a:rPr>
              <a:t>Great Expectations turns data assumptions into executable controls in the ML lifecycle.</a:t>
            </a:r>
          </a:p>
        </p:txBody>
      </p:sp>
      <p:sp>
        <p:nvSpPr>
          <p:cNvPr id="13" name="">
            <a:extLst xmlns:a="http://schemas.openxmlformats.org/drawingml/2006/main">
              <a:ext uri="{FF2B5EF4-FFF2-40B4-BE49-F238E27FC236}">
                <a16:creationId xmlns:a16="http://schemas.microsoft.com/office/drawing/2014/main" id="{2FB91A15-70BA-4605-BD96-EEC3009BFCC4}"/>
              </a:ext>
            </a:extLst>
          </p:cNvPr>
          <p:cNvSpPr>
            <a:spLocks xmlns:a="http://schemas.openxmlformats.org/drawingml/2006/main" noGrp="1"/>
          </p:cNvSpPr>
          <p:nvPr/>
        </p:nvSpPr>
        <p:spPr>
          <a:xfrm xmlns:a="http://schemas.openxmlformats.org/drawingml/2006/main">
            <a:off x="10191750" y="590550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800" b="1">
                <a:solidFill>
                  <a:srgbClr val="9DA9BF"/>
                </a:solidFill>
                <a:latin typeface="Avenir Next"/>
                <a:ea typeface="Avenir Next"/>
                <a:cs typeface="Avenir Next"/>
              </a:defRPr>
            </a:defPPr>
          </a:lstStyle>
          <a:p xmlns:a="http://schemas.openxmlformats.org/drawingml/2006/main">
            <a:pPr algn="r">
              <a:defRPr sz="1800" b="1">
                <a:solidFill>
                  <a:srgbClr val="9DA9BF"/>
                </a:solidFill>
                <a:latin typeface="Avenir Next"/>
                <a:ea typeface="Avenir Next"/>
                <a:cs typeface="Avenir Next"/>
              </a:defRPr>
            </a:pPr>
            <a:r>
              <a:rPr sz="1800" b="1">
                <a:solidFill>
                  <a:srgbClr val="9DA9BF"/>
                </a:solidFill>
                <a:latin typeface="Avenir Next"/>
                <a:ea typeface="Avenir Next"/>
                <a:cs typeface="Avenir Next"/>
              </a:rPr>
              <a:t>Q&amp;A</a:t>
            </a:r>
          </a:p>
        </p:txBody>
      </p:sp>
      <p:sp>
        <p:nvSpPr>
          <p:cNvPr id="14" name="">
            <a:extLst xmlns:a="http://schemas.openxmlformats.org/drawingml/2006/main">
              <a:ext uri="{FF2B5EF4-FFF2-40B4-BE49-F238E27FC236}">
                <a16:creationId xmlns:a16="http://schemas.microsoft.com/office/drawing/2014/main" id="{B0306DB1-365F-469E-B056-64F48713B26C}"/>
              </a:ext>
            </a:extLst>
          </p:cNvPr>
          <p:cNvSpPr>
            <a:spLocks xmlns:a="http://schemas.openxmlformats.org/drawingml/2006/main" noGrp="1"/>
          </p:cNvSpPr>
          <p:nvPr/>
        </p:nvSpPr>
        <p:spPr>
          <a:xfrm xmlns:a="http://schemas.openxmlformats.org/drawingml/2006/main">
            <a:off x="68580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8793A9"/>
                </a:solidFill>
                <a:latin typeface="Avenir Next"/>
                <a:ea typeface="Avenir Next"/>
                <a:cs typeface="Avenir Next"/>
              </a:defRPr>
            </a:defPPr>
          </a:lstStyle>
          <a:p xmlns:a="http://schemas.openxmlformats.org/drawingml/2006/main">
            <a:pPr>
              <a:defRPr sz="750" b="0">
                <a:solidFill>
                  <a:srgbClr val="8793A9"/>
                </a:solidFill>
                <a:latin typeface="Avenir Next"/>
                <a:ea typeface="Avenir Next"/>
                <a:cs typeface="Avenir Next"/>
              </a:defRPr>
            </a:pPr>
            <a:r>
              <a:rPr sz="750" b="0">
                <a:solidFill>
                  <a:srgbClr val="8793A9"/>
                </a:solidFill>
                <a:latin typeface="Avenir Next"/>
                <a:ea typeface="Avenir Next"/>
                <a:cs typeface="Avenir Next"/>
              </a:rPr>
              <a:t>Great Expectations · Data Validation</a:t>
            </a:r>
          </a:p>
        </p:txBody>
      </p:sp>
    </p:spTree>
    <p:extLst>
      <p:ext uri="{BB962C8B-B14F-4D97-AF65-F5344CB8AC3E}">
        <p14:creationId xmlns:p14="http://schemas.microsoft.com/office/powerpoint/2010/main" val="20177036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2026-10-15T18:02:19.6580000Z</dcterms:created>
  <dcterms:modified xsi:type="dcterms:W3CDTF">2026-10-15T18:02:19.6580000Z</dcterms:modified>
</coreProperties>
</file>